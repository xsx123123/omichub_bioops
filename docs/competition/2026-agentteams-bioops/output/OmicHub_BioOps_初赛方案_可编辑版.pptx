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50" r:id="rId3"/>
  </p:sldMasterIdLst>
  <p:notesMasterIdLst>
    <p:notesMasterId r:id="rId5"/>
  </p:notesMasterIdLst>
  <p:sldIdLst>
    <p:sldId id="256" r:id="rId4"/>
    <p:sldId id="258" r:id="rId6"/>
    <p:sldId id="268" r:id="rId7"/>
    <p:sldId id="259" r:id="rId8"/>
    <p:sldId id="269" r:id="rId9"/>
    <p:sldId id="270" r:id="rId10"/>
    <p:sldId id="260" r:id="rId11"/>
    <p:sldId id="271" r:id="rId12"/>
    <p:sldId id="261" r:id="rId13"/>
    <p:sldId id="272" r:id="rId14"/>
    <p:sldId id="262" r:id="rId15"/>
    <p:sldId id="273" r:id="rId16"/>
    <p:sldId id="263" r:id="rId17"/>
    <p:sldId id="274" r:id="rId18"/>
    <p:sldId id="264" r:id="rId19"/>
    <p:sldId id="275" r:id="rId20"/>
    <p:sldId id="265" r:id="rId21"/>
    <p:sldId id="277" r:id="rId22"/>
    <p:sldId id="278" r:id="rId2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33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233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 showGuides="1">
      <p:cViewPr varScale="1">
        <p:scale>
          <a:sx n="136" d="100"/>
          <a:sy n="136" d="100"/>
        </p:scale>
        <p:origin x="216" y="312"/>
      </p:cViewPr>
      <p:guideLst>
        <p:guide orient="horz" pos="1933"/>
        <p:guide pos="3840"/>
        <p:guide orient="horz" pos="233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【</a:t>
            </a:r>
            <a:r>
              <a:rPr lang="zh-CN" altLang="en-US" dirty="0"/>
              <a:t>可考虑从以下维度展开</a:t>
            </a:r>
            <a:r>
              <a:rPr lang="en-US" altLang="zh-CN" dirty="0"/>
              <a:t>】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【</a:t>
            </a:r>
            <a:r>
              <a:rPr lang="zh-CN" altLang="en-US" dirty="0"/>
              <a:t>可考虑从以下维度展开</a:t>
            </a:r>
            <a:r>
              <a:rPr lang="en-US" altLang="zh-CN" dirty="0"/>
              <a:t>】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【</a:t>
            </a:r>
            <a:r>
              <a:rPr lang="zh-CN" altLang="en-US" dirty="0"/>
              <a:t>可考虑从以下维度展开</a:t>
            </a:r>
            <a:r>
              <a:rPr lang="en-US" altLang="zh-CN" dirty="0"/>
              <a:t>】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【</a:t>
            </a:r>
            <a:r>
              <a:rPr lang="zh-CN" altLang="en-US" dirty="0"/>
              <a:t>可考虑从以下维度展开</a:t>
            </a:r>
            <a:r>
              <a:rPr lang="en-US" altLang="zh-CN" dirty="0"/>
              <a:t>】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【</a:t>
            </a:r>
            <a:r>
              <a:rPr lang="zh-CN" altLang="en-US" dirty="0"/>
              <a:t>可考虑从以下维度展开</a:t>
            </a:r>
            <a:r>
              <a:rPr lang="en-US" altLang="zh-CN" dirty="0"/>
              <a:t>】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【</a:t>
            </a:r>
            <a:r>
              <a:rPr lang="zh-CN" altLang="en-US" dirty="0"/>
              <a:t>可考虑从以下维度展开</a:t>
            </a:r>
            <a:r>
              <a:rPr lang="en-US" altLang="zh-CN" dirty="0"/>
              <a:t>】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【</a:t>
            </a:r>
            <a:r>
              <a:rPr lang="zh-CN" altLang="en-US" dirty="0"/>
              <a:t>可考虑从以下维度展开</a:t>
            </a:r>
            <a:r>
              <a:rPr lang="en-US" altLang="zh-CN" dirty="0"/>
              <a:t>】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【</a:t>
            </a:r>
            <a:r>
              <a:rPr lang="zh-CN" altLang="en-US" dirty="0"/>
              <a:t>可考虑从以下维度展开</a:t>
            </a:r>
            <a:r>
              <a:rPr lang="en-US" altLang="zh-CN" dirty="0"/>
              <a:t>】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2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83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 3"/>
          <p:cNvSpPr/>
          <p:nvPr/>
        </p:nvSpPr>
        <p:spPr>
          <a:xfrm>
            <a:off x="8961120" y="-640080"/>
            <a:ext cx="3931920" cy="3931920"/>
          </a:xfrm>
          <a:prstGeom prst="rect">
            <a:avLst/>
          </a:prstGeom>
          <a:solidFill>
            <a:srgbClr val="16B8AE">
              <a:alpha val="16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Shape 4"/>
          <p:cNvSpPr/>
          <p:nvPr/>
        </p:nvSpPr>
        <p:spPr>
          <a:xfrm>
            <a:off x="-1005840" y="4754880"/>
            <a:ext cx="2743200" cy="2743200"/>
          </a:xfrm>
          <a:prstGeom prst="rect">
            <a:avLst/>
          </a:prstGeom>
          <a:solidFill>
            <a:srgbClr val="4E7CF4">
              <a:alpha val="20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Text 5"/>
          <p:cNvSpPr txBox="1"/>
          <p:nvPr/>
        </p:nvSpPr>
        <p:spPr>
          <a:xfrm>
            <a:off x="594360" y="320040"/>
            <a:ext cx="6858000" cy="27432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op"/>
          <a:lstStyle/>
          <a:p algn="l">
            <a:pPr algn="l" lvl="0"/>
            <a:r>
              <a:rPr lang="zh-CN" sz="1100" b="1" typeface="Microsoft YaHei">
                <a:solidFill>
                  <a:srgbClr val="FFFFFF"/>
                </a:solidFill>
                <a:latin typeface="Microsoft YaHei"/>
                <a:ea typeface="Microsoft YaHei"/>
              </a:rPr>
              <a:t>GOAI 世界人工智能开源大赛 · Agent Infra 新智基座</a:t>
            </a:r>
            <a:endParaRPr lang="zh-CN" sz="1100"/>
          </a:p>
        </p:txBody>
      </p:sp>
      <p:sp>
        <p:nvSpPr>
          <p:cNvPr id="6" name="Text 6"/>
          <p:cNvSpPr txBox="1"/>
          <p:nvPr/>
        </p:nvSpPr>
        <p:spPr>
          <a:xfrm>
            <a:off x="594360" y="658368"/>
            <a:ext cx="10515600" cy="59436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op"/>
          <a:lstStyle/>
          <a:p algn="l">
            <a:pPr algn="l" lvl="0"/>
            <a:r>
              <a:rPr lang="zh-CN" sz="2500" b="1" typeface="Microsoft YaHei">
                <a:solidFill>
                  <a:srgbClr val="FFFFFF"/>
                </a:solidFill>
                <a:latin typeface="Microsoft YaHei"/>
                <a:ea typeface="Microsoft YaHei"/>
              </a:rPr>
              <a:t>OmicHub BioOps</a:t>
            </a:r>
            <a:endParaRPr lang="zh-CN" sz="2500"/>
          </a:p>
        </p:txBody>
      </p:sp>
      <p:sp>
        <p:nvSpPr>
          <p:cNvPr id="7" name="Text 7"/>
          <p:cNvSpPr txBox="1"/>
          <p:nvPr/>
        </p:nvSpPr>
        <p:spPr>
          <a:xfrm>
            <a:off x="11064240" y="6291072"/>
            <a:ext cx="502920" cy="256032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op"/>
          <a:lstStyle/>
          <a:p algn="r">
            <a:pPr algn="r" lvl="0"/>
            <a:r>
              <a:rPr lang="zh-CN" sz="900" b="1" typeface="Microsoft YaHei">
                <a:solidFill>
                  <a:srgbClr val="B4C0D0"/>
                </a:solidFill>
                <a:latin typeface="Microsoft YaHei"/>
                <a:ea typeface="Microsoft YaHei"/>
              </a:rPr>
              <a:t>01</a:t>
            </a:r>
            <a:endParaRPr lang="zh-CN" sz="900"/>
          </a:p>
        </p:txBody>
      </p:sp>
      <p:sp>
        <p:nvSpPr>
          <p:cNvPr id="8" name="Text 8"/>
          <p:cNvSpPr txBox="1"/>
          <p:nvPr/>
        </p:nvSpPr>
        <p:spPr>
          <a:xfrm>
            <a:off x="640080" y="1536192"/>
            <a:ext cx="8046720" cy="50292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op"/>
          <a:lstStyle/>
          <a:p algn="l">
            <a:pPr algn="l" lvl="0"/>
            <a:r>
              <a:rPr lang="zh-CN" sz="2200" b="1" typeface="Microsoft YaHei">
                <a:solidFill>
                  <a:srgbClr val="D7E5F5"/>
                </a:solidFill>
                <a:latin typeface="Microsoft YaHei"/>
                <a:ea typeface="Microsoft YaHei"/>
              </a:rPr>
              <a:t>面向生命科学研发的可审计多 Agent 协同基础设施</a:t>
            </a:r>
            <a:endParaRPr lang="zh-CN" sz="2200"/>
          </a:p>
        </p:txBody>
      </p:sp>
      <p:sp>
        <p:nvSpPr>
          <p:cNvPr id="9" name="Text 9"/>
          <p:cNvSpPr txBox="1"/>
          <p:nvPr/>
        </p:nvSpPr>
        <p:spPr>
          <a:xfrm>
            <a:off x="658368" y="2194560"/>
            <a:ext cx="6766560" cy="32004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op"/>
          <a:lstStyle/>
          <a:p algn="l">
            <a:pPr algn="l" lvl="0"/>
            <a:r>
              <a:rPr lang="zh-CN" sz="1400" b="1" typeface="Microsoft YaHei">
                <a:solidFill>
                  <a:srgbClr val="37D4D8"/>
                </a:solidFill>
                <a:latin typeface="Microsoft YaHei"/>
                <a:ea typeface="Microsoft YaHei"/>
              </a:rPr>
              <a:t>让每一次组学交付都可审计、可验证、可复用</a:t>
            </a:r>
            <a:endParaRPr lang="zh-CN" sz="1400"/>
          </a:p>
        </p:txBody>
      </p:sp>
      <p:sp>
        <p:nvSpPr>
          <p:cNvPr id="10" name="Shape 10"/>
          <p:cNvSpPr/>
          <p:nvPr/>
        </p:nvSpPr>
        <p:spPr>
          <a:xfrm>
            <a:off x="685800" y="2971800"/>
            <a:ext cx="1051560" cy="274320"/>
          </a:xfrm>
          <a:prstGeom prst="roundRect">
            <a:avLst/>
          </a:prstGeom>
          <a:solidFill>
            <a:srgbClr val="16B8AE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Text 11"/>
          <p:cNvSpPr txBox="1"/>
          <p:nvPr/>
        </p:nvSpPr>
        <p:spPr>
          <a:xfrm>
            <a:off x="740664" y="3008376"/>
            <a:ext cx="941831" cy="164592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op"/>
          <a:lstStyle/>
          <a:p algn="c">
            <a:pPr algn="c" lvl="0"/>
            <a:r>
              <a:rPr lang="zh-CN" sz="900" b="1" typeface="Microsoft YaHei">
                <a:solidFill>
                  <a:srgbClr val="FFFFFF"/>
                </a:solidFill>
                <a:latin typeface="Microsoft YaHei"/>
                <a:ea typeface="Microsoft YaHei"/>
              </a:rPr>
              <a:t>Case</a:t>
            </a:r>
            <a:endParaRPr lang="zh-CN" sz="900"/>
          </a:p>
        </p:txBody>
      </p:sp>
      <p:sp>
        <p:nvSpPr>
          <p:cNvPr id="12" name="Shape 12"/>
          <p:cNvSpPr/>
          <p:nvPr/>
        </p:nvSpPr>
        <p:spPr>
          <a:xfrm>
            <a:off x="1965960" y="2971800"/>
            <a:ext cx="1051560" cy="274320"/>
          </a:xfrm>
          <a:prstGeom prst="roundRect">
            <a:avLst/>
          </a:prstGeom>
          <a:solidFill>
            <a:srgbClr val="4E7CF4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Text 13"/>
          <p:cNvSpPr txBox="1"/>
          <p:nvPr/>
        </p:nvSpPr>
        <p:spPr>
          <a:xfrm>
            <a:off x="2020824" y="3008376"/>
            <a:ext cx="941831" cy="164592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op"/>
          <a:lstStyle/>
          <a:p algn="c">
            <a:pPr algn="c" lvl="0"/>
            <a:r>
              <a:rPr lang="zh-CN" sz="900" b="1" typeface="Microsoft YaHei">
                <a:solidFill>
                  <a:srgbClr val="FFFFFF"/>
                </a:solidFill>
                <a:latin typeface="Microsoft YaHei"/>
                <a:ea typeface="Microsoft YaHei"/>
              </a:rPr>
              <a:t>Skill</a:t>
            </a:r>
            <a:endParaRPr lang="zh-CN" sz="900"/>
          </a:p>
        </p:txBody>
      </p:sp>
      <p:sp>
        <p:nvSpPr>
          <p:cNvPr id="14" name="Shape 14"/>
          <p:cNvSpPr/>
          <p:nvPr/>
        </p:nvSpPr>
        <p:spPr>
          <a:xfrm>
            <a:off x="3246120" y="2971800"/>
            <a:ext cx="1051560" cy="274320"/>
          </a:xfrm>
          <a:prstGeom prst="roundRect">
            <a:avLst/>
          </a:prstGeom>
          <a:solidFill>
            <a:srgbClr val="FFAA5B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Text 15"/>
          <p:cNvSpPr txBox="1"/>
          <p:nvPr/>
        </p:nvSpPr>
        <p:spPr>
          <a:xfrm>
            <a:off x="3300984" y="3008376"/>
            <a:ext cx="941831" cy="164592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op"/>
          <a:lstStyle/>
          <a:p algn="c">
            <a:pPr algn="c" lvl="0"/>
            <a:r>
              <a:rPr lang="zh-CN" sz="900" b="1" typeface="Microsoft YaHei">
                <a:solidFill>
                  <a:srgbClr val="FFFFFF"/>
                </a:solidFill>
                <a:latin typeface="Microsoft YaHei"/>
                <a:ea typeface="Microsoft YaHei"/>
              </a:rPr>
              <a:t>Artifact</a:t>
            </a:r>
            <a:endParaRPr lang="zh-CN" sz="900"/>
          </a:p>
        </p:txBody>
      </p:sp>
      <p:sp>
        <p:nvSpPr>
          <p:cNvPr id="16" name="Shape 16"/>
          <p:cNvSpPr/>
          <p:nvPr/>
        </p:nvSpPr>
        <p:spPr>
          <a:xfrm>
            <a:off x="4709160" y="2971800"/>
            <a:ext cx="1051560" cy="274320"/>
          </a:xfrm>
          <a:prstGeom prst="roundRect">
            <a:avLst/>
          </a:prstGeom>
          <a:solidFill>
            <a:srgbClr val="C9F36A"/>
          </a:solidFill>
          <a:ln>
            <a:noFill/>
          </a:ln>
        </p:spPr>
        <p:txBody>
          <a:bodyPr/>
          <a:lstStyle/>
          <a:p/>
        </p:txBody>
      </p:sp>
      <p:sp>
        <p:nvSpPr>
          <p:cNvPr id="17" name="Text 17"/>
          <p:cNvSpPr txBox="1"/>
          <p:nvPr/>
        </p:nvSpPr>
        <p:spPr>
          <a:xfrm>
            <a:off x="4764024" y="3008376"/>
            <a:ext cx="941831" cy="164592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op"/>
          <a:lstStyle/>
          <a:p algn="c">
            <a:pPr algn="c" lvl="0"/>
            <a:r>
              <a:rPr lang="zh-CN" sz="900" b="1" typeface="Microsoft YaHei">
                <a:solidFill>
                  <a:srgbClr val="0C1830"/>
                </a:solidFill>
                <a:latin typeface="Microsoft YaHei"/>
                <a:ea typeface="Microsoft YaHei"/>
              </a:rPr>
              <a:t>Evidence</a:t>
            </a:r>
            <a:endParaRPr lang="zh-CN" sz="900"/>
          </a:p>
        </p:txBody>
      </p:sp>
      <p:sp>
        <p:nvSpPr>
          <p:cNvPr id="18" name="Text 18"/>
          <p:cNvSpPr txBox="1"/>
          <p:nvPr/>
        </p:nvSpPr>
        <p:spPr>
          <a:xfrm>
            <a:off x="658368" y="5577840"/>
            <a:ext cx="6217920" cy="27432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op"/>
          <a:lstStyle/>
          <a:p algn="l">
            <a:pPr algn="l" lvl="0"/>
            <a:r>
              <a:rPr lang="zh-CN" sz="1100" b="0" typeface="Microsoft YaHei">
                <a:solidFill>
                  <a:srgbClr val="D7E5F5"/>
                </a:solidFill>
                <a:latin typeface="Microsoft YaHei"/>
                <a:ea typeface="Microsoft YaHei"/>
              </a:rPr>
              <a:t>华中农业大学园艺林学学院 · OmicHub Team</a:t>
            </a:r>
            <a:endParaRPr lang="zh-CN" sz="1100"/>
          </a:p>
        </p:txBody>
      </p:sp>
      <p:sp>
        <p:nvSpPr>
          <p:cNvPr id="19" name="Text 19"/>
          <p:cNvSpPr txBox="1"/>
          <p:nvPr/>
        </p:nvSpPr>
        <p:spPr>
          <a:xfrm>
            <a:off x="658368" y="5925312"/>
            <a:ext cx="4754880" cy="237744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op"/>
          <a:lstStyle/>
          <a:p algn="l">
            <a:pPr algn="l" lvl="0"/>
            <a:r>
              <a:rPr lang="zh-CN" sz="1000" b="0" typeface="Microsoft YaHei">
                <a:solidFill>
                  <a:srgbClr val="99AEC8"/>
                </a:solidFill>
                <a:latin typeface="Microsoft YaHei"/>
                <a:ea typeface="Microsoft YaHei"/>
              </a:rPr>
              <a:t>初赛方案 · 可编辑草案</a:t>
            </a:r>
            <a:endParaRPr lang="zh-CN" sz="1000"/>
          </a:p>
        </p:txBody>
      </p:sp>
      <p:sp>
        <p:nvSpPr>
          <p:cNvPr id="20" name="Shape 20"/>
          <p:cNvSpPr/>
          <p:nvPr/>
        </p:nvSpPr>
        <p:spPr>
          <a:xfrm>
            <a:off x="7818120" y="3474720"/>
            <a:ext cx="1097280" cy="1097280"/>
          </a:xfrm>
          <a:prstGeom prst="roundRect">
            <a:avLst/>
          </a:prstGeom>
          <a:solidFill>
            <a:srgbClr val="173355"/>
          </a:solidFill>
          <a:ln w="12700">
            <a:solidFill>
              <a:srgbClr val="37D4D8"/>
            </a:solidFill>
          </a:ln>
        </p:spPr>
        <p:txBody>
          <a:bodyPr/>
          <a:lstStyle/>
          <a:p/>
        </p:txBody>
      </p:sp>
      <p:sp>
        <p:nvSpPr>
          <p:cNvPr id="21" name="Text 21"/>
          <p:cNvSpPr txBox="1"/>
          <p:nvPr/>
        </p:nvSpPr>
        <p:spPr>
          <a:xfrm>
            <a:off x="7891272" y="3730752"/>
            <a:ext cx="950976" cy="201168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op"/>
          <a:lstStyle/>
          <a:p algn="c">
            <a:pPr algn="c" lvl="0"/>
            <a:r>
              <a:rPr lang="zh-CN" sz="1100" b="1" typeface="Microsoft YaHei">
                <a:solidFill>
                  <a:srgbClr val="FFFFFF"/>
                </a:solidFill>
                <a:latin typeface="Microsoft YaHei"/>
                <a:ea typeface="Microsoft YaHei"/>
              </a:rPr>
              <a:t>研究需求</a:t>
            </a:r>
            <a:endParaRPr lang="zh-CN" sz="1100"/>
          </a:p>
        </p:txBody>
      </p:sp>
      <p:sp>
        <p:nvSpPr>
          <p:cNvPr id="22" name="Text 22"/>
          <p:cNvSpPr txBox="1"/>
          <p:nvPr/>
        </p:nvSpPr>
        <p:spPr>
          <a:xfrm>
            <a:off x="7891272" y="4023360"/>
            <a:ext cx="950976" cy="18288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op"/>
          <a:lstStyle/>
          <a:p algn="c">
            <a:pPr algn="c" lvl="0"/>
            <a:r>
              <a:rPr lang="zh-CN" sz="850" b="0" typeface="Microsoft YaHei">
                <a:solidFill>
                  <a:srgbClr val="B9CBE0"/>
                </a:solidFill>
                <a:latin typeface="Microsoft YaHei"/>
                <a:ea typeface="Microsoft YaHei"/>
              </a:rPr>
              <a:t>样本 / 分组</a:t>
            </a:r>
            <a:endParaRPr lang="zh-CN" sz="850"/>
          </a:p>
        </p:txBody>
      </p:sp>
      <p:sp>
        <p:nvSpPr>
          <p:cNvPr id="23" name="Shape 23"/>
          <p:cNvSpPr/>
          <p:nvPr/>
        </p:nvSpPr>
        <p:spPr>
          <a:xfrm>
            <a:off x="9326880" y="3474720"/>
            <a:ext cx="1097280" cy="1097280"/>
          </a:xfrm>
          <a:prstGeom prst="roundRect">
            <a:avLst/>
          </a:prstGeom>
          <a:solidFill>
            <a:srgbClr val="173355"/>
          </a:solidFill>
          <a:ln w="12700">
            <a:solidFill>
              <a:srgbClr val="16B8AE"/>
            </a:solidFill>
          </a:ln>
        </p:spPr>
        <p:txBody>
          <a:bodyPr/>
          <a:lstStyle/>
          <a:p/>
        </p:txBody>
      </p:sp>
      <p:sp>
        <p:nvSpPr>
          <p:cNvPr id="24" name="Text 24"/>
          <p:cNvSpPr txBox="1"/>
          <p:nvPr/>
        </p:nvSpPr>
        <p:spPr>
          <a:xfrm>
            <a:off x="9400032" y="3730752"/>
            <a:ext cx="950976" cy="201168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op"/>
          <a:lstStyle/>
          <a:p algn="c">
            <a:pPr algn="c" lvl="0"/>
            <a:r>
              <a:rPr lang="zh-CN" sz="1100" b="1" typeface="Microsoft YaHei">
                <a:solidFill>
                  <a:srgbClr val="FFFFFF"/>
                </a:solidFill>
                <a:latin typeface="Microsoft YaHei"/>
                <a:ea typeface="Microsoft YaHei"/>
              </a:rPr>
              <a:t>多 Agent</a:t>
            </a:r>
            <a:endParaRPr lang="zh-CN" sz="1100"/>
          </a:p>
        </p:txBody>
      </p:sp>
      <p:sp>
        <p:nvSpPr>
          <p:cNvPr id="25" name="Text 25"/>
          <p:cNvSpPr txBox="1"/>
          <p:nvPr/>
        </p:nvSpPr>
        <p:spPr>
          <a:xfrm>
            <a:off x="9400032" y="4023360"/>
            <a:ext cx="950976" cy="18288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op"/>
          <a:lstStyle/>
          <a:p algn="c">
            <a:pPr algn="c" lvl="0"/>
            <a:r>
              <a:rPr lang="zh-CN" sz="850" b="0" typeface="Microsoft YaHei">
                <a:solidFill>
                  <a:srgbClr val="B9CBE0"/>
                </a:solidFill>
                <a:latin typeface="Microsoft YaHei"/>
                <a:ea typeface="Microsoft YaHei"/>
              </a:rPr>
              <a:t>职责分离</a:t>
            </a:r>
            <a:endParaRPr lang="zh-CN" sz="850"/>
          </a:p>
        </p:txBody>
      </p:sp>
      <p:sp>
        <p:nvSpPr>
          <p:cNvPr id="26" name="Shape 26"/>
          <p:cNvSpPr/>
          <p:nvPr/>
        </p:nvSpPr>
        <p:spPr>
          <a:xfrm>
            <a:off x="10835640" y="3474720"/>
            <a:ext cx="1097280" cy="1097280"/>
          </a:xfrm>
          <a:prstGeom prst="roundRect">
            <a:avLst/>
          </a:prstGeom>
          <a:solidFill>
            <a:srgbClr val="173355"/>
          </a:solidFill>
          <a:ln w="12700">
            <a:solidFill>
              <a:srgbClr val="C9F36A"/>
            </a:solidFill>
          </a:ln>
        </p:spPr>
        <p:txBody>
          <a:bodyPr/>
          <a:lstStyle/>
          <a:p/>
        </p:txBody>
      </p:sp>
      <p:sp>
        <p:nvSpPr>
          <p:cNvPr id="27" name="Text 27"/>
          <p:cNvSpPr txBox="1"/>
          <p:nvPr/>
        </p:nvSpPr>
        <p:spPr>
          <a:xfrm>
            <a:off x="10908792" y="3730752"/>
            <a:ext cx="950976" cy="201168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op"/>
          <a:lstStyle/>
          <a:p algn="c">
            <a:pPr algn="c" lvl="0"/>
            <a:r>
              <a:rPr lang="zh-CN" sz="1100" b="1" typeface="Microsoft YaHei">
                <a:solidFill>
                  <a:srgbClr val="FFFFFF"/>
                </a:solidFill>
                <a:latin typeface="Microsoft YaHei"/>
                <a:ea typeface="Microsoft YaHei"/>
              </a:rPr>
              <a:t>可信交付</a:t>
            </a:r>
            <a:endParaRPr lang="zh-CN" sz="1100"/>
          </a:p>
        </p:txBody>
      </p:sp>
      <p:sp>
        <p:nvSpPr>
          <p:cNvPr id="28" name="Text 28"/>
          <p:cNvSpPr txBox="1"/>
          <p:nvPr/>
        </p:nvSpPr>
        <p:spPr>
          <a:xfrm>
            <a:off x="10908792" y="4023360"/>
            <a:ext cx="950976" cy="18288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op"/>
          <a:lstStyle/>
          <a:p algn="c">
            <a:pPr algn="c" lvl="0"/>
            <a:r>
              <a:rPr lang="zh-CN" sz="850" b="0" typeface="Microsoft YaHei">
                <a:solidFill>
                  <a:srgbClr val="B9CBE0"/>
                </a:solidFill>
                <a:latin typeface="Microsoft YaHei"/>
                <a:ea typeface="Microsoft YaHei"/>
              </a:rPr>
              <a:t>证据可追溯</a:t>
            </a:r>
            <a:endParaRPr lang="zh-CN" sz="850"/>
          </a:p>
        </p:txBody>
      </p:sp>
      <p:sp>
        <p:nvSpPr>
          <p:cNvPr id="29" name="Text 29"/>
          <p:cNvSpPr txBox="1"/>
          <p:nvPr/>
        </p:nvSpPr>
        <p:spPr>
          <a:xfrm>
            <a:off x="8942832" y="3858768"/>
            <a:ext cx="320040" cy="27432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op"/>
          <a:lstStyle/>
          <a:p algn="c">
            <a:pPr algn="c" lvl="0"/>
            <a:r>
              <a:rPr lang="zh-CN" sz="1700" b="1" typeface="Microsoft YaHei">
                <a:solidFill>
                  <a:srgbClr val="37D4D8"/>
                </a:solidFill>
                <a:latin typeface="Microsoft YaHei"/>
                <a:ea typeface="Microsoft YaHei"/>
              </a:rPr>
              <a:t>→</a:t>
            </a:r>
            <a:endParaRPr lang="zh-CN" sz="1700"/>
          </a:p>
        </p:txBody>
      </p:sp>
      <p:sp>
        <p:nvSpPr>
          <p:cNvPr id="30" name="Text 30"/>
          <p:cNvSpPr txBox="1"/>
          <p:nvPr/>
        </p:nvSpPr>
        <p:spPr>
          <a:xfrm>
            <a:off x="10451592" y="3858768"/>
            <a:ext cx="320040" cy="27432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op"/>
          <a:lstStyle/>
          <a:p algn="c">
            <a:pPr algn="c" lvl="0"/>
            <a:r>
              <a:rPr lang="zh-CN" sz="1700" b="1" typeface="Microsoft YaHei">
                <a:solidFill>
                  <a:srgbClr val="37D4D8"/>
                </a:solidFill>
                <a:latin typeface="Microsoft YaHei"/>
                <a:ea typeface="Microsoft YaHei"/>
              </a:rPr>
              <a:t>→</a:t>
            </a:r>
            <a:endParaRPr lang="zh-CN" sz="17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 3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6B8AE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Shape 4"/>
          <p:cNvSpPr/>
          <p:nvPr/>
        </p:nvSpPr>
        <p:spPr>
          <a:xfrm>
            <a:off x="9692640" y="128016"/>
            <a:ext cx="2499055" cy="45720"/>
          </a:xfrm>
          <a:prstGeom prst="rect">
            <a:avLst/>
          </a:prstGeom>
          <a:solidFill>
            <a:srgbClr val="C9F36A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Text 5"/>
          <p:cNvSpPr txBox="1"/>
          <p:nvPr/>
        </p:nvSpPr>
        <p:spPr>
          <a:xfrm>
            <a:off x="594360" y="320040"/>
            <a:ext cx="6858000" cy="27432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op"/>
          <a:lstStyle/>
          <a:p algn="l">
            <a:pPr algn="l" lvl="0"/>
            <a:r>
              <a:rPr lang="zh-CN" sz="1100" b="1" typeface="Microsoft YaHei">
                <a:solidFill>
                  <a:srgbClr val="5E6E85"/>
                </a:solidFill>
                <a:latin typeface="Microsoft YaHei"/>
                <a:ea typeface="Microsoft YaHei"/>
              </a:rPr>
              <a:t>P0 · 一页纸速览</a:t>
            </a:r>
            <a:endParaRPr lang="zh-CN" sz="1100"/>
          </a:p>
        </p:txBody>
      </p:sp>
      <p:sp>
        <p:nvSpPr>
          <p:cNvPr id="6" name="Text 6"/>
          <p:cNvSpPr txBox="1"/>
          <p:nvPr/>
        </p:nvSpPr>
        <p:spPr>
          <a:xfrm>
            <a:off x="594360" y="658368"/>
            <a:ext cx="10515600" cy="59436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op"/>
          <a:lstStyle/>
          <a:p algn="l">
            <a:pPr algn="l" lvl="0"/>
            <a:r>
              <a:rPr lang="zh-CN" sz="2500" b="1" typeface="Microsoft YaHei">
                <a:solidFill>
                  <a:srgbClr val="16253D"/>
                </a:solidFill>
                <a:latin typeface="Microsoft YaHei"/>
                <a:ea typeface="Microsoft YaHei"/>
              </a:rPr>
              <a:t>作品简介</a:t>
            </a:r>
            <a:endParaRPr lang="zh-CN" sz="2500"/>
          </a:p>
        </p:txBody>
      </p:sp>
      <p:sp>
        <p:nvSpPr>
          <p:cNvPr id="7" name="Text 7"/>
          <p:cNvSpPr txBox="1"/>
          <p:nvPr/>
        </p:nvSpPr>
        <p:spPr>
          <a:xfrm>
            <a:off x="11064240" y="6291072"/>
            <a:ext cx="502920" cy="256032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op"/>
          <a:lstStyle/>
          <a:p algn="r">
            <a:pPr algn="r" lvl="0"/>
            <a:r>
              <a:rPr lang="zh-CN" sz="900" b="1" typeface="Microsoft YaHei">
                <a:solidFill>
                  <a:srgbClr val="5E6E85"/>
                </a:solidFill>
                <a:latin typeface="Microsoft YaHei"/>
                <a:ea typeface="Microsoft YaHei"/>
              </a:rPr>
              <a:t>02</a:t>
            </a:r>
            <a:endParaRPr lang="zh-CN" sz="900"/>
          </a:p>
        </p:txBody>
      </p:sp>
      <p:sp>
        <p:nvSpPr>
          <p:cNvPr id="8" name="Shape 8"/>
          <p:cNvSpPr/>
          <p:nvPr/>
        </p:nvSpPr>
        <p:spPr>
          <a:xfrm>
            <a:off x="594360" y="1417320"/>
            <a:ext cx="34290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F1"/>
            </a:solidFill>
          </a:ln>
        </p:spPr>
        <p:txBody>
          <a:bodyPr/>
          <a:lstStyle/>
          <a:p/>
        </p:txBody>
      </p:sp>
      <p:sp>
        <p:nvSpPr>
          <p:cNvPr id="9" name="Shape 9"/>
          <p:cNvSpPr/>
          <p:nvPr/>
        </p:nvSpPr>
        <p:spPr>
          <a:xfrm>
            <a:off x="594360" y="1417320"/>
            <a:ext cx="73152" cy="1828800"/>
          </a:xfrm>
          <a:prstGeom prst="roundRect">
            <a:avLst/>
          </a:prstGeom>
          <a:solidFill>
            <a:srgbClr val="16B8AE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 10"/>
          <p:cNvSpPr txBox="1"/>
          <p:nvPr/>
        </p:nvSpPr>
        <p:spPr>
          <a:xfrm>
            <a:off x="813816" y="1581912"/>
            <a:ext cx="3063240" cy="310896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op"/>
          <a:lstStyle/>
          <a:p algn="l">
            <a:pPr algn="l" lvl="0"/>
            <a:r>
              <a:rPr lang="zh-CN" sz="1400" b="1" typeface="Microsoft YaHei">
                <a:solidFill>
                  <a:srgbClr val="16253D"/>
                </a:solidFill>
                <a:latin typeface="Microsoft YaHei"/>
                <a:ea typeface="Microsoft YaHei"/>
              </a:rPr>
              <a:t>项目名称</a:t>
            </a:r>
            <a:endParaRPr lang="zh-CN" sz="1400"/>
          </a:p>
        </p:txBody>
      </p:sp>
      <p:sp>
        <p:nvSpPr>
          <p:cNvPr id="11" name="Text 11"/>
          <p:cNvSpPr txBox="1"/>
          <p:nvPr/>
        </p:nvSpPr>
        <p:spPr>
          <a:xfrm>
            <a:off x="813816" y="1993392"/>
            <a:ext cx="3017520" cy="114300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op"/>
          <a:lstStyle/>
          <a:p algn="l">
            <a:pPr algn="l" lvl="0"/>
            <a:r>
              <a:rPr lang="zh-CN" sz="1130" b="0" typeface="Microsoft YaHei">
                <a:solidFill>
                  <a:srgbClr val="5E6E85"/>
                </a:solidFill>
                <a:latin typeface="Microsoft YaHei"/>
                <a:ea typeface="Microsoft YaHei"/>
              </a:rPr>
              <a:t>OmicHub BioOps</a:t>
            </a:r>
            <a:endParaRPr lang="zh-CN" sz="1130"/>
          </a:p>
          <a:p algn="l">
            <a:pPr algn="l" lvl="0"/>
            <a:r>
              <a:rPr lang="zh-CN" sz="1130" b="0" typeface="Microsoft YaHei">
                <a:solidFill>
                  <a:srgbClr val="5E6E85"/>
                </a:solidFill>
                <a:latin typeface="Microsoft YaHei"/>
                <a:ea typeface="Microsoft YaHei"/>
              </a:rPr>
              <a:t>可审计组学交付协同</a:t>
            </a:r>
            <a:endParaRPr lang="zh-CN" sz="1130"/>
          </a:p>
        </p:txBody>
      </p:sp>
      <p:sp>
        <p:nvSpPr>
          <p:cNvPr id="12" name="Shape 12"/>
          <p:cNvSpPr/>
          <p:nvPr/>
        </p:nvSpPr>
        <p:spPr>
          <a:xfrm>
            <a:off x="4416552" y="1417320"/>
            <a:ext cx="34290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F1"/>
            </a:solidFill>
          </a:ln>
        </p:spPr>
        <p:txBody>
          <a:bodyPr/>
          <a:lstStyle/>
          <a:p/>
        </p:txBody>
      </p:sp>
      <p:sp>
        <p:nvSpPr>
          <p:cNvPr id="13" name="Shape 13"/>
          <p:cNvSpPr/>
          <p:nvPr/>
        </p:nvSpPr>
        <p:spPr>
          <a:xfrm>
            <a:off x="4416552" y="1417320"/>
            <a:ext cx="73152" cy="1828800"/>
          </a:xfrm>
          <a:prstGeom prst="roundRect">
            <a:avLst/>
          </a:prstGeom>
          <a:solidFill>
            <a:srgbClr val="E966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 14"/>
          <p:cNvSpPr txBox="1"/>
          <p:nvPr/>
        </p:nvSpPr>
        <p:spPr>
          <a:xfrm>
            <a:off x="4636008" y="1581912"/>
            <a:ext cx="3063240" cy="310896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op"/>
          <a:lstStyle/>
          <a:p algn="l">
            <a:pPr algn="l" lvl="0"/>
            <a:r>
              <a:rPr lang="zh-CN" sz="1400" b="1" typeface="Microsoft YaHei">
                <a:solidFill>
                  <a:srgbClr val="16253D"/>
                </a:solidFill>
                <a:latin typeface="Microsoft YaHei"/>
                <a:ea typeface="Microsoft YaHei"/>
              </a:rPr>
              <a:t>问题与场景</a:t>
            </a:r>
            <a:endParaRPr lang="zh-CN" sz="1400"/>
          </a:p>
        </p:txBody>
      </p:sp>
      <p:sp>
        <p:nvSpPr>
          <p:cNvPr id="15" name="Text 15"/>
          <p:cNvSpPr txBox="1"/>
          <p:nvPr/>
        </p:nvSpPr>
        <p:spPr>
          <a:xfrm>
            <a:off x="4636008" y="1993392"/>
            <a:ext cx="3017520" cy="114300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op"/>
          <a:lstStyle/>
          <a:p algn="l">
            <a:pPr algn="l" lvl="0"/>
            <a:r>
              <a:rPr lang="zh-CN" sz="1130" b="0" typeface="Microsoft YaHei">
                <a:solidFill>
                  <a:srgbClr val="5E6E85"/>
                </a:solidFill>
                <a:latin typeface="Microsoft YaHei"/>
                <a:ea typeface="Microsoft YaHei"/>
              </a:rPr>
              <a:t>RNA-seq 项目跨数据、计算、质控、报告多角色协作；信息断裂、责任混杂、结果难复核。</a:t>
            </a:r>
            <a:endParaRPr lang="zh-CN" sz="1130"/>
          </a:p>
        </p:txBody>
      </p:sp>
      <p:sp>
        <p:nvSpPr>
          <p:cNvPr id="16" name="Shape 16"/>
          <p:cNvSpPr/>
          <p:nvPr/>
        </p:nvSpPr>
        <p:spPr>
          <a:xfrm>
            <a:off x="8238744" y="1417320"/>
            <a:ext cx="34290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F1"/>
            </a:solidFill>
          </a:ln>
        </p:spPr>
        <p:txBody>
          <a:bodyPr/>
          <a:lstStyle/>
          <a:p/>
        </p:txBody>
      </p:sp>
      <p:sp>
        <p:nvSpPr>
          <p:cNvPr id="17" name="Shape 17"/>
          <p:cNvSpPr/>
          <p:nvPr/>
        </p:nvSpPr>
        <p:spPr>
          <a:xfrm>
            <a:off x="8238744" y="1417320"/>
            <a:ext cx="73152" cy="1828800"/>
          </a:xfrm>
          <a:prstGeom prst="roundRect">
            <a:avLst/>
          </a:prstGeom>
          <a:solidFill>
            <a:srgbClr val="4E7CF4"/>
          </a:solidFill>
          <a:ln>
            <a:noFill/>
          </a:ln>
        </p:spPr>
        <p:txBody>
          <a:bodyPr/>
          <a:lstStyle/>
          <a:p/>
        </p:txBody>
      </p:sp>
      <p:sp>
        <p:nvSpPr>
          <p:cNvPr id="18" name="Text 18"/>
          <p:cNvSpPr txBox="1"/>
          <p:nvPr/>
        </p:nvSpPr>
        <p:spPr>
          <a:xfrm>
            <a:off x="8458200" y="1581912"/>
            <a:ext cx="3063240" cy="310896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op"/>
          <a:lstStyle/>
          <a:p algn="l">
            <a:pPr algn="l" lvl="0"/>
            <a:r>
              <a:rPr lang="zh-CN" sz="1400" b="1" typeface="Microsoft YaHei">
                <a:solidFill>
                  <a:srgbClr val="16253D"/>
                </a:solidFill>
                <a:latin typeface="Microsoft YaHei"/>
                <a:ea typeface="Microsoft YaHei"/>
              </a:rPr>
              <a:t>核心解决方案</a:t>
            </a:r>
            <a:endParaRPr lang="zh-CN" sz="1400"/>
          </a:p>
        </p:txBody>
      </p:sp>
      <p:sp>
        <p:nvSpPr>
          <p:cNvPr id="19" name="Text 19"/>
          <p:cNvSpPr txBox="1"/>
          <p:nvPr/>
        </p:nvSpPr>
        <p:spPr>
          <a:xfrm>
            <a:off x="8458200" y="1993392"/>
            <a:ext cx="3017520" cy="114300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op"/>
          <a:lstStyle/>
          <a:p algn="l">
            <a:pPr algn="l" lvl="0"/>
            <a:r>
              <a:rPr lang="zh-CN" sz="1130" b="0" typeface="Microsoft YaHei">
                <a:solidFill>
                  <a:srgbClr val="5E6E85"/>
                </a:solidFill>
                <a:latin typeface="Microsoft YaHei"/>
                <a:ea typeface="Microsoft YaHei"/>
              </a:rPr>
              <a:t>将自然语言需求转为 Case → Work Item → Skill → Artifact → Quality Decision → Manifest 闭环。</a:t>
            </a:r>
            <a:endParaRPr lang="zh-CN" sz="1130"/>
          </a:p>
        </p:txBody>
      </p:sp>
      <p:sp>
        <p:nvSpPr>
          <p:cNvPr id="20" name="Shape 20"/>
          <p:cNvSpPr/>
          <p:nvPr/>
        </p:nvSpPr>
        <p:spPr>
          <a:xfrm>
            <a:off x="594360" y="3657600"/>
            <a:ext cx="34290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F1"/>
            </a:solidFill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594360" y="3657600"/>
            <a:ext cx="73152" cy="1828800"/>
          </a:xfrm>
          <a:prstGeom prst="roundRect">
            <a:avLst/>
          </a:prstGeom>
          <a:solidFill>
            <a:srgbClr val="FFAA5B"/>
          </a:solidFill>
          <a:ln>
            <a:noFill/>
          </a:ln>
        </p:spPr>
        <p:txBody>
          <a:bodyPr/>
          <a:lstStyle/>
          <a:p/>
        </p:txBody>
      </p:sp>
      <p:sp>
        <p:nvSpPr>
          <p:cNvPr id="22" name="Text 22"/>
          <p:cNvSpPr txBox="1"/>
          <p:nvPr/>
        </p:nvSpPr>
        <p:spPr>
          <a:xfrm>
            <a:off x="813816" y="3822191"/>
            <a:ext cx="3063240" cy="310896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op"/>
          <a:lstStyle/>
          <a:p algn="l">
            <a:pPr algn="l" lvl="0"/>
            <a:r>
              <a:rPr lang="zh-CN" sz="1400" b="1" typeface="Microsoft YaHei">
                <a:solidFill>
                  <a:srgbClr val="16253D"/>
                </a:solidFill>
                <a:latin typeface="Microsoft YaHei"/>
                <a:ea typeface="Microsoft YaHei"/>
              </a:rPr>
              <a:t>创新与差异化</a:t>
            </a:r>
            <a:endParaRPr lang="zh-CN" sz="1400"/>
          </a:p>
        </p:txBody>
      </p:sp>
      <p:sp>
        <p:nvSpPr>
          <p:cNvPr id="23" name="Text 23"/>
          <p:cNvSpPr txBox="1"/>
          <p:nvPr/>
        </p:nvSpPr>
        <p:spPr>
          <a:xfrm>
            <a:off x="813816" y="4233672"/>
            <a:ext cx="3017520" cy="114300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op"/>
          <a:lstStyle/>
          <a:p algn="l">
            <a:pPr algn="l" lvl="0"/>
            <a:r>
              <a:rPr lang="zh-CN" sz="1130" b="0" typeface="Microsoft YaHei">
                <a:solidFill>
                  <a:srgbClr val="5E6E85"/>
                </a:solidFill>
                <a:latin typeface="Microsoft YaHei"/>
                <a:ea typeface="Microsoft YaHei"/>
              </a:rPr>
              <a:t>不让万能 Agent 自己申请、执行、验收；以职责分离、规则质量门和证据链保证可信。</a:t>
            </a:r>
            <a:endParaRPr lang="zh-CN" sz="1130"/>
          </a:p>
        </p:txBody>
      </p:sp>
      <p:sp>
        <p:nvSpPr>
          <p:cNvPr id="24" name="Shape 24"/>
          <p:cNvSpPr/>
          <p:nvPr/>
        </p:nvSpPr>
        <p:spPr>
          <a:xfrm>
            <a:off x="4416552" y="3657600"/>
            <a:ext cx="34290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F1"/>
            </a:solidFill>
          </a:ln>
        </p:spPr>
        <p:txBody>
          <a:bodyPr/>
          <a:lstStyle/>
          <a:p/>
        </p:txBody>
      </p:sp>
      <p:sp>
        <p:nvSpPr>
          <p:cNvPr id="25" name="Shape 25"/>
          <p:cNvSpPr/>
          <p:nvPr/>
        </p:nvSpPr>
        <p:spPr>
          <a:xfrm>
            <a:off x="4416552" y="3657600"/>
            <a:ext cx="73152" cy="1828800"/>
          </a:xfrm>
          <a:prstGeom prst="roundRect">
            <a:avLst/>
          </a:prstGeom>
          <a:solidFill>
            <a:srgbClr val="C9F36A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Text 26"/>
          <p:cNvSpPr txBox="1"/>
          <p:nvPr/>
        </p:nvSpPr>
        <p:spPr>
          <a:xfrm>
            <a:off x="4636008" y="3822191"/>
            <a:ext cx="3063240" cy="310896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op"/>
          <a:lstStyle/>
          <a:p algn="l">
            <a:pPr algn="l" lvl="0"/>
            <a:r>
              <a:rPr lang="zh-CN" sz="1400" b="1" typeface="Microsoft YaHei">
                <a:solidFill>
                  <a:srgbClr val="16253D"/>
                </a:solidFill>
                <a:latin typeface="Microsoft YaHei"/>
                <a:ea typeface="Microsoft YaHei"/>
              </a:rPr>
              <a:t>开放 / 复用价值</a:t>
            </a:r>
            <a:endParaRPr lang="zh-CN" sz="1400"/>
          </a:p>
        </p:txBody>
      </p:sp>
      <p:sp>
        <p:nvSpPr>
          <p:cNvPr id="27" name="Text 27"/>
          <p:cNvSpPr txBox="1"/>
          <p:nvPr/>
        </p:nvSpPr>
        <p:spPr>
          <a:xfrm>
            <a:off x="4636008" y="4233672"/>
            <a:ext cx="3017520" cy="114300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op"/>
          <a:lstStyle/>
          <a:p algn="l">
            <a:pPr algn="l" lvl="0"/>
            <a:r>
              <a:rPr lang="zh-CN" sz="1130" b="0" typeface="Microsoft YaHei">
                <a:solidFill>
                  <a:srgbClr val="5E6E85"/>
                </a:solidFill>
                <a:latin typeface="Microsoft YaHei"/>
                <a:ea typeface="Microsoft YaHei"/>
              </a:rPr>
              <a:t>Team、Skill Contract、Bridge 与规则配置可迁移到 ATAC-seq、单细胞和其他科学计算。</a:t>
            </a:r>
            <a:endParaRPr lang="zh-CN" sz="1130"/>
          </a:p>
        </p:txBody>
      </p:sp>
      <p:sp>
        <p:nvSpPr>
          <p:cNvPr id="28" name="Shape 28"/>
          <p:cNvSpPr/>
          <p:nvPr/>
        </p:nvSpPr>
        <p:spPr>
          <a:xfrm>
            <a:off x="8238744" y="3657600"/>
            <a:ext cx="34290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F1"/>
            </a:solidFill>
          </a:ln>
        </p:spPr>
        <p:txBody>
          <a:bodyPr/>
          <a:lstStyle/>
          <a:p/>
        </p:txBody>
      </p:sp>
      <p:sp>
        <p:nvSpPr>
          <p:cNvPr id="29" name="Shape 29"/>
          <p:cNvSpPr/>
          <p:nvPr/>
        </p:nvSpPr>
        <p:spPr>
          <a:xfrm>
            <a:off x="8238744" y="3657600"/>
            <a:ext cx="73152" cy="1828800"/>
          </a:xfrm>
          <a:prstGeom prst="roundRect">
            <a:avLst/>
          </a:prstGeom>
          <a:solidFill>
            <a:srgbClr val="16B8AE"/>
          </a:solidFill>
          <a:ln>
            <a:noFill/>
          </a:ln>
        </p:spPr>
        <p:txBody>
          <a:bodyPr/>
          <a:lstStyle/>
          <a:p/>
        </p:txBody>
      </p:sp>
      <p:sp>
        <p:nvSpPr>
          <p:cNvPr id="30" name="Text 30"/>
          <p:cNvSpPr txBox="1"/>
          <p:nvPr/>
        </p:nvSpPr>
        <p:spPr>
          <a:xfrm>
            <a:off x="8458200" y="3822191"/>
            <a:ext cx="3063240" cy="310896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op"/>
          <a:lstStyle/>
          <a:p algn="l">
            <a:pPr algn="l" lvl="0"/>
            <a:r>
              <a:rPr lang="zh-CN" sz="1400" b="1" typeface="Microsoft YaHei">
                <a:solidFill>
                  <a:srgbClr val="16253D"/>
                </a:solidFill>
                <a:latin typeface="Microsoft YaHei"/>
                <a:ea typeface="Microsoft YaHei"/>
              </a:rPr>
              <a:t>当前进展</a:t>
            </a:r>
            <a:endParaRPr lang="zh-CN" sz="1400"/>
          </a:p>
        </p:txBody>
      </p:sp>
      <p:sp>
        <p:nvSpPr>
          <p:cNvPr id="31" name="Text 31"/>
          <p:cNvSpPr txBox="1"/>
          <p:nvPr/>
        </p:nvSpPr>
        <p:spPr>
          <a:xfrm>
            <a:off x="8458200" y="4233672"/>
            <a:ext cx="3017520" cy="114300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op"/>
          <a:lstStyle/>
          <a:p algn="l">
            <a:pPr algn="l" lvl="0"/>
            <a:r>
              <a:rPr lang="zh-CN" sz="1130" b="0" typeface="Microsoft YaHei">
                <a:solidFill>
                  <a:srgbClr val="5E6E85"/>
                </a:solidFill>
                <a:latin typeface="Microsoft YaHei"/>
                <a:ea typeface="Microsoft YaHei"/>
              </a:rPr>
              <a:t>MAS、Bridge、受控流程、Artifact/审计基础已具备；真实 E2E 按 staging 部署验收推进。</a:t>
            </a:r>
            <a:endParaRPr lang="zh-CN" sz="113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83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 3"/>
          <p:cNvSpPr/>
          <p:nvPr/>
        </p:nvSpPr>
        <p:spPr>
          <a:xfrm>
            <a:off x="8961120" y="-640080"/>
            <a:ext cx="3931920" cy="3931920"/>
          </a:xfrm>
          <a:prstGeom prst="rect">
            <a:avLst/>
          </a:prstGeom>
          <a:solidFill>
            <a:srgbClr val="16B8AE">
              <a:alpha val="16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Shape 4"/>
          <p:cNvSpPr/>
          <p:nvPr/>
        </p:nvSpPr>
        <p:spPr>
          <a:xfrm>
            <a:off x="-1005840" y="4754880"/>
            <a:ext cx="2743200" cy="2743200"/>
          </a:xfrm>
          <a:prstGeom prst="rect">
            <a:avLst/>
          </a:prstGeom>
          <a:solidFill>
            <a:srgbClr val="4E7CF4">
              <a:alpha val="20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Text 5"/>
          <p:cNvSpPr txBox="1"/>
          <p:nvPr/>
        </p:nvSpPr>
        <p:spPr>
          <a:xfrm>
            <a:off x="594360" y="320040"/>
            <a:ext cx="6858000" cy="27432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op"/>
          <a:lstStyle/>
          <a:p algn="l">
            <a:pPr algn="l" lvl="0"/>
            <a:r>
              <a:rPr lang="zh-CN" sz="1100" b="1" typeface="Microsoft YaHei">
                <a:solidFill>
                  <a:srgbClr val="FFFFFF"/>
                </a:solidFill>
                <a:latin typeface="Microsoft YaHei"/>
                <a:ea typeface="Microsoft YaHei"/>
              </a:rPr>
              <a:t>全景</a:t>
            </a:r>
            <a:endParaRPr lang="zh-CN" sz="1100"/>
          </a:p>
        </p:txBody>
      </p:sp>
      <p:sp>
        <p:nvSpPr>
          <p:cNvPr id="6" name="Text 6"/>
          <p:cNvSpPr txBox="1"/>
          <p:nvPr/>
        </p:nvSpPr>
        <p:spPr>
          <a:xfrm>
            <a:off x="594360" y="658368"/>
            <a:ext cx="10515600" cy="59436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op"/>
          <a:lstStyle/>
          <a:p algn="l">
            <a:pPr algn="l" lvl="0"/>
            <a:r>
              <a:rPr lang="zh-CN" sz="2500" b="1" typeface="Microsoft YaHei">
                <a:solidFill>
                  <a:srgbClr val="FFFFFF"/>
                </a:solidFill>
                <a:latin typeface="Microsoft YaHei"/>
                <a:ea typeface="Microsoft YaHei"/>
              </a:rPr>
              <a:t>目录</a:t>
            </a:r>
            <a:endParaRPr lang="zh-CN" sz="2500"/>
          </a:p>
        </p:txBody>
      </p:sp>
      <p:sp>
        <p:nvSpPr>
          <p:cNvPr id="7" name="Text 7"/>
          <p:cNvSpPr txBox="1"/>
          <p:nvPr/>
        </p:nvSpPr>
        <p:spPr>
          <a:xfrm>
            <a:off x="11064240" y="6291072"/>
            <a:ext cx="502920" cy="256032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op"/>
          <a:lstStyle/>
          <a:p algn="r">
            <a:pPr algn="r" lvl="0"/>
            <a:r>
              <a:rPr lang="zh-CN" sz="900" b="1" typeface="Microsoft YaHei">
                <a:solidFill>
                  <a:srgbClr val="B4C0D0"/>
                </a:solidFill>
                <a:latin typeface="Microsoft YaHei"/>
                <a:ea typeface="Microsoft YaHei"/>
              </a:rPr>
              <a:t>03</a:t>
            </a:r>
            <a:endParaRPr lang="zh-CN" sz="900"/>
          </a:p>
        </p:txBody>
      </p:sp>
      <p:sp>
        <p:nvSpPr>
          <p:cNvPr id="8" name="Text 8"/>
          <p:cNvSpPr txBox="1"/>
          <p:nvPr/>
        </p:nvSpPr>
        <p:spPr>
          <a:xfrm>
            <a:off x="777240" y="1508760"/>
            <a:ext cx="475488" cy="292608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op"/>
          <a:lstStyle/>
          <a:p algn="l">
            <a:pPr algn="l" lvl="0"/>
            <a:r>
              <a:rPr lang="zh-CN" sz="1300" b="1" typeface="Microsoft YaHei">
                <a:solidFill>
                  <a:srgbClr val="C9F36A"/>
                </a:solidFill>
                <a:latin typeface="Microsoft YaHei"/>
                <a:ea typeface="Microsoft YaHei"/>
              </a:rPr>
              <a:t>01</a:t>
            </a:r>
            <a:endParaRPr lang="zh-CN" sz="1300"/>
          </a:p>
        </p:txBody>
      </p:sp>
      <p:sp>
        <p:nvSpPr>
          <p:cNvPr id="9" name="Text 9"/>
          <p:cNvSpPr txBox="1"/>
          <p:nvPr/>
        </p:nvSpPr>
        <p:spPr>
          <a:xfrm>
            <a:off x="1435607" y="1508760"/>
            <a:ext cx="4480560" cy="310896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op"/>
          <a:lstStyle/>
          <a:p algn="l">
            <a:pPr algn="l" lvl="0"/>
            <a:r>
              <a:rPr lang="zh-CN" sz="1600" b="1" typeface="Microsoft YaHei">
                <a:solidFill>
                  <a:srgbClr val="FFFFFF"/>
                </a:solidFill>
                <a:latin typeface="Microsoft YaHei"/>
                <a:ea typeface="Microsoft YaHei"/>
              </a:rPr>
              <a:t>场景与价值</a:t>
            </a:r>
            <a:endParaRPr lang="zh-CN" sz="1600"/>
          </a:p>
        </p:txBody>
      </p:sp>
      <p:sp>
        <p:nvSpPr>
          <p:cNvPr id="10" name="Shape 10"/>
          <p:cNvSpPr/>
          <p:nvPr/>
        </p:nvSpPr>
        <p:spPr>
          <a:xfrm>
            <a:off x="1435607" y="1947672"/>
            <a:ext cx="4297680" cy="22860"/>
          </a:xfrm>
          <a:prstGeom prst="rect">
            <a:avLst/>
          </a:prstGeom>
          <a:solidFill>
            <a:srgbClr val="32506F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Text 11"/>
          <p:cNvSpPr txBox="1"/>
          <p:nvPr/>
        </p:nvSpPr>
        <p:spPr>
          <a:xfrm>
            <a:off x="6400800" y="1508760"/>
            <a:ext cx="475488" cy="292608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op"/>
          <a:lstStyle/>
          <a:p algn="l">
            <a:pPr algn="l" lvl="0"/>
            <a:r>
              <a:rPr lang="zh-CN" sz="1300" b="1" typeface="Microsoft YaHei">
                <a:solidFill>
                  <a:srgbClr val="C9F36A"/>
                </a:solidFill>
                <a:latin typeface="Microsoft YaHei"/>
                <a:ea typeface="Microsoft YaHei"/>
              </a:rPr>
              <a:t>02</a:t>
            </a:r>
            <a:endParaRPr lang="zh-CN" sz="1300"/>
          </a:p>
        </p:txBody>
      </p:sp>
      <p:sp>
        <p:nvSpPr>
          <p:cNvPr id="12" name="Text 12"/>
          <p:cNvSpPr txBox="1"/>
          <p:nvPr/>
        </p:nvSpPr>
        <p:spPr>
          <a:xfrm>
            <a:off x="7059168" y="1508760"/>
            <a:ext cx="4480560" cy="310896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op"/>
          <a:lstStyle/>
          <a:p algn="l">
            <a:pPr algn="l" lvl="0"/>
            <a:r>
              <a:rPr lang="zh-CN" sz="1600" b="1" typeface="Microsoft YaHei">
                <a:solidFill>
                  <a:srgbClr val="FFFFFF"/>
                </a:solidFill>
                <a:latin typeface="Microsoft YaHei"/>
                <a:ea typeface="Microsoft YaHei"/>
              </a:rPr>
              <a:t>方案总览</a:t>
            </a:r>
            <a:endParaRPr lang="zh-CN" sz="1600"/>
          </a:p>
        </p:txBody>
      </p:sp>
      <p:sp>
        <p:nvSpPr>
          <p:cNvPr id="13" name="Shape 13"/>
          <p:cNvSpPr/>
          <p:nvPr/>
        </p:nvSpPr>
        <p:spPr>
          <a:xfrm>
            <a:off x="7059168" y="1947672"/>
            <a:ext cx="4297680" cy="22860"/>
          </a:xfrm>
          <a:prstGeom prst="rect">
            <a:avLst/>
          </a:prstGeom>
          <a:solidFill>
            <a:srgbClr val="32506F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 14"/>
          <p:cNvSpPr txBox="1"/>
          <p:nvPr/>
        </p:nvSpPr>
        <p:spPr>
          <a:xfrm>
            <a:off x="777240" y="2578608"/>
            <a:ext cx="475488" cy="292608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op"/>
          <a:lstStyle/>
          <a:p algn="l">
            <a:pPr algn="l" lvl="0"/>
            <a:r>
              <a:rPr lang="zh-CN" sz="1300" b="1" typeface="Microsoft YaHei">
                <a:solidFill>
                  <a:srgbClr val="C9F36A"/>
                </a:solidFill>
                <a:latin typeface="Microsoft YaHei"/>
                <a:ea typeface="Microsoft YaHei"/>
              </a:rPr>
              <a:t>03</a:t>
            </a:r>
            <a:endParaRPr lang="zh-CN" sz="1300"/>
          </a:p>
        </p:txBody>
      </p:sp>
      <p:sp>
        <p:nvSpPr>
          <p:cNvPr id="15" name="Text 15"/>
          <p:cNvSpPr txBox="1"/>
          <p:nvPr/>
        </p:nvSpPr>
        <p:spPr>
          <a:xfrm>
            <a:off x="1435607" y="2578608"/>
            <a:ext cx="4480560" cy="310896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op"/>
          <a:lstStyle/>
          <a:p algn="l">
            <a:pPr algn="l" lvl="0"/>
            <a:r>
              <a:rPr lang="zh-CN" sz="1600" b="1" typeface="Microsoft YaHei">
                <a:solidFill>
                  <a:srgbClr val="FFFFFF"/>
                </a:solidFill>
                <a:latin typeface="Microsoft YaHei"/>
                <a:ea typeface="Microsoft YaHei"/>
              </a:rPr>
              <a:t>多 Agent 协同设计</a:t>
            </a:r>
            <a:endParaRPr lang="zh-CN" sz="1600"/>
          </a:p>
        </p:txBody>
      </p:sp>
      <p:sp>
        <p:nvSpPr>
          <p:cNvPr id="16" name="Shape 16"/>
          <p:cNvSpPr/>
          <p:nvPr/>
        </p:nvSpPr>
        <p:spPr>
          <a:xfrm>
            <a:off x="1435607" y="3017520"/>
            <a:ext cx="4297680" cy="22860"/>
          </a:xfrm>
          <a:prstGeom prst="rect">
            <a:avLst/>
          </a:prstGeom>
          <a:solidFill>
            <a:srgbClr val="32506F"/>
          </a:solidFill>
          <a:ln>
            <a:noFill/>
          </a:ln>
        </p:spPr>
        <p:txBody>
          <a:bodyPr/>
          <a:lstStyle/>
          <a:p/>
        </p:txBody>
      </p:sp>
      <p:sp>
        <p:nvSpPr>
          <p:cNvPr id="17" name="Text 17"/>
          <p:cNvSpPr txBox="1"/>
          <p:nvPr/>
        </p:nvSpPr>
        <p:spPr>
          <a:xfrm>
            <a:off x="6400800" y="2578608"/>
            <a:ext cx="475488" cy="292608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op"/>
          <a:lstStyle/>
          <a:p algn="l">
            <a:pPr algn="l" lvl="0"/>
            <a:r>
              <a:rPr lang="zh-CN" sz="1300" b="1" typeface="Microsoft YaHei">
                <a:solidFill>
                  <a:srgbClr val="C9F36A"/>
                </a:solidFill>
                <a:latin typeface="Microsoft YaHei"/>
                <a:ea typeface="Microsoft YaHei"/>
              </a:rPr>
              <a:t>04</a:t>
            </a:r>
            <a:endParaRPr lang="zh-CN" sz="1300"/>
          </a:p>
        </p:txBody>
      </p:sp>
      <p:sp>
        <p:nvSpPr>
          <p:cNvPr id="18" name="Text 18"/>
          <p:cNvSpPr txBox="1"/>
          <p:nvPr/>
        </p:nvSpPr>
        <p:spPr>
          <a:xfrm>
            <a:off x="7059168" y="2578608"/>
            <a:ext cx="4480560" cy="310896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op"/>
          <a:lstStyle/>
          <a:p algn="l">
            <a:pPr algn="l" lvl="0"/>
            <a:r>
              <a:rPr lang="zh-CN" sz="1600" b="1" typeface="Microsoft YaHei">
                <a:solidFill>
                  <a:srgbClr val="FFFFFF"/>
                </a:solidFill>
                <a:latin typeface="Microsoft YaHei"/>
                <a:ea typeface="Microsoft YaHei"/>
              </a:rPr>
              <a:t>Skill 工程体系</a:t>
            </a:r>
            <a:endParaRPr lang="zh-CN" sz="1600"/>
          </a:p>
        </p:txBody>
      </p:sp>
      <p:sp>
        <p:nvSpPr>
          <p:cNvPr id="19" name="Shape 19"/>
          <p:cNvSpPr/>
          <p:nvPr/>
        </p:nvSpPr>
        <p:spPr>
          <a:xfrm>
            <a:off x="7059168" y="3017520"/>
            <a:ext cx="4297680" cy="22860"/>
          </a:xfrm>
          <a:prstGeom prst="rect">
            <a:avLst/>
          </a:prstGeom>
          <a:solidFill>
            <a:srgbClr val="32506F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ext 20"/>
          <p:cNvSpPr txBox="1"/>
          <p:nvPr/>
        </p:nvSpPr>
        <p:spPr>
          <a:xfrm>
            <a:off x="777240" y="3648456"/>
            <a:ext cx="475488" cy="292608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op"/>
          <a:lstStyle/>
          <a:p algn="l">
            <a:pPr algn="l" lvl="0"/>
            <a:r>
              <a:rPr lang="zh-CN" sz="1300" b="1" typeface="Microsoft YaHei">
                <a:solidFill>
                  <a:srgbClr val="C9F36A"/>
                </a:solidFill>
                <a:latin typeface="Microsoft YaHei"/>
                <a:ea typeface="Microsoft YaHei"/>
              </a:rPr>
              <a:t>05</a:t>
            </a:r>
            <a:endParaRPr lang="zh-CN" sz="1300"/>
          </a:p>
        </p:txBody>
      </p:sp>
      <p:sp>
        <p:nvSpPr>
          <p:cNvPr id="21" name="Text 21"/>
          <p:cNvSpPr txBox="1"/>
          <p:nvPr/>
        </p:nvSpPr>
        <p:spPr>
          <a:xfrm>
            <a:off x="1435607" y="3648456"/>
            <a:ext cx="4480560" cy="310896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op"/>
          <a:lstStyle/>
          <a:p algn="l">
            <a:pPr algn="l" lvl="0"/>
            <a:r>
              <a:rPr lang="zh-CN" sz="1600" b="1" typeface="Microsoft YaHei">
                <a:solidFill>
                  <a:srgbClr val="FFFFFF"/>
                </a:solidFill>
                <a:latin typeface="Microsoft YaHei"/>
                <a:ea typeface="Microsoft YaHei"/>
              </a:rPr>
              <a:t>工程与安全审计</a:t>
            </a:r>
            <a:endParaRPr lang="zh-CN" sz="1600"/>
          </a:p>
        </p:txBody>
      </p:sp>
      <p:sp>
        <p:nvSpPr>
          <p:cNvPr id="22" name="Shape 22"/>
          <p:cNvSpPr/>
          <p:nvPr/>
        </p:nvSpPr>
        <p:spPr>
          <a:xfrm>
            <a:off x="1435607" y="4087368"/>
            <a:ext cx="4297680" cy="22860"/>
          </a:xfrm>
          <a:prstGeom prst="rect">
            <a:avLst/>
          </a:prstGeom>
          <a:solidFill>
            <a:srgbClr val="32506F"/>
          </a:solidFill>
          <a:ln>
            <a:noFill/>
          </a:ln>
        </p:spPr>
        <p:txBody>
          <a:bodyPr/>
          <a:lstStyle/>
          <a:p/>
        </p:txBody>
      </p:sp>
      <p:sp>
        <p:nvSpPr>
          <p:cNvPr id="23" name="Text 23"/>
          <p:cNvSpPr txBox="1"/>
          <p:nvPr/>
        </p:nvSpPr>
        <p:spPr>
          <a:xfrm>
            <a:off x="6400800" y="3648456"/>
            <a:ext cx="475488" cy="292608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op"/>
          <a:lstStyle/>
          <a:p algn="l">
            <a:pPr algn="l" lvl="0"/>
            <a:r>
              <a:rPr lang="zh-CN" sz="1300" b="1" typeface="Microsoft YaHei">
                <a:solidFill>
                  <a:srgbClr val="C9F36A"/>
                </a:solidFill>
                <a:latin typeface="Microsoft YaHei"/>
                <a:ea typeface="Microsoft YaHei"/>
              </a:rPr>
              <a:t>06</a:t>
            </a:r>
            <a:endParaRPr lang="zh-CN" sz="1300"/>
          </a:p>
        </p:txBody>
      </p:sp>
      <p:sp>
        <p:nvSpPr>
          <p:cNvPr id="24" name="Text 24"/>
          <p:cNvSpPr txBox="1"/>
          <p:nvPr/>
        </p:nvSpPr>
        <p:spPr>
          <a:xfrm>
            <a:off x="7059168" y="3648456"/>
            <a:ext cx="4480560" cy="310896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op"/>
          <a:lstStyle/>
          <a:p algn="l">
            <a:pPr algn="l" lvl="0"/>
            <a:r>
              <a:rPr lang="zh-CN" sz="1600" b="1" typeface="Microsoft YaHei">
                <a:solidFill>
                  <a:srgbClr val="FFFFFF"/>
                </a:solidFill>
                <a:latin typeface="Microsoft YaHei"/>
                <a:ea typeface="Microsoft YaHei"/>
              </a:rPr>
              <a:t>开放 / 开源计划</a:t>
            </a:r>
            <a:endParaRPr lang="zh-CN" sz="1600"/>
          </a:p>
        </p:txBody>
      </p:sp>
      <p:sp>
        <p:nvSpPr>
          <p:cNvPr id="25" name="Shape 25"/>
          <p:cNvSpPr/>
          <p:nvPr/>
        </p:nvSpPr>
        <p:spPr>
          <a:xfrm>
            <a:off x="7059168" y="4087368"/>
            <a:ext cx="4297680" cy="22860"/>
          </a:xfrm>
          <a:prstGeom prst="rect">
            <a:avLst/>
          </a:prstGeom>
          <a:solidFill>
            <a:srgbClr val="32506F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Text 26"/>
          <p:cNvSpPr txBox="1"/>
          <p:nvPr/>
        </p:nvSpPr>
        <p:spPr>
          <a:xfrm>
            <a:off x="777240" y="4718304"/>
            <a:ext cx="475488" cy="292608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op"/>
          <a:lstStyle/>
          <a:p algn="l">
            <a:pPr algn="l" lvl="0"/>
            <a:r>
              <a:rPr lang="zh-CN" sz="1300" b="1" typeface="Microsoft YaHei">
                <a:solidFill>
                  <a:srgbClr val="C9F36A"/>
                </a:solidFill>
                <a:latin typeface="Microsoft YaHei"/>
                <a:ea typeface="Microsoft YaHei"/>
              </a:rPr>
              <a:t>07</a:t>
            </a:r>
            <a:endParaRPr lang="zh-CN" sz="1300"/>
          </a:p>
        </p:txBody>
      </p:sp>
      <p:sp>
        <p:nvSpPr>
          <p:cNvPr id="27" name="Text 27"/>
          <p:cNvSpPr txBox="1"/>
          <p:nvPr/>
        </p:nvSpPr>
        <p:spPr>
          <a:xfrm>
            <a:off x="1435607" y="4718304"/>
            <a:ext cx="4480560" cy="310896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op"/>
          <a:lstStyle/>
          <a:p algn="l">
            <a:pPr algn="l" lvl="0"/>
            <a:r>
              <a:rPr lang="zh-CN" sz="1600" b="1" typeface="Microsoft YaHei">
                <a:solidFill>
                  <a:srgbClr val="FFFFFF"/>
                </a:solidFill>
                <a:latin typeface="Microsoft YaHei"/>
                <a:ea typeface="Microsoft YaHei"/>
              </a:rPr>
              <a:t>落地计划与进展</a:t>
            </a:r>
            <a:endParaRPr lang="zh-CN" sz="1600"/>
          </a:p>
        </p:txBody>
      </p:sp>
      <p:sp>
        <p:nvSpPr>
          <p:cNvPr id="28" name="Shape 28"/>
          <p:cNvSpPr/>
          <p:nvPr/>
        </p:nvSpPr>
        <p:spPr>
          <a:xfrm>
            <a:off x="1435607" y="5157216"/>
            <a:ext cx="4297680" cy="22860"/>
          </a:xfrm>
          <a:prstGeom prst="rect">
            <a:avLst/>
          </a:prstGeom>
          <a:solidFill>
            <a:srgbClr val="32506F"/>
          </a:solidFill>
          <a:ln>
            <a:noFill/>
          </a:ln>
        </p:spPr>
        <p:txBody>
          <a:bodyPr/>
          <a:lstStyle/>
          <a:p/>
        </p:txBody>
      </p:sp>
      <p:sp>
        <p:nvSpPr>
          <p:cNvPr id="29" name="Text 29"/>
          <p:cNvSpPr txBox="1"/>
          <p:nvPr/>
        </p:nvSpPr>
        <p:spPr>
          <a:xfrm>
            <a:off x="6400800" y="4718304"/>
            <a:ext cx="475488" cy="292608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op"/>
          <a:lstStyle/>
          <a:p algn="l">
            <a:pPr algn="l" lvl="0"/>
            <a:r>
              <a:rPr lang="zh-CN" sz="1300" b="1" typeface="Microsoft YaHei">
                <a:solidFill>
                  <a:srgbClr val="C9F36A"/>
                </a:solidFill>
                <a:latin typeface="Microsoft YaHei"/>
                <a:ea typeface="Microsoft YaHei"/>
              </a:rPr>
              <a:t>08</a:t>
            </a:r>
            <a:endParaRPr lang="zh-CN" sz="1300"/>
          </a:p>
        </p:txBody>
      </p:sp>
      <p:sp>
        <p:nvSpPr>
          <p:cNvPr id="30" name="Text 30"/>
          <p:cNvSpPr txBox="1"/>
          <p:nvPr/>
        </p:nvSpPr>
        <p:spPr>
          <a:xfrm>
            <a:off x="7059168" y="4718304"/>
            <a:ext cx="4480560" cy="310896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op"/>
          <a:lstStyle/>
          <a:p algn="l">
            <a:pPr algn="l" lvl="0"/>
            <a:r>
              <a:rPr lang="zh-CN" sz="1600" b="1" typeface="Microsoft YaHei">
                <a:solidFill>
                  <a:srgbClr val="FFFFFF"/>
                </a:solidFill>
                <a:latin typeface="Microsoft YaHei"/>
                <a:ea typeface="Microsoft YaHei"/>
              </a:rPr>
              <a:t>团队介绍</a:t>
            </a:r>
            <a:endParaRPr lang="zh-CN" sz="1600"/>
          </a:p>
        </p:txBody>
      </p:sp>
      <p:sp>
        <p:nvSpPr>
          <p:cNvPr id="31" name="Shape 31"/>
          <p:cNvSpPr/>
          <p:nvPr/>
        </p:nvSpPr>
        <p:spPr>
          <a:xfrm>
            <a:off x="7059168" y="5157216"/>
            <a:ext cx="4297680" cy="22860"/>
          </a:xfrm>
          <a:prstGeom prst="rect">
            <a:avLst/>
          </a:prstGeom>
          <a:solidFill>
            <a:srgbClr val="32506F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83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 3"/>
          <p:cNvSpPr/>
          <p:nvPr/>
        </p:nvSpPr>
        <p:spPr>
          <a:xfrm>
            <a:off x="8961120" y="-640080"/>
            <a:ext cx="3931920" cy="3931920"/>
          </a:xfrm>
          <a:prstGeom prst="rect">
            <a:avLst/>
          </a:prstGeom>
          <a:solidFill>
            <a:srgbClr val="16B8AE">
              <a:alpha val="16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Shape 4"/>
          <p:cNvSpPr/>
          <p:nvPr/>
        </p:nvSpPr>
        <p:spPr>
          <a:xfrm>
            <a:off x="-1005840" y="4754880"/>
            <a:ext cx="2743200" cy="2743200"/>
          </a:xfrm>
          <a:prstGeom prst="rect">
            <a:avLst/>
          </a:prstGeom>
          <a:solidFill>
            <a:srgbClr val="4E7CF4">
              <a:alpha val="20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Text 5"/>
          <p:cNvSpPr txBox="1"/>
          <p:nvPr/>
        </p:nvSpPr>
        <p:spPr>
          <a:xfrm>
            <a:off x="594360" y="320040"/>
            <a:ext cx="6858000" cy="27432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op"/>
          <a:lstStyle/>
          <a:p algn="l">
            <a:pPr algn="l" lvl="0"/>
            <a:r>
              <a:rPr lang="zh-CN" sz="1100" b="1" typeface="Microsoft YaHei">
                <a:solidFill>
                  <a:srgbClr val="FFFFFF"/>
                </a:solidFill>
                <a:latin typeface="Microsoft YaHei"/>
                <a:ea typeface="Microsoft YaHei"/>
              </a:rPr>
              <a:t>第一章 · 场景与价值</a:t>
            </a:r>
            <a:endParaRPr lang="zh-CN" sz="1100"/>
          </a:p>
        </p:txBody>
      </p:sp>
      <p:sp>
        <p:nvSpPr>
          <p:cNvPr id="6" name="Text 6"/>
          <p:cNvSpPr txBox="1"/>
          <p:nvPr/>
        </p:nvSpPr>
        <p:spPr>
          <a:xfrm>
            <a:off x="594360" y="658368"/>
            <a:ext cx="10515600" cy="59436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op"/>
          <a:lstStyle/>
          <a:p algn="l">
            <a:pPr algn="l" lvl="0"/>
            <a:r>
              <a:rPr lang="zh-CN" sz="2500" b="1" typeface="Microsoft YaHei">
                <a:solidFill>
                  <a:srgbClr val="FFFFFF"/>
                </a:solidFill>
                <a:latin typeface="Microsoft YaHei"/>
                <a:ea typeface="Microsoft YaHei"/>
              </a:rPr>
              <a:t>一次组学交付，为什么需要多 Agent？</a:t>
            </a:r>
            <a:endParaRPr lang="zh-CN" sz="2500"/>
          </a:p>
        </p:txBody>
      </p:sp>
      <p:sp>
        <p:nvSpPr>
          <p:cNvPr id="7" name="Text 7"/>
          <p:cNvSpPr txBox="1"/>
          <p:nvPr/>
        </p:nvSpPr>
        <p:spPr>
          <a:xfrm>
            <a:off x="11064240" y="6291072"/>
            <a:ext cx="502920" cy="256032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op"/>
          <a:lstStyle/>
          <a:p algn="r">
            <a:pPr algn="r" lvl="0"/>
            <a:r>
              <a:rPr lang="zh-CN" sz="900" b="1" typeface="Microsoft YaHei">
                <a:solidFill>
                  <a:srgbClr val="B4C0D0"/>
                </a:solidFill>
                <a:latin typeface="Microsoft YaHei"/>
                <a:ea typeface="Microsoft YaHei"/>
              </a:rPr>
              <a:t>04</a:t>
            </a:r>
            <a:endParaRPr lang="zh-CN" sz="900"/>
          </a:p>
        </p:txBody>
      </p:sp>
      <p:sp>
        <p:nvSpPr>
          <p:cNvPr id="8" name="Text 8"/>
          <p:cNvSpPr txBox="1"/>
          <p:nvPr/>
        </p:nvSpPr>
        <p:spPr>
          <a:xfrm>
            <a:off x="640080" y="1444752"/>
            <a:ext cx="9052560" cy="41148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op"/>
          <a:lstStyle/>
          <a:p algn="l">
            <a:pPr algn="l" lvl="0"/>
            <a:r>
              <a:rPr lang="zh-CN" sz="1500" b="0" typeface="Microsoft YaHei">
                <a:solidFill>
                  <a:srgbClr val="D7E5F5"/>
                </a:solidFill>
                <a:latin typeface="Microsoft YaHei"/>
                <a:ea typeface="Microsoft YaHei"/>
              </a:rPr>
              <a:t>真实问题不是“能否跑出流程”，而是如何在跨角色协作中保证输入正确、执行受控、质量独立、交付可复核。</a:t>
            </a:r>
            <a:endParaRPr lang="zh-CN" sz="1500"/>
          </a:p>
        </p:txBody>
      </p:sp>
      <p:sp>
        <p:nvSpPr>
          <p:cNvPr id="9" name="Shape 9"/>
          <p:cNvSpPr/>
          <p:nvPr/>
        </p:nvSpPr>
        <p:spPr>
          <a:xfrm>
            <a:off x="640080" y="2148840"/>
            <a:ext cx="50749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F1"/>
            </a:solidFill>
          </a:ln>
        </p:spPr>
        <p:txBody>
          <a:bodyPr/>
          <a:lstStyle/>
          <a:p/>
        </p:txBody>
      </p:sp>
      <p:sp>
        <p:nvSpPr>
          <p:cNvPr id="10" name="Shape 10"/>
          <p:cNvSpPr/>
          <p:nvPr/>
        </p:nvSpPr>
        <p:spPr>
          <a:xfrm>
            <a:off x="640080" y="2148840"/>
            <a:ext cx="73152" cy="1234440"/>
          </a:xfrm>
          <a:prstGeom prst="roundRect">
            <a:avLst/>
          </a:prstGeom>
          <a:solidFill>
            <a:srgbClr val="E966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Text 11"/>
          <p:cNvSpPr txBox="1"/>
          <p:nvPr/>
        </p:nvSpPr>
        <p:spPr>
          <a:xfrm>
            <a:off x="859536" y="2313432"/>
            <a:ext cx="4709159" cy="310896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op"/>
          <a:lstStyle/>
          <a:p algn="l">
            <a:pPr algn="l" lvl="0"/>
            <a:r>
              <a:rPr lang="zh-CN" sz="1400" b="1" typeface="Microsoft YaHei">
                <a:solidFill>
                  <a:srgbClr val="16253D"/>
                </a:solidFill>
                <a:latin typeface="Microsoft YaHei"/>
                <a:ea typeface="Microsoft YaHei"/>
              </a:rPr>
              <a:t>信息断裂</a:t>
            </a:r>
            <a:endParaRPr lang="zh-CN" sz="1400"/>
          </a:p>
        </p:txBody>
      </p:sp>
      <p:sp>
        <p:nvSpPr>
          <p:cNvPr id="12" name="Text 12"/>
          <p:cNvSpPr txBox="1"/>
          <p:nvPr/>
        </p:nvSpPr>
        <p:spPr>
          <a:xfrm>
            <a:off x="859536" y="2724912"/>
            <a:ext cx="4663440" cy="54864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op"/>
          <a:lstStyle/>
          <a:p algn="l">
            <a:pPr algn="l" lvl="0"/>
            <a:r>
              <a:rPr lang="zh-CN" sz="1130" b="0" typeface="Microsoft YaHei">
                <a:solidFill>
                  <a:srgbClr val="5E6E85"/>
                </a:solidFill>
                <a:latin typeface="Microsoft YaHei"/>
                <a:ea typeface="Microsoft YaHei"/>
              </a:rPr>
              <a:t>FASTQ、样本表、分组与参考版本分散，错误常在计算后期暴露。</a:t>
            </a:r>
            <a:endParaRPr lang="zh-CN" sz="1130"/>
          </a:p>
        </p:txBody>
      </p:sp>
      <p:sp>
        <p:nvSpPr>
          <p:cNvPr id="13" name="Shape 13"/>
          <p:cNvSpPr/>
          <p:nvPr/>
        </p:nvSpPr>
        <p:spPr>
          <a:xfrm>
            <a:off x="6172200" y="2148840"/>
            <a:ext cx="50749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F1"/>
            </a:solidFill>
          </a:ln>
        </p:spPr>
        <p:txBody>
          <a:bodyPr/>
          <a:lstStyle/>
          <a:p/>
        </p:txBody>
      </p:sp>
      <p:sp>
        <p:nvSpPr>
          <p:cNvPr id="14" name="Shape 14"/>
          <p:cNvSpPr/>
          <p:nvPr/>
        </p:nvSpPr>
        <p:spPr>
          <a:xfrm>
            <a:off x="6172200" y="2148840"/>
            <a:ext cx="73152" cy="1234440"/>
          </a:xfrm>
          <a:prstGeom prst="roundRect">
            <a:avLst/>
          </a:prstGeom>
          <a:solidFill>
            <a:srgbClr val="FFAA5B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Text 15"/>
          <p:cNvSpPr txBox="1"/>
          <p:nvPr/>
        </p:nvSpPr>
        <p:spPr>
          <a:xfrm>
            <a:off x="6391656" y="2313432"/>
            <a:ext cx="4709159" cy="310896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op"/>
          <a:lstStyle/>
          <a:p algn="l">
            <a:pPr algn="l" lvl="0"/>
            <a:r>
              <a:rPr lang="zh-CN" sz="1400" b="1" typeface="Microsoft YaHei">
                <a:solidFill>
                  <a:srgbClr val="16253D"/>
                </a:solidFill>
                <a:latin typeface="Microsoft YaHei"/>
                <a:ea typeface="Microsoft YaHei"/>
              </a:rPr>
              <a:t>权限混杂</a:t>
            </a:r>
            <a:endParaRPr lang="zh-CN" sz="1400"/>
          </a:p>
        </p:txBody>
      </p:sp>
      <p:sp>
        <p:nvSpPr>
          <p:cNvPr id="16" name="Text 16"/>
          <p:cNvSpPr txBox="1"/>
          <p:nvPr/>
        </p:nvSpPr>
        <p:spPr>
          <a:xfrm>
            <a:off x="6391656" y="2724912"/>
            <a:ext cx="4663440" cy="54864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op"/>
          <a:lstStyle/>
          <a:p algn="l">
            <a:pPr algn="l" lvl="0"/>
            <a:r>
              <a:rPr lang="zh-CN" sz="1130" b="0" typeface="Microsoft YaHei">
                <a:solidFill>
                  <a:srgbClr val="5E6E85"/>
                </a:solidFill>
                <a:latin typeface="Microsoft YaHei"/>
                <a:ea typeface="Microsoft YaHei"/>
              </a:rPr>
              <a:t>研究人员、工程师、质控共享高权限入口，责任边界不清。</a:t>
            </a:r>
            <a:endParaRPr lang="zh-CN" sz="1130"/>
          </a:p>
        </p:txBody>
      </p:sp>
      <p:sp>
        <p:nvSpPr>
          <p:cNvPr id="17" name="Shape 17"/>
          <p:cNvSpPr/>
          <p:nvPr/>
        </p:nvSpPr>
        <p:spPr>
          <a:xfrm>
            <a:off x="640080" y="3794760"/>
            <a:ext cx="50749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F1"/>
            </a:solidFill>
          </a:ln>
        </p:spPr>
        <p:txBody>
          <a:bodyPr/>
          <a:lstStyle/>
          <a:p/>
        </p:txBody>
      </p:sp>
      <p:sp>
        <p:nvSpPr>
          <p:cNvPr id="18" name="Shape 18"/>
          <p:cNvSpPr/>
          <p:nvPr/>
        </p:nvSpPr>
        <p:spPr>
          <a:xfrm>
            <a:off x="640080" y="3794760"/>
            <a:ext cx="73152" cy="1234440"/>
          </a:xfrm>
          <a:prstGeom prst="roundRect">
            <a:avLst/>
          </a:prstGeom>
          <a:solidFill>
            <a:srgbClr val="4E7CF4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Text 19"/>
          <p:cNvSpPr txBox="1"/>
          <p:nvPr/>
        </p:nvSpPr>
        <p:spPr>
          <a:xfrm>
            <a:off x="859536" y="3959352"/>
            <a:ext cx="4709159" cy="310896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op"/>
          <a:lstStyle/>
          <a:p algn="l">
            <a:pPr algn="l" lvl="0"/>
            <a:r>
              <a:rPr lang="zh-CN" sz="1400" b="1" typeface="Microsoft YaHei">
                <a:solidFill>
                  <a:srgbClr val="16253D"/>
                </a:solidFill>
                <a:latin typeface="Microsoft YaHei"/>
                <a:ea typeface="Microsoft YaHei"/>
              </a:rPr>
              <a:t>结果黑箱</a:t>
            </a:r>
            <a:endParaRPr lang="zh-CN" sz="1400"/>
          </a:p>
        </p:txBody>
      </p:sp>
      <p:sp>
        <p:nvSpPr>
          <p:cNvPr id="20" name="Text 20"/>
          <p:cNvSpPr txBox="1"/>
          <p:nvPr/>
        </p:nvSpPr>
        <p:spPr>
          <a:xfrm>
            <a:off x="859536" y="4370832"/>
            <a:ext cx="4663440" cy="54864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op"/>
          <a:lstStyle/>
          <a:p algn="l">
            <a:pPr algn="l" lvl="0"/>
            <a:r>
              <a:rPr lang="zh-CN" sz="1130" b="0" typeface="Microsoft YaHei">
                <a:solidFill>
                  <a:srgbClr val="5E6E85"/>
                </a:solidFill>
                <a:latin typeface="Microsoft YaHei"/>
                <a:ea typeface="Microsoft YaHei"/>
              </a:rPr>
              <a:t>仅交付压缩包，参数、重试、判断和版本关系难以复核。</a:t>
            </a:r>
            <a:endParaRPr lang="zh-CN" sz="1130"/>
          </a:p>
        </p:txBody>
      </p:sp>
      <p:sp>
        <p:nvSpPr>
          <p:cNvPr id="21" name="Shape 21"/>
          <p:cNvSpPr/>
          <p:nvPr/>
        </p:nvSpPr>
        <p:spPr>
          <a:xfrm>
            <a:off x="6172200" y="3794760"/>
            <a:ext cx="50749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F1"/>
            </a:solidFill>
          </a:ln>
        </p:spPr>
        <p:txBody>
          <a:bodyPr/>
          <a:lstStyle/>
          <a:p/>
        </p:txBody>
      </p:sp>
      <p:sp>
        <p:nvSpPr>
          <p:cNvPr id="22" name="Shape 22"/>
          <p:cNvSpPr/>
          <p:nvPr/>
        </p:nvSpPr>
        <p:spPr>
          <a:xfrm>
            <a:off x="6172200" y="3794760"/>
            <a:ext cx="73152" cy="1234440"/>
          </a:xfrm>
          <a:prstGeom prst="roundRect">
            <a:avLst/>
          </a:prstGeom>
          <a:solidFill>
            <a:srgbClr val="16B8AE"/>
          </a:solidFill>
          <a:ln>
            <a:noFill/>
          </a:ln>
        </p:spPr>
        <p:txBody>
          <a:bodyPr/>
          <a:lstStyle/>
          <a:p/>
        </p:txBody>
      </p:sp>
      <p:sp>
        <p:nvSpPr>
          <p:cNvPr id="23" name="Text 23"/>
          <p:cNvSpPr txBox="1"/>
          <p:nvPr/>
        </p:nvSpPr>
        <p:spPr>
          <a:xfrm>
            <a:off x="6391656" y="3959352"/>
            <a:ext cx="4709159" cy="310896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op"/>
          <a:lstStyle/>
          <a:p algn="l">
            <a:pPr algn="l" lvl="0"/>
            <a:r>
              <a:rPr lang="zh-CN" sz="1400" b="1" typeface="Microsoft YaHei">
                <a:solidFill>
                  <a:srgbClr val="16253D"/>
                </a:solidFill>
                <a:latin typeface="Microsoft YaHei"/>
                <a:ea typeface="Microsoft YaHei"/>
              </a:rPr>
              <a:t>经验难复用</a:t>
            </a:r>
            <a:endParaRPr lang="zh-CN" sz="1400"/>
          </a:p>
        </p:txBody>
      </p:sp>
      <p:sp>
        <p:nvSpPr>
          <p:cNvPr id="24" name="Text 24"/>
          <p:cNvSpPr txBox="1"/>
          <p:nvPr/>
        </p:nvSpPr>
        <p:spPr>
          <a:xfrm>
            <a:off x="6391656" y="4370832"/>
            <a:ext cx="4663440" cy="54864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op"/>
          <a:lstStyle/>
          <a:p algn="l">
            <a:pPr algn="l" lvl="0"/>
            <a:r>
              <a:rPr lang="zh-CN" sz="1130" b="0" typeface="Microsoft YaHei">
                <a:solidFill>
                  <a:srgbClr val="5E6E85"/>
                </a:solidFill>
                <a:latin typeface="Microsoft YaHei"/>
                <a:ea typeface="Microsoft YaHei"/>
              </a:rPr>
              <a:t>同类项目反复从沟通开始，无法沉淀为规则、Skill 与模板。</a:t>
            </a:r>
            <a:endParaRPr lang="zh-CN" sz="1130"/>
          </a:p>
        </p:txBody>
      </p:sp>
      <p:sp>
        <p:nvSpPr>
          <p:cNvPr id="25" name="Shape 25"/>
          <p:cNvSpPr/>
          <p:nvPr/>
        </p:nvSpPr>
        <p:spPr>
          <a:xfrm>
            <a:off x="640080" y="5806440"/>
            <a:ext cx="3246120" cy="274320"/>
          </a:xfrm>
          <a:prstGeom prst="roundRect">
            <a:avLst/>
          </a:prstGeom>
          <a:solidFill>
            <a:srgbClr val="C9F36A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Text 26"/>
          <p:cNvSpPr txBox="1"/>
          <p:nvPr/>
        </p:nvSpPr>
        <p:spPr>
          <a:xfrm>
            <a:off x="694944" y="5843016"/>
            <a:ext cx="3136391" cy="164592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op"/>
          <a:lstStyle/>
          <a:p algn="c">
            <a:pPr algn="c" lvl="0"/>
            <a:r>
              <a:rPr lang="zh-CN" sz="900" b="1" typeface="Microsoft YaHei">
                <a:solidFill>
                  <a:srgbClr val="0C1830"/>
                </a:solidFill>
                <a:latin typeface="Microsoft YaHei"/>
                <a:ea typeface="Microsoft YaHei"/>
              </a:rPr>
              <a:t>评分维度：场景价值与行业可复制性 · 25%</a:t>
            </a:r>
            <a:endParaRPr lang="zh-CN" sz="9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ns2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 3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6B8AE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Shape 4"/>
          <p:cNvSpPr/>
          <p:nvPr/>
        </p:nvSpPr>
        <p:spPr>
          <a:xfrm>
            <a:off x="9692640" y="128016"/>
            <a:ext cx="2499055" cy="45720"/>
          </a:xfrm>
          <a:prstGeom prst="rect">
            <a:avLst/>
          </a:prstGeom>
          <a:solidFill>
            <a:srgbClr val="C9F36A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Text 5"/>
          <p:cNvSpPr txBox="1"/>
          <p:nvPr/>
        </p:nvSpPr>
        <p:spPr>
          <a:xfrm>
            <a:off x="594360" y="320040"/>
            <a:ext cx="6858000" cy="27432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op"/>
          <a:lstStyle/>
          <a:p algn="l">
            <a:pPr algn="l" lvl="0"/>
            <a:r>
              <a:rPr lang="zh-CN" sz="1100" b="1" typeface="Microsoft YaHei">
                <a:solidFill>
                  <a:srgbClr val="5E6E85"/>
                </a:solidFill>
                <a:latin typeface="Microsoft YaHei"/>
                <a:ea typeface="Microsoft YaHei"/>
              </a:rPr>
              <a:t>第一章 · 目标用户与价值</a:t>
            </a:r>
            <a:endParaRPr lang="zh-CN" sz="1100"/>
          </a:p>
        </p:txBody>
      </p:sp>
      <p:sp>
        <p:nvSpPr>
          <p:cNvPr id="6" name="Text 6"/>
          <p:cNvSpPr txBox="1"/>
          <p:nvPr/>
        </p:nvSpPr>
        <p:spPr>
          <a:xfrm>
            <a:off x="594360" y="658368"/>
            <a:ext cx="10515600" cy="59436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op"/>
          <a:lstStyle/>
          <a:p algn="l">
            <a:pPr algn="l" lvl="0"/>
            <a:r>
              <a:rPr lang="zh-CN" sz="2500" b="1" typeface="Microsoft YaHei">
                <a:solidFill>
                  <a:srgbClr val="16253D"/>
                </a:solidFill>
                <a:latin typeface="Microsoft YaHei"/>
                <a:ea typeface="Microsoft YaHei"/>
              </a:rPr>
              <a:t>从 RNA-seq 交付出发，复制到多组学研发</a:t>
            </a:r>
            <a:endParaRPr lang="zh-CN" sz="2500"/>
          </a:p>
        </p:txBody>
      </p:sp>
      <p:sp>
        <p:nvSpPr>
          <p:cNvPr id="7" name="Text 7"/>
          <p:cNvSpPr txBox="1"/>
          <p:nvPr/>
        </p:nvSpPr>
        <p:spPr>
          <a:xfrm>
            <a:off x="11064240" y="6291072"/>
            <a:ext cx="502920" cy="256032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op"/>
          <a:lstStyle/>
          <a:p algn="r">
            <a:pPr algn="r" lvl="0"/>
            <a:r>
              <a:rPr lang="zh-CN" sz="900" b="1" typeface="Microsoft YaHei">
                <a:solidFill>
                  <a:srgbClr val="5E6E85"/>
                </a:solidFill>
                <a:latin typeface="Microsoft YaHei"/>
                <a:ea typeface="Microsoft YaHei"/>
              </a:rPr>
              <a:t>05</a:t>
            </a:r>
            <a:endParaRPr lang="zh-CN" sz="900"/>
          </a:p>
        </p:txBody>
      </p:sp>
      <p:sp>
        <p:nvSpPr>
          <p:cNvPr id="8" name="Text 8"/>
          <p:cNvSpPr txBox="1"/>
          <p:nvPr/>
        </p:nvSpPr>
        <p:spPr>
          <a:xfrm>
            <a:off x="640080" y="1298448"/>
            <a:ext cx="10607040" cy="32004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op"/>
          <a:lstStyle/>
          <a:p algn="l">
            <a:pPr algn="l" lvl="0"/>
            <a:r>
              <a:rPr lang="zh-CN" sz="1300" b="0" typeface="Microsoft YaHei">
                <a:solidFill>
                  <a:srgbClr val="5E6E85"/>
                </a:solidFill>
                <a:latin typeface="Microsoft YaHei"/>
                <a:ea typeface="Microsoft YaHei"/>
              </a:rPr>
              <a:t>真实平台已具备统一 AI 工作台与任务协作入口；本次 Demo 聚焦 bulk RNA-seq 差异分析交付。</a:t>
            </a:r>
            <a:endParaRPr lang="zh-CN" sz="1300"/>
          </a:p>
        </p:txBody>
      </p:sp>
      <p:pic>
        <p:nvPicPr>
          <p:cNvPr id="9" name="OmicHub Home"/>
          <p:cNvPicPr>
            <a:picLocks noChangeAspect="1"/>
          </p:cNvPicPr>
          <p:nvPr/>
        </p:nvPicPr>
        <p:blipFill>
          <a:blip ns2:embed="rId1"/>
          <a:stretch>
            <a:fillRect/>
          </a:stretch>
        </p:blipFill>
        <p:spPr>
          <a:xfrm>
            <a:off x="658368" y="1783080"/>
            <a:ext cx="6903720" cy="3977639"/>
          </a:xfrm>
          <a:prstGeom prst="roundRect">
            <a:avLst/>
          </a:prstGeom>
          <a:ln w="19050">
            <a:solidFill>
              <a:srgbClr val="D5E0ED"/>
            </a:solidFill>
          </a:ln>
        </p:spPr>
      </p:pic>
      <p:pic>
        <p:nvPicPr>
          <p:cNvPr id="10" name="OmicHub Agent Chat"/>
          <p:cNvPicPr>
            <a:picLocks noChangeAspect="1"/>
          </p:cNvPicPr>
          <p:nvPr/>
        </p:nvPicPr>
        <p:blipFill>
          <a:blip ns2:embed="rId2"/>
          <a:stretch>
            <a:fillRect/>
          </a:stretch>
        </p:blipFill>
        <p:spPr>
          <a:xfrm>
            <a:off x="7818120" y="1783080"/>
            <a:ext cx="3703320" cy="2011680"/>
          </a:xfrm>
          <a:prstGeom prst="roundRect">
            <a:avLst/>
          </a:prstGeom>
          <a:ln w="19050">
            <a:solidFill>
              <a:srgbClr val="D5E0ED"/>
            </a:solidFill>
          </a:ln>
        </p:spPr>
      </p:pic>
      <p:sp>
        <p:nvSpPr>
          <p:cNvPr id="11" name="Shape 11"/>
          <p:cNvSpPr/>
          <p:nvPr/>
        </p:nvSpPr>
        <p:spPr>
          <a:xfrm>
            <a:off x="7818120" y="4041648"/>
            <a:ext cx="3703320" cy="17190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F1"/>
            </a:solidFill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7818120" y="4041648"/>
            <a:ext cx="73152" cy="1719072"/>
          </a:xfrm>
          <a:prstGeom prst="roundRect">
            <a:avLst/>
          </a:prstGeom>
          <a:solidFill>
            <a:srgbClr val="16B8AE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Text 13"/>
          <p:cNvSpPr txBox="1"/>
          <p:nvPr/>
        </p:nvSpPr>
        <p:spPr>
          <a:xfrm>
            <a:off x="8037576" y="4206240"/>
            <a:ext cx="3337560" cy="310896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op"/>
          <a:lstStyle/>
          <a:p algn="l">
            <a:pPr algn="l" lvl="0"/>
            <a:r>
              <a:rPr lang="zh-CN" sz="1400" b="1" typeface="Microsoft YaHei">
                <a:solidFill>
                  <a:srgbClr val="16253D"/>
                </a:solidFill>
                <a:latin typeface="Microsoft YaHei"/>
                <a:ea typeface="Microsoft YaHei"/>
              </a:rPr>
              <a:t>可复制目标用户</a:t>
            </a:r>
            <a:endParaRPr lang="zh-CN" sz="1400"/>
          </a:p>
        </p:txBody>
      </p:sp>
      <p:sp>
        <p:nvSpPr>
          <p:cNvPr id="14" name="Text 14"/>
          <p:cNvSpPr txBox="1"/>
          <p:nvPr/>
        </p:nvSpPr>
        <p:spPr>
          <a:xfrm>
            <a:off x="8037576" y="4617720"/>
            <a:ext cx="3291839" cy="1033271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op"/>
          <a:lstStyle/>
          <a:p algn="l">
            <a:pPr algn="l" lvl="0"/>
            <a:r>
              <a:rPr lang="zh-CN" sz="1120" b="0" typeface="Microsoft YaHei">
                <a:solidFill>
                  <a:srgbClr val="5E6E85"/>
                </a:solidFill>
                <a:latin typeface="Microsoft YaHei"/>
                <a:ea typeface="Microsoft YaHei"/>
              </a:rPr>
              <a:t>药企 / 转化医学</a:t>
            </a:r>
            <a:endParaRPr lang="zh-CN" sz="1120"/>
          </a:p>
          <a:p algn="l">
            <a:pPr algn="l" lvl="0"/>
            <a:r>
              <a:rPr lang="zh-CN" sz="1120" b="0" typeface="Microsoft YaHei">
                <a:solidFill>
                  <a:srgbClr val="5E6E85"/>
                </a:solidFill>
                <a:latin typeface="Microsoft YaHei"/>
                <a:ea typeface="Microsoft YaHei"/>
              </a:rPr>
              <a:t>种业 / 农业科研</a:t>
            </a:r>
            <a:endParaRPr lang="zh-CN" sz="1120"/>
          </a:p>
          <a:p algn="l">
            <a:pPr algn="l" lvl="0"/>
            <a:r>
              <a:rPr lang="zh-CN" sz="1120" b="0" typeface="Microsoft YaHei">
                <a:solidFill>
                  <a:srgbClr val="5E6E85"/>
                </a:solidFill>
                <a:latin typeface="Microsoft YaHei"/>
                <a:ea typeface="Microsoft YaHei"/>
              </a:rPr>
              <a:t>检验 / 科研服务</a:t>
            </a:r>
            <a:endParaRPr lang="zh-CN" sz="1120"/>
          </a:p>
          <a:p algn="l">
            <a:pPr algn="l" lvl="0"/>
            <a:r>
              <a:rPr lang="zh-CN" sz="1120" b="0" typeface="Microsoft YaHei">
                <a:solidFill>
                  <a:srgbClr val="5E6E85"/>
                </a:solidFill>
                <a:latin typeface="Microsoft YaHei"/>
                <a:ea typeface="Microsoft YaHei"/>
              </a:rPr>
              <a:t>高校核心设施</a:t>
            </a:r>
            <a:endParaRPr lang="zh-CN" sz="1120"/>
          </a:p>
        </p:txBody>
      </p:sp>
      <p:sp>
        <p:nvSpPr>
          <p:cNvPr id="15" name="Shape 15"/>
          <p:cNvSpPr/>
          <p:nvPr/>
        </p:nvSpPr>
        <p:spPr>
          <a:xfrm>
            <a:off x="841248" y="5285232"/>
            <a:ext cx="1143000" cy="274320"/>
          </a:xfrm>
          <a:prstGeom prst="roundRect">
            <a:avLst/>
          </a:prstGeom>
          <a:solidFill>
            <a:srgbClr val="C9F36A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Text 16"/>
          <p:cNvSpPr txBox="1"/>
          <p:nvPr/>
        </p:nvSpPr>
        <p:spPr>
          <a:xfrm>
            <a:off x="896112" y="5321808"/>
            <a:ext cx="1033271" cy="164592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op"/>
          <a:lstStyle/>
          <a:p algn="c">
            <a:pPr algn="c" lvl="0"/>
            <a:r>
              <a:rPr lang="zh-CN" sz="900" b="1" typeface="Microsoft YaHei">
                <a:solidFill>
                  <a:srgbClr val="0C1830"/>
                </a:solidFill>
                <a:latin typeface="Microsoft YaHei"/>
                <a:ea typeface="Microsoft YaHei"/>
              </a:rPr>
              <a:t>真实平台界面</a:t>
            </a:r>
            <a:endParaRPr lang="zh-CN" sz="9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83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 3"/>
          <p:cNvSpPr/>
          <p:nvPr/>
        </p:nvSpPr>
        <p:spPr>
          <a:xfrm>
            <a:off x="8961120" y="-640080"/>
            <a:ext cx="3931920" cy="3931920"/>
          </a:xfrm>
          <a:prstGeom prst="rect">
            <a:avLst/>
          </a:prstGeom>
          <a:solidFill>
            <a:srgbClr val="16B8AE">
              <a:alpha val="16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Shape 4"/>
          <p:cNvSpPr/>
          <p:nvPr/>
        </p:nvSpPr>
        <p:spPr>
          <a:xfrm>
            <a:off x="-1005840" y="4754880"/>
            <a:ext cx="2743200" cy="2743200"/>
          </a:xfrm>
          <a:prstGeom prst="rect">
            <a:avLst/>
          </a:prstGeom>
          <a:solidFill>
            <a:srgbClr val="4E7CF4">
              <a:alpha val="20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Text 5"/>
          <p:cNvSpPr txBox="1"/>
          <p:nvPr/>
        </p:nvSpPr>
        <p:spPr>
          <a:xfrm>
            <a:off x="594360" y="320040"/>
            <a:ext cx="6858000" cy="27432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op"/>
          <a:lstStyle/>
          <a:p algn="l">
            <a:pPr algn="l" lvl="0"/>
            <a:r>
              <a:rPr lang="zh-CN" sz="1100" b="1" typeface="Microsoft YaHei">
                <a:solidFill>
                  <a:srgbClr val="FFFFFF"/>
                </a:solidFill>
                <a:latin typeface="Microsoft YaHei"/>
                <a:ea typeface="Microsoft YaHei"/>
              </a:rPr>
              <a:t>第二章</a:t>
            </a:r>
            <a:endParaRPr lang="zh-CN" sz="1100"/>
          </a:p>
        </p:txBody>
      </p:sp>
      <p:sp>
        <p:nvSpPr>
          <p:cNvPr id="6" name="Text 6"/>
          <p:cNvSpPr txBox="1"/>
          <p:nvPr/>
        </p:nvSpPr>
        <p:spPr>
          <a:xfrm>
            <a:off x="594360" y="658368"/>
            <a:ext cx="10515600" cy="59436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op"/>
          <a:lstStyle/>
          <a:p algn="l">
            <a:pPr algn="l" lvl="0"/>
            <a:r>
              <a:rPr lang="zh-CN" sz="2500" b="1" typeface="Microsoft YaHei">
                <a:solidFill>
                  <a:srgbClr val="FFFFFF"/>
                </a:solidFill>
                <a:latin typeface="Microsoft YaHei"/>
                <a:ea typeface="Microsoft YaHei"/>
              </a:rPr>
              <a:t>方案总览</a:t>
            </a:r>
            <a:endParaRPr lang="zh-CN" sz="2500"/>
          </a:p>
        </p:txBody>
      </p:sp>
      <p:sp>
        <p:nvSpPr>
          <p:cNvPr id="7" name="Text 7"/>
          <p:cNvSpPr txBox="1"/>
          <p:nvPr/>
        </p:nvSpPr>
        <p:spPr>
          <a:xfrm>
            <a:off x="11064240" y="6291072"/>
            <a:ext cx="502920" cy="256032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op"/>
          <a:lstStyle/>
          <a:p algn="r">
            <a:pPr algn="r" lvl="0"/>
            <a:r>
              <a:rPr lang="zh-CN" sz="900" b="1" typeface="Microsoft YaHei">
                <a:solidFill>
                  <a:srgbClr val="B4C0D0"/>
                </a:solidFill>
                <a:latin typeface="Microsoft YaHei"/>
                <a:ea typeface="Microsoft YaHei"/>
              </a:rPr>
              <a:t>06</a:t>
            </a:r>
            <a:endParaRPr lang="zh-CN" sz="900"/>
          </a:p>
        </p:txBody>
      </p:sp>
      <p:sp>
        <p:nvSpPr>
          <p:cNvPr id="8" name="Text 8"/>
          <p:cNvSpPr txBox="1"/>
          <p:nvPr/>
        </p:nvSpPr>
        <p:spPr>
          <a:xfrm>
            <a:off x="640080" y="141732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op"/>
          <a:lstStyle/>
          <a:p algn="l">
            <a:pPr algn="l" lvl="0"/>
            <a:r>
              <a:rPr lang="zh-CN" sz="1600" b="0" typeface="Microsoft YaHei">
                <a:solidFill>
                  <a:srgbClr val="D7E5F5"/>
                </a:solidFill>
                <a:latin typeface="Microsoft YaHei"/>
                <a:ea typeface="Microsoft YaHei"/>
              </a:rPr>
              <a:t>BioOps 将项目协作抽象为一个可编排、可审计、可复用的业务闭环。</a:t>
            </a:r>
            <a:endParaRPr lang="zh-CN" sz="1600"/>
          </a:p>
        </p:txBody>
      </p:sp>
      <p:sp>
        <p:nvSpPr>
          <p:cNvPr id="9" name="Shape 9"/>
          <p:cNvSpPr/>
          <p:nvPr/>
        </p:nvSpPr>
        <p:spPr>
          <a:xfrm>
            <a:off x="502920" y="2880360"/>
            <a:ext cx="1234440" cy="1051560"/>
          </a:xfrm>
          <a:prstGeom prst="roundRect">
            <a:avLst/>
          </a:prstGeom>
          <a:solidFill>
            <a:srgbClr val="173355"/>
          </a:solidFill>
          <a:ln w="12700">
            <a:solidFill>
              <a:srgbClr val="315477"/>
            </a:solidFill>
          </a:ln>
        </p:spPr>
        <p:txBody>
          <a:bodyPr/>
          <a:lstStyle/>
          <a:p/>
        </p:txBody>
      </p:sp>
      <p:sp>
        <p:nvSpPr>
          <p:cNvPr id="10" name="Text 10"/>
          <p:cNvSpPr txBox="1"/>
          <p:nvPr/>
        </p:nvSpPr>
        <p:spPr>
          <a:xfrm>
            <a:off x="576072" y="3154680"/>
            <a:ext cx="1088136" cy="210312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op"/>
          <a:lstStyle/>
          <a:p algn="c">
            <a:pPr algn="c" lvl="0"/>
            <a:r>
              <a:rPr lang="zh-CN" sz="1100" b="1" typeface="Microsoft YaHei">
                <a:solidFill>
                  <a:srgbClr val="FFFFFF"/>
                </a:solidFill>
                <a:latin typeface="Microsoft YaHei"/>
                <a:ea typeface="Microsoft YaHei"/>
              </a:rPr>
              <a:t>需求</a:t>
            </a:r>
            <a:endParaRPr lang="zh-CN" sz="1100"/>
          </a:p>
        </p:txBody>
      </p:sp>
      <p:sp>
        <p:nvSpPr>
          <p:cNvPr id="11" name="Text 11"/>
          <p:cNvSpPr txBox="1"/>
          <p:nvPr/>
        </p:nvSpPr>
        <p:spPr>
          <a:xfrm>
            <a:off x="576072" y="3456432"/>
            <a:ext cx="1088136" cy="219456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op"/>
          <a:lstStyle/>
          <a:p algn="c">
            <a:pPr algn="c" lvl="0"/>
            <a:r>
              <a:rPr lang="zh-CN" sz="840" b="0" typeface="Microsoft YaHei">
                <a:solidFill>
                  <a:srgbClr val="B9CBE0"/>
                </a:solidFill>
                <a:latin typeface="Microsoft YaHei"/>
                <a:ea typeface="Microsoft YaHei"/>
              </a:rPr>
              <a:t>研究问题与数据引用</a:t>
            </a:r>
            <a:endParaRPr lang="zh-CN" sz="840"/>
          </a:p>
        </p:txBody>
      </p:sp>
      <p:sp>
        <p:nvSpPr>
          <p:cNvPr id="12" name="Text 12"/>
          <p:cNvSpPr txBox="1"/>
          <p:nvPr/>
        </p:nvSpPr>
        <p:spPr>
          <a:xfrm>
            <a:off x="1783080" y="3246120"/>
            <a:ext cx="274320" cy="219456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op"/>
          <a:lstStyle/>
          <a:p algn="c">
            <a:pPr algn="c" lvl="0"/>
            <a:r>
              <a:rPr lang="zh-CN" sz="1400" b="1" typeface="Microsoft YaHei">
                <a:solidFill>
                  <a:srgbClr val="37D4D8"/>
                </a:solidFill>
                <a:latin typeface="Microsoft YaHei"/>
                <a:ea typeface="Microsoft YaHei"/>
              </a:rPr>
              <a:t>→</a:t>
            </a:r>
            <a:endParaRPr lang="zh-CN" sz="1400"/>
          </a:p>
        </p:txBody>
      </p:sp>
      <p:sp>
        <p:nvSpPr>
          <p:cNvPr id="13" name="Shape 13"/>
          <p:cNvSpPr/>
          <p:nvPr/>
        </p:nvSpPr>
        <p:spPr>
          <a:xfrm>
            <a:off x="2130552" y="2880360"/>
            <a:ext cx="1234440" cy="1051560"/>
          </a:xfrm>
          <a:prstGeom prst="roundRect">
            <a:avLst/>
          </a:prstGeom>
          <a:solidFill>
            <a:srgbClr val="173355"/>
          </a:solidFill>
          <a:ln w="12700">
            <a:solidFill>
              <a:srgbClr val="16B8AE"/>
            </a:solidFill>
          </a:ln>
        </p:spPr>
        <p:txBody>
          <a:bodyPr/>
          <a:lstStyle/>
          <a:p/>
        </p:txBody>
      </p:sp>
      <p:sp>
        <p:nvSpPr>
          <p:cNvPr id="14" name="Text 14"/>
          <p:cNvSpPr txBox="1"/>
          <p:nvPr/>
        </p:nvSpPr>
        <p:spPr>
          <a:xfrm>
            <a:off x="2203704" y="3154680"/>
            <a:ext cx="1088136" cy="210312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op"/>
          <a:lstStyle/>
          <a:p algn="c">
            <a:pPr algn="c" lvl="0"/>
            <a:r>
              <a:rPr lang="zh-CN" sz="1100" b="1" typeface="Microsoft YaHei">
                <a:solidFill>
                  <a:srgbClr val="FFFFFF"/>
                </a:solidFill>
                <a:latin typeface="Microsoft YaHei"/>
                <a:ea typeface="Microsoft YaHei"/>
              </a:rPr>
              <a:t>Case</a:t>
            </a:r>
            <a:endParaRPr lang="zh-CN" sz="1100"/>
          </a:p>
        </p:txBody>
      </p:sp>
      <p:sp>
        <p:nvSpPr>
          <p:cNvPr id="15" name="Text 15"/>
          <p:cNvSpPr txBox="1"/>
          <p:nvPr/>
        </p:nvSpPr>
        <p:spPr>
          <a:xfrm>
            <a:off x="2203704" y="3456432"/>
            <a:ext cx="1088136" cy="219456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op"/>
          <a:lstStyle/>
          <a:p algn="c">
            <a:pPr algn="c" lvl="0"/>
            <a:r>
              <a:rPr lang="zh-CN" sz="840" b="0" typeface="Microsoft YaHei">
                <a:solidFill>
                  <a:srgbClr val="B9CBE0"/>
                </a:solidFill>
                <a:latin typeface="Microsoft YaHei"/>
                <a:ea typeface="Microsoft YaHei"/>
              </a:rPr>
              <a:t>责任边界与目标</a:t>
            </a:r>
            <a:endParaRPr lang="zh-CN" sz="840"/>
          </a:p>
        </p:txBody>
      </p:sp>
      <p:sp>
        <p:nvSpPr>
          <p:cNvPr id="16" name="Text 16"/>
          <p:cNvSpPr txBox="1"/>
          <p:nvPr/>
        </p:nvSpPr>
        <p:spPr>
          <a:xfrm>
            <a:off x="3410712" y="3246120"/>
            <a:ext cx="274320" cy="219456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op"/>
          <a:lstStyle/>
          <a:p algn="c">
            <a:pPr algn="c" lvl="0"/>
            <a:r>
              <a:rPr lang="zh-CN" sz="1400" b="1" typeface="Microsoft YaHei">
                <a:solidFill>
                  <a:srgbClr val="37D4D8"/>
                </a:solidFill>
                <a:latin typeface="Microsoft YaHei"/>
                <a:ea typeface="Microsoft YaHei"/>
              </a:rPr>
              <a:t>→</a:t>
            </a:r>
            <a:endParaRPr lang="zh-CN" sz="1400"/>
          </a:p>
        </p:txBody>
      </p:sp>
      <p:sp>
        <p:nvSpPr>
          <p:cNvPr id="17" name="Shape 17"/>
          <p:cNvSpPr/>
          <p:nvPr/>
        </p:nvSpPr>
        <p:spPr>
          <a:xfrm>
            <a:off x="3758184" y="2880360"/>
            <a:ext cx="1234440" cy="1051560"/>
          </a:xfrm>
          <a:prstGeom prst="roundRect">
            <a:avLst/>
          </a:prstGeom>
          <a:solidFill>
            <a:srgbClr val="173355"/>
          </a:solidFill>
          <a:ln w="12700">
            <a:solidFill>
              <a:srgbClr val="315477"/>
            </a:solidFill>
          </a:ln>
        </p:spPr>
        <p:txBody>
          <a:bodyPr/>
          <a:lstStyle/>
          <a:p/>
        </p:txBody>
      </p:sp>
      <p:sp>
        <p:nvSpPr>
          <p:cNvPr id="18" name="Text 18"/>
          <p:cNvSpPr txBox="1"/>
          <p:nvPr/>
        </p:nvSpPr>
        <p:spPr>
          <a:xfrm>
            <a:off x="3831336" y="3154680"/>
            <a:ext cx="1088136" cy="210312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op"/>
          <a:lstStyle/>
          <a:p algn="c">
            <a:pPr algn="c" lvl="0"/>
            <a:r>
              <a:rPr lang="zh-CN" sz="1100" b="1" typeface="Microsoft YaHei">
                <a:solidFill>
                  <a:srgbClr val="FFFFFF"/>
                </a:solidFill>
                <a:latin typeface="Microsoft YaHei"/>
                <a:ea typeface="Microsoft YaHei"/>
              </a:rPr>
              <a:t>Work Item</a:t>
            </a:r>
            <a:endParaRPr lang="zh-CN" sz="1100"/>
          </a:p>
        </p:txBody>
      </p:sp>
      <p:sp>
        <p:nvSpPr>
          <p:cNvPr id="19" name="Text 19"/>
          <p:cNvSpPr txBox="1"/>
          <p:nvPr/>
        </p:nvSpPr>
        <p:spPr>
          <a:xfrm>
            <a:off x="3831336" y="3456432"/>
            <a:ext cx="1088136" cy="219456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op"/>
          <a:lstStyle/>
          <a:p algn="c">
            <a:pPr algn="c" lvl="0"/>
            <a:r>
              <a:rPr lang="zh-CN" sz="840" b="0" typeface="Microsoft YaHei">
                <a:solidFill>
                  <a:srgbClr val="B9CBE0"/>
                </a:solidFill>
                <a:latin typeface="Microsoft YaHei"/>
                <a:ea typeface="Microsoft YaHei"/>
              </a:rPr>
              <a:t>结构化分工与依赖</a:t>
            </a:r>
            <a:endParaRPr lang="zh-CN" sz="840"/>
          </a:p>
        </p:txBody>
      </p:sp>
      <p:sp>
        <p:nvSpPr>
          <p:cNvPr id="20" name="Text 20"/>
          <p:cNvSpPr txBox="1"/>
          <p:nvPr/>
        </p:nvSpPr>
        <p:spPr>
          <a:xfrm>
            <a:off x="5038344" y="3246120"/>
            <a:ext cx="274320" cy="219456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op"/>
          <a:lstStyle/>
          <a:p algn="c">
            <a:pPr algn="c" lvl="0"/>
            <a:r>
              <a:rPr lang="zh-CN" sz="1400" b="1" typeface="Microsoft YaHei">
                <a:solidFill>
                  <a:srgbClr val="37D4D8"/>
                </a:solidFill>
                <a:latin typeface="Microsoft YaHei"/>
                <a:ea typeface="Microsoft YaHei"/>
              </a:rPr>
              <a:t>→</a:t>
            </a:r>
            <a:endParaRPr lang="zh-CN" sz="1400"/>
          </a:p>
        </p:txBody>
      </p:sp>
      <p:sp>
        <p:nvSpPr>
          <p:cNvPr id="21" name="Shape 21"/>
          <p:cNvSpPr/>
          <p:nvPr/>
        </p:nvSpPr>
        <p:spPr>
          <a:xfrm>
            <a:off x="5385816" y="2880360"/>
            <a:ext cx="1234440" cy="1051560"/>
          </a:xfrm>
          <a:prstGeom prst="roundRect">
            <a:avLst/>
          </a:prstGeom>
          <a:solidFill>
            <a:srgbClr val="173355"/>
          </a:solidFill>
          <a:ln w="12700">
            <a:solidFill>
              <a:srgbClr val="16B8AE"/>
            </a:solidFill>
          </a:ln>
        </p:spPr>
        <p:txBody>
          <a:bodyPr/>
          <a:lstStyle/>
          <a:p/>
        </p:txBody>
      </p:sp>
      <p:sp>
        <p:nvSpPr>
          <p:cNvPr id="22" name="Text 22"/>
          <p:cNvSpPr txBox="1"/>
          <p:nvPr/>
        </p:nvSpPr>
        <p:spPr>
          <a:xfrm>
            <a:off x="5458968" y="3154680"/>
            <a:ext cx="1088136" cy="210312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op"/>
          <a:lstStyle/>
          <a:p algn="c">
            <a:pPr algn="c" lvl="0"/>
            <a:r>
              <a:rPr lang="zh-CN" sz="1100" b="1" typeface="Microsoft YaHei">
                <a:solidFill>
                  <a:srgbClr val="FFFFFF"/>
                </a:solidFill>
                <a:latin typeface="Microsoft YaHei"/>
                <a:ea typeface="Microsoft YaHei"/>
              </a:rPr>
              <a:t>Skill</a:t>
            </a:r>
            <a:endParaRPr lang="zh-CN" sz="1100"/>
          </a:p>
        </p:txBody>
      </p:sp>
      <p:sp>
        <p:nvSpPr>
          <p:cNvPr id="23" name="Text 23"/>
          <p:cNvSpPr txBox="1"/>
          <p:nvPr/>
        </p:nvSpPr>
        <p:spPr>
          <a:xfrm>
            <a:off x="5458968" y="3456432"/>
            <a:ext cx="1088136" cy="219456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op"/>
          <a:lstStyle/>
          <a:p algn="c">
            <a:pPr algn="c" lvl="0"/>
            <a:r>
              <a:rPr lang="zh-CN" sz="840" b="0" typeface="Microsoft YaHei">
                <a:solidFill>
                  <a:srgbClr val="B9CBE0"/>
                </a:solidFill>
                <a:latin typeface="Microsoft YaHei"/>
                <a:ea typeface="Microsoft YaHei"/>
              </a:rPr>
              <a:t>受控工具调用</a:t>
            </a:r>
            <a:endParaRPr lang="zh-CN" sz="840"/>
          </a:p>
        </p:txBody>
      </p:sp>
      <p:sp>
        <p:nvSpPr>
          <p:cNvPr id="24" name="Text 24"/>
          <p:cNvSpPr txBox="1"/>
          <p:nvPr/>
        </p:nvSpPr>
        <p:spPr>
          <a:xfrm>
            <a:off x="6665975" y="3246120"/>
            <a:ext cx="274320" cy="219456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op"/>
          <a:lstStyle/>
          <a:p algn="c">
            <a:pPr algn="c" lvl="0"/>
            <a:r>
              <a:rPr lang="zh-CN" sz="1400" b="1" typeface="Microsoft YaHei">
                <a:solidFill>
                  <a:srgbClr val="37D4D8"/>
                </a:solidFill>
                <a:latin typeface="Microsoft YaHei"/>
                <a:ea typeface="Microsoft YaHei"/>
              </a:rPr>
              <a:t>→</a:t>
            </a:r>
            <a:endParaRPr lang="zh-CN" sz="1400"/>
          </a:p>
        </p:txBody>
      </p:sp>
      <p:sp>
        <p:nvSpPr>
          <p:cNvPr id="25" name="Shape 25"/>
          <p:cNvSpPr/>
          <p:nvPr/>
        </p:nvSpPr>
        <p:spPr>
          <a:xfrm>
            <a:off x="7013448" y="2880360"/>
            <a:ext cx="1234440" cy="1051560"/>
          </a:xfrm>
          <a:prstGeom prst="roundRect">
            <a:avLst/>
          </a:prstGeom>
          <a:solidFill>
            <a:srgbClr val="173355"/>
          </a:solidFill>
          <a:ln w="12700">
            <a:solidFill>
              <a:srgbClr val="315477"/>
            </a:solidFill>
          </a:ln>
        </p:spPr>
        <p:txBody>
          <a:bodyPr/>
          <a:lstStyle/>
          <a:p/>
        </p:txBody>
      </p:sp>
      <p:sp>
        <p:nvSpPr>
          <p:cNvPr id="26" name="Text 26"/>
          <p:cNvSpPr txBox="1"/>
          <p:nvPr/>
        </p:nvSpPr>
        <p:spPr>
          <a:xfrm>
            <a:off x="7086600" y="3154680"/>
            <a:ext cx="1088136" cy="210312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op"/>
          <a:lstStyle/>
          <a:p algn="c">
            <a:pPr algn="c" lvl="0"/>
            <a:r>
              <a:rPr lang="zh-CN" sz="1100" b="1" typeface="Microsoft YaHei">
                <a:solidFill>
                  <a:srgbClr val="FFFFFF"/>
                </a:solidFill>
                <a:latin typeface="Microsoft YaHei"/>
                <a:ea typeface="Microsoft YaHei"/>
              </a:rPr>
              <a:t>Artifact</a:t>
            </a:r>
            <a:endParaRPr lang="zh-CN" sz="1100"/>
          </a:p>
        </p:txBody>
      </p:sp>
      <p:sp>
        <p:nvSpPr>
          <p:cNvPr id="27" name="Text 27"/>
          <p:cNvSpPr txBox="1"/>
          <p:nvPr/>
        </p:nvSpPr>
        <p:spPr>
          <a:xfrm>
            <a:off x="7086600" y="3456432"/>
            <a:ext cx="1088136" cy="219456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op"/>
          <a:lstStyle/>
          <a:p algn="c">
            <a:pPr algn="c" lvl="0"/>
            <a:r>
              <a:rPr lang="zh-CN" sz="840" b="0" typeface="Microsoft YaHei">
                <a:solidFill>
                  <a:srgbClr val="B9CBE0"/>
                </a:solidFill>
                <a:latin typeface="Microsoft YaHei"/>
                <a:ea typeface="Microsoft YaHei"/>
              </a:rPr>
              <a:t>逻辑产物与校验</a:t>
            </a:r>
            <a:endParaRPr lang="zh-CN" sz="840"/>
          </a:p>
        </p:txBody>
      </p:sp>
      <p:sp>
        <p:nvSpPr>
          <p:cNvPr id="28" name="Text 28"/>
          <p:cNvSpPr txBox="1"/>
          <p:nvPr/>
        </p:nvSpPr>
        <p:spPr>
          <a:xfrm>
            <a:off x="8293608" y="3246120"/>
            <a:ext cx="274320" cy="219456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op"/>
          <a:lstStyle/>
          <a:p algn="c">
            <a:pPr algn="c" lvl="0"/>
            <a:r>
              <a:rPr lang="zh-CN" sz="1400" b="1" typeface="Microsoft YaHei">
                <a:solidFill>
                  <a:srgbClr val="37D4D8"/>
                </a:solidFill>
                <a:latin typeface="Microsoft YaHei"/>
                <a:ea typeface="Microsoft YaHei"/>
              </a:rPr>
              <a:t>→</a:t>
            </a:r>
            <a:endParaRPr lang="zh-CN" sz="1400"/>
          </a:p>
        </p:txBody>
      </p:sp>
      <p:sp>
        <p:nvSpPr>
          <p:cNvPr id="29" name="Shape 29"/>
          <p:cNvSpPr/>
          <p:nvPr/>
        </p:nvSpPr>
        <p:spPr>
          <a:xfrm>
            <a:off x="8641080" y="2880360"/>
            <a:ext cx="1234440" cy="1051560"/>
          </a:xfrm>
          <a:prstGeom prst="roundRect">
            <a:avLst/>
          </a:prstGeom>
          <a:solidFill>
            <a:srgbClr val="173355"/>
          </a:solidFill>
          <a:ln w="12700">
            <a:solidFill>
              <a:srgbClr val="16B8AE"/>
            </a:solidFill>
          </a:ln>
        </p:spPr>
        <p:txBody>
          <a:bodyPr/>
          <a:lstStyle/>
          <a:p/>
        </p:txBody>
      </p:sp>
      <p:sp>
        <p:nvSpPr>
          <p:cNvPr id="30" name="Text 30"/>
          <p:cNvSpPr txBox="1"/>
          <p:nvPr/>
        </p:nvSpPr>
        <p:spPr>
          <a:xfrm>
            <a:off x="8714232" y="3154680"/>
            <a:ext cx="1088136" cy="210312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op"/>
          <a:lstStyle/>
          <a:p algn="c">
            <a:pPr algn="c" lvl="0"/>
            <a:r>
              <a:rPr lang="zh-CN" sz="1100" b="1" typeface="Microsoft YaHei">
                <a:solidFill>
                  <a:srgbClr val="FFFFFF"/>
                </a:solidFill>
                <a:latin typeface="Microsoft YaHei"/>
                <a:ea typeface="Microsoft YaHei"/>
              </a:rPr>
              <a:t>Evidence</a:t>
            </a:r>
            <a:endParaRPr lang="zh-CN" sz="1100"/>
          </a:p>
        </p:txBody>
      </p:sp>
      <p:sp>
        <p:nvSpPr>
          <p:cNvPr id="31" name="Text 31"/>
          <p:cNvSpPr txBox="1"/>
          <p:nvPr/>
        </p:nvSpPr>
        <p:spPr>
          <a:xfrm>
            <a:off x="8714232" y="3456432"/>
            <a:ext cx="1088136" cy="219456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op"/>
          <a:lstStyle/>
          <a:p algn="c">
            <a:pPr algn="c" lvl="0"/>
            <a:r>
              <a:rPr lang="zh-CN" sz="840" b="0" typeface="Microsoft YaHei">
                <a:solidFill>
                  <a:srgbClr val="B9CBE0"/>
                </a:solidFill>
                <a:latin typeface="Microsoft YaHei"/>
                <a:ea typeface="Microsoft YaHei"/>
              </a:rPr>
              <a:t>审计事件与质量决策</a:t>
            </a:r>
            <a:endParaRPr lang="zh-CN" sz="840"/>
          </a:p>
        </p:txBody>
      </p:sp>
      <p:sp>
        <p:nvSpPr>
          <p:cNvPr id="32" name="Text 32"/>
          <p:cNvSpPr txBox="1"/>
          <p:nvPr/>
        </p:nvSpPr>
        <p:spPr>
          <a:xfrm>
            <a:off x="9921240" y="3246120"/>
            <a:ext cx="274320" cy="219456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op"/>
          <a:lstStyle/>
          <a:p algn="c">
            <a:pPr algn="c" lvl="0"/>
            <a:r>
              <a:rPr lang="zh-CN" sz="1400" b="1" typeface="Microsoft YaHei">
                <a:solidFill>
                  <a:srgbClr val="37D4D8"/>
                </a:solidFill>
                <a:latin typeface="Microsoft YaHei"/>
                <a:ea typeface="Microsoft YaHei"/>
              </a:rPr>
              <a:t>→</a:t>
            </a:r>
            <a:endParaRPr lang="zh-CN" sz="1400"/>
          </a:p>
        </p:txBody>
      </p:sp>
      <p:sp>
        <p:nvSpPr>
          <p:cNvPr id="33" name="Shape 33"/>
          <p:cNvSpPr/>
          <p:nvPr/>
        </p:nvSpPr>
        <p:spPr>
          <a:xfrm>
            <a:off x="10268712" y="2880360"/>
            <a:ext cx="1234440" cy="1051560"/>
          </a:xfrm>
          <a:prstGeom prst="roundRect">
            <a:avLst/>
          </a:prstGeom>
          <a:solidFill>
            <a:srgbClr val="173355"/>
          </a:solidFill>
          <a:ln w="12700">
            <a:solidFill>
              <a:srgbClr val="315477"/>
            </a:solidFill>
          </a:ln>
        </p:spPr>
        <p:txBody>
          <a:bodyPr/>
          <a:lstStyle/>
          <a:p/>
        </p:txBody>
      </p:sp>
      <p:sp>
        <p:nvSpPr>
          <p:cNvPr id="34" name="Text 34"/>
          <p:cNvSpPr txBox="1"/>
          <p:nvPr/>
        </p:nvSpPr>
        <p:spPr>
          <a:xfrm>
            <a:off x="10341864" y="3154680"/>
            <a:ext cx="1088136" cy="210312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op"/>
          <a:lstStyle/>
          <a:p algn="c">
            <a:pPr algn="c" lvl="0"/>
            <a:r>
              <a:rPr lang="zh-CN" sz="1100" b="1" typeface="Microsoft YaHei">
                <a:solidFill>
                  <a:srgbClr val="FFFFFF"/>
                </a:solidFill>
                <a:latin typeface="Microsoft YaHei"/>
                <a:ea typeface="Microsoft YaHei"/>
              </a:rPr>
              <a:t>Manifest</a:t>
            </a:r>
            <a:endParaRPr lang="zh-CN" sz="1100"/>
          </a:p>
        </p:txBody>
      </p:sp>
      <p:sp>
        <p:nvSpPr>
          <p:cNvPr id="35" name="Text 35"/>
          <p:cNvSpPr txBox="1"/>
          <p:nvPr/>
        </p:nvSpPr>
        <p:spPr>
          <a:xfrm>
            <a:off x="10341864" y="3456432"/>
            <a:ext cx="1088136" cy="219456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op"/>
          <a:lstStyle/>
          <a:p algn="c">
            <a:pPr algn="c" lvl="0"/>
            <a:r>
              <a:rPr lang="zh-CN" sz="840" b="0" typeface="Microsoft YaHei">
                <a:solidFill>
                  <a:srgbClr val="B9CBE0"/>
                </a:solidFill>
                <a:latin typeface="Microsoft YaHei"/>
                <a:ea typeface="Microsoft YaHei"/>
              </a:rPr>
              <a:t>可信交付与复盘</a:t>
            </a:r>
            <a:endParaRPr lang="zh-CN" sz="840"/>
          </a:p>
        </p:txBody>
      </p:sp>
      <p:sp>
        <p:nvSpPr>
          <p:cNvPr id="36" name="Text 36"/>
          <p:cNvSpPr txBox="1"/>
          <p:nvPr/>
        </p:nvSpPr>
        <p:spPr>
          <a:xfrm>
            <a:off x="1005840" y="4892040"/>
            <a:ext cx="10149840" cy="329184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op"/>
          <a:lstStyle/>
          <a:p algn="c">
            <a:pPr algn="c" lvl="0"/>
            <a:r>
              <a:rPr lang="zh-CN" sz="1300" b="1" typeface="Microsoft YaHei">
                <a:solidFill>
                  <a:srgbClr val="C9F36A"/>
                </a:solidFill>
                <a:latin typeface="Microsoft YaHei"/>
                <a:ea typeface="Microsoft YaHei"/>
              </a:rPr>
              <a:t>只传递小型元数据、Artifact 引用与短摘要；原始 FASTQ、表达矩阵和长日志不进入 Agent 提示词。</a:t>
            </a:r>
            <a:endParaRPr lang="zh-CN" sz="13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ns2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 3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6B8AE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Shape 4"/>
          <p:cNvSpPr/>
          <p:nvPr/>
        </p:nvSpPr>
        <p:spPr>
          <a:xfrm>
            <a:off x="9692640" y="128016"/>
            <a:ext cx="2499055" cy="45720"/>
          </a:xfrm>
          <a:prstGeom prst="rect">
            <a:avLst/>
          </a:prstGeom>
          <a:solidFill>
            <a:srgbClr val="C9F36A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Text 5"/>
          <p:cNvSpPr txBox="1"/>
          <p:nvPr/>
        </p:nvSpPr>
        <p:spPr>
          <a:xfrm>
            <a:off x="594360" y="320040"/>
            <a:ext cx="6858000" cy="27432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op"/>
          <a:lstStyle/>
          <a:p algn="l">
            <a:pPr algn="l" lvl="0"/>
            <a:r>
              <a:rPr lang="zh-CN" sz="1100" b="1" typeface="Microsoft YaHei">
                <a:solidFill>
                  <a:srgbClr val="5E6E85"/>
                </a:solidFill>
                <a:latin typeface="Microsoft YaHei"/>
                <a:ea typeface="Microsoft YaHei"/>
              </a:rPr>
              <a:t>第二章 · 端到端主流程</a:t>
            </a:r>
            <a:endParaRPr lang="zh-CN" sz="1100"/>
          </a:p>
        </p:txBody>
      </p:sp>
      <p:sp>
        <p:nvSpPr>
          <p:cNvPr id="6" name="Text 6"/>
          <p:cNvSpPr txBox="1"/>
          <p:nvPr/>
        </p:nvSpPr>
        <p:spPr>
          <a:xfrm>
            <a:off x="594360" y="658368"/>
            <a:ext cx="10515600" cy="59436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op"/>
          <a:lstStyle/>
          <a:p algn="l">
            <a:pPr algn="l" lvl="0"/>
            <a:r>
              <a:rPr lang="zh-CN" sz="2500" b="1" typeface="Microsoft YaHei">
                <a:solidFill>
                  <a:srgbClr val="16253D"/>
                </a:solidFill>
                <a:latin typeface="Microsoft YaHei"/>
                <a:ea typeface="Microsoft YaHei"/>
              </a:rPr>
              <a:t>一次 RNA-seq 任务如何闭环</a:t>
            </a:r>
            <a:endParaRPr lang="zh-CN" sz="2500"/>
          </a:p>
        </p:txBody>
      </p:sp>
      <p:sp>
        <p:nvSpPr>
          <p:cNvPr id="7" name="Text 7"/>
          <p:cNvSpPr txBox="1"/>
          <p:nvPr/>
        </p:nvSpPr>
        <p:spPr>
          <a:xfrm>
            <a:off x="11064240" y="6291072"/>
            <a:ext cx="502920" cy="256032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op"/>
          <a:lstStyle/>
          <a:p algn="r">
            <a:pPr algn="r" lvl="0"/>
            <a:r>
              <a:rPr lang="zh-CN" sz="900" b="1" typeface="Microsoft YaHei">
                <a:solidFill>
                  <a:srgbClr val="5E6E85"/>
                </a:solidFill>
                <a:latin typeface="Microsoft YaHei"/>
                <a:ea typeface="Microsoft YaHei"/>
              </a:rPr>
              <a:t>07</a:t>
            </a:r>
            <a:endParaRPr lang="zh-CN" sz="900"/>
          </a:p>
        </p:txBody>
      </p:sp>
      <p:pic>
        <p:nvPicPr>
          <p:cNvPr id="8" name="Agent Workflow Progress"/>
          <p:cNvPicPr>
            <a:picLocks noChangeAspect="1"/>
          </p:cNvPicPr>
          <p:nvPr/>
        </p:nvPicPr>
        <p:blipFill>
          <a:blip ns2:embed="rId1"/>
          <a:stretch>
            <a:fillRect/>
          </a:stretch>
        </p:blipFill>
        <p:spPr>
          <a:xfrm>
            <a:off x="658368" y="1572768"/>
            <a:ext cx="7360920" cy="4572000"/>
          </a:xfrm>
          <a:prstGeom prst="roundRect">
            <a:avLst/>
          </a:prstGeom>
          <a:ln w="19050">
            <a:solidFill>
              <a:srgbClr val="D5E0ED"/>
            </a:solidFill>
          </a:ln>
        </p:spPr>
      </p:pic>
      <p:sp>
        <p:nvSpPr>
          <p:cNvPr id="9" name="Shape 9"/>
          <p:cNvSpPr/>
          <p:nvPr/>
        </p:nvSpPr>
        <p:spPr>
          <a:xfrm>
            <a:off x="8275320" y="1417320"/>
            <a:ext cx="324612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F1"/>
            </a:solidFill>
          </a:ln>
        </p:spPr>
        <p:txBody>
          <a:bodyPr/>
          <a:lstStyle/>
          <a:p/>
        </p:txBody>
      </p:sp>
      <p:sp>
        <p:nvSpPr>
          <p:cNvPr id="10" name="Shape 10"/>
          <p:cNvSpPr/>
          <p:nvPr/>
        </p:nvSpPr>
        <p:spPr>
          <a:xfrm>
            <a:off x="8275320" y="1417320"/>
            <a:ext cx="73152" cy="841248"/>
          </a:xfrm>
          <a:prstGeom prst="roundRect">
            <a:avLst/>
          </a:prstGeom>
          <a:solidFill>
            <a:srgbClr val="16B8AE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Text 11"/>
          <p:cNvSpPr txBox="1"/>
          <p:nvPr/>
        </p:nvSpPr>
        <p:spPr>
          <a:xfrm>
            <a:off x="8494776" y="1581912"/>
            <a:ext cx="2880360" cy="310896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op"/>
          <a:lstStyle/>
          <a:p algn="l">
            <a:pPr algn="l" lvl="0"/>
            <a:r>
              <a:rPr lang="zh-CN" sz="1400" b="1" typeface="Microsoft YaHei">
                <a:solidFill>
                  <a:srgbClr val="16253D"/>
                </a:solidFill>
                <a:latin typeface="Microsoft YaHei"/>
                <a:ea typeface="Microsoft YaHei"/>
              </a:rPr>
              <a:t>01 数据预检</a:t>
            </a:r>
            <a:endParaRPr lang="zh-CN" sz="1400"/>
          </a:p>
        </p:txBody>
      </p:sp>
      <p:sp>
        <p:nvSpPr>
          <p:cNvPr id="12" name="Text 12"/>
          <p:cNvSpPr txBox="1"/>
          <p:nvPr/>
        </p:nvSpPr>
        <p:spPr>
          <a:xfrm>
            <a:off x="8494776" y="1993392"/>
            <a:ext cx="2834639" cy="155448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op"/>
          <a:lstStyle/>
          <a:p algn="l">
            <a:pPr algn="l" lvl="0"/>
            <a:r>
              <a:rPr lang="zh-CN" sz="1019" b="0" typeface="Microsoft YaHei">
                <a:solidFill>
                  <a:srgbClr val="5E6E85"/>
                </a:solidFill>
                <a:latin typeface="Microsoft YaHei"/>
                <a:ea typeface="Microsoft YaHei"/>
              </a:rPr>
              <a:t>样本 / 分组 / 版本</a:t>
            </a:r>
            <a:endParaRPr lang="zh-CN" sz="1019"/>
          </a:p>
        </p:txBody>
      </p:sp>
      <p:sp>
        <p:nvSpPr>
          <p:cNvPr id="13" name="Shape 13"/>
          <p:cNvSpPr/>
          <p:nvPr/>
        </p:nvSpPr>
        <p:spPr>
          <a:xfrm>
            <a:off x="8275320" y="2496312"/>
            <a:ext cx="324612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F1"/>
            </a:solidFill>
          </a:ln>
        </p:spPr>
        <p:txBody>
          <a:bodyPr/>
          <a:lstStyle/>
          <a:p/>
        </p:txBody>
      </p:sp>
      <p:sp>
        <p:nvSpPr>
          <p:cNvPr id="14" name="Shape 14"/>
          <p:cNvSpPr/>
          <p:nvPr/>
        </p:nvSpPr>
        <p:spPr>
          <a:xfrm>
            <a:off x="8275320" y="2496312"/>
            <a:ext cx="73152" cy="841248"/>
          </a:xfrm>
          <a:prstGeom prst="roundRect">
            <a:avLst/>
          </a:prstGeom>
          <a:solidFill>
            <a:srgbClr val="4E7CF4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Text 15"/>
          <p:cNvSpPr txBox="1"/>
          <p:nvPr/>
        </p:nvSpPr>
        <p:spPr>
          <a:xfrm>
            <a:off x="8494776" y="2660904"/>
            <a:ext cx="2880360" cy="310896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op"/>
          <a:lstStyle/>
          <a:p algn="l">
            <a:pPr algn="l" lvl="0"/>
            <a:r>
              <a:rPr lang="zh-CN" sz="1400" b="1" typeface="Microsoft YaHei">
                <a:solidFill>
                  <a:srgbClr val="16253D"/>
                </a:solidFill>
                <a:latin typeface="Microsoft YaHei"/>
                <a:ea typeface="Microsoft YaHei"/>
              </a:rPr>
              <a:t>02 审批放行</a:t>
            </a:r>
            <a:endParaRPr lang="zh-CN" sz="1400"/>
          </a:p>
        </p:txBody>
      </p:sp>
      <p:sp>
        <p:nvSpPr>
          <p:cNvPr id="16" name="Text 16"/>
          <p:cNvSpPr txBox="1"/>
          <p:nvPr/>
        </p:nvSpPr>
        <p:spPr>
          <a:xfrm>
            <a:off x="8494776" y="3072384"/>
            <a:ext cx="2834639" cy="155448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op"/>
          <a:lstStyle/>
          <a:p algn="l">
            <a:pPr algn="l" lvl="0"/>
            <a:r>
              <a:rPr lang="zh-CN" sz="1019" b="0" typeface="Microsoft YaHei">
                <a:solidFill>
                  <a:srgbClr val="5E6E85"/>
                </a:solidFill>
                <a:latin typeface="Microsoft YaHei"/>
                <a:ea typeface="Microsoft YaHei"/>
              </a:rPr>
              <a:t>范围确认与授权</a:t>
            </a:r>
            <a:endParaRPr lang="zh-CN" sz="1019"/>
          </a:p>
        </p:txBody>
      </p:sp>
      <p:sp>
        <p:nvSpPr>
          <p:cNvPr id="17" name="Shape 17"/>
          <p:cNvSpPr/>
          <p:nvPr/>
        </p:nvSpPr>
        <p:spPr>
          <a:xfrm>
            <a:off x="8275320" y="3575304"/>
            <a:ext cx="324612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F1"/>
            </a:solidFill>
          </a:ln>
        </p:spPr>
        <p:txBody>
          <a:bodyPr/>
          <a:lstStyle/>
          <a:p/>
        </p:txBody>
      </p:sp>
      <p:sp>
        <p:nvSpPr>
          <p:cNvPr id="18" name="Shape 18"/>
          <p:cNvSpPr/>
          <p:nvPr/>
        </p:nvSpPr>
        <p:spPr>
          <a:xfrm>
            <a:off x="8275320" y="3575304"/>
            <a:ext cx="73152" cy="841248"/>
          </a:xfrm>
          <a:prstGeom prst="roundRect">
            <a:avLst/>
          </a:prstGeom>
          <a:solidFill>
            <a:srgbClr val="FFAA5B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Text 19"/>
          <p:cNvSpPr txBox="1"/>
          <p:nvPr/>
        </p:nvSpPr>
        <p:spPr>
          <a:xfrm>
            <a:off x="8494776" y="3739896"/>
            <a:ext cx="2880360" cy="310896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op"/>
          <a:lstStyle/>
          <a:p algn="l">
            <a:pPr algn="l" lvl="0"/>
            <a:r>
              <a:rPr lang="zh-CN" sz="1400" b="1" typeface="Microsoft YaHei">
                <a:solidFill>
                  <a:srgbClr val="16253D"/>
                </a:solidFill>
                <a:latin typeface="Microsoft YaHei"/>
                <a:ea typeface="Microsoft YaHei"/>
              </a:rPr>
              <a:t>03 受控执行</a:t>
            </a:r>
            <a:endParaRPr lang="zh-CN" sz="1400"/>
          </a:p>
        </p:txBody>
      </p:sp>
      <p:sp>
        <p:nvSpPr>
          <p:cNvPr id="20" name="Text 20"/>
          <p:cNvSpPr txBox="1"/>
          <p:nvPr/>
        </p:nvSpPr>
        <p:spPr>
          <a:xfrm>
            <a:off x="8494776" y="4151376"/>
            <a:ext cx="2834639" cy="155448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op"/>
          <a:lstStyle/>
          <a:p algn="l">
            <a:pPr algn="l" lvl="0"/>
            <a:r>
              <a:rPr lang="zh-CN" sz="1019" b="0" typeface="Microsoft YaHei">
                <a:solidFill>
                  <a:srgbClr val="5E6E85"/>
                </a:solidFill>
                <a:latin typeface="Microsoft YaHei"/>
                <a:ea typeface="Microsoft YaHei"/>
              </a:rPr>
              <a:t>提交 / 监控 / 重试</a:t>
            </a:r>
            <a:endParaRPr lang="zh-CN" sz="1019"/>
          </a:p>
        </p:txBody>
      </p:sp>
      <p:sp>
        <p:nvSpPr>
          <p:cNvPr id="21" name="Shape 21"/>
          <p:cNvSpPr/>
          <p:nvPr/>
        </p:nvSpPr>
        <p:spPr>
          <a:xfrm>
            <a:off x="8275320" y="4654296"/>
            <a:ext cx="324612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F1"/>
            </a:solidFill>
          </a:ln>
        </p:spPr>
        <p:txBody>
          <a:bodyPr/>
          <a:lstStyle/>
          <a:p/>
        </p:txBody>
      </p:sp>
      <p:sp>
        <p:nvSpPr>
          <p:cNvPr id="22" name="Shape 22"/>
          <p:cNvSpPr/>
          <p:nvPr/>
        </p:nvSpPr>
        <p:spPr>
          <a:xfrm>
            <a:off x="8275320" y="4654296"/>
            <a:ext cx="73152" cy="841248"/>
          </a:xfrm>
          <a:prstGeom prst="roundRect">
            <a:avLst/>
          </a:prstGeom>
          <a:solidFill>
            <a:srgbClr val="C9F36A"/>
          </a:solidFill>
          <a:ln>
            <a:noFill/>
          </a:ln>
        </p:spPr>
        <p:txBody>
          <a:bodyPr/>
          <a:lstStyle/>
          <a:p/>
        </p:txBody>
      </p:sp>
      <p:sp>
        <p:nvSpPr>
          <p:cNvPr id="23" name="Text 23"/>
          <p:cNvSpPr txBox="1"/>
          <p:nvPr/>
        </p:nvSpPr>
        <p:spPr>
          <a:xfrm>
            <a:off x="8494776" y="4818888"/>
            <a:ext cx="2880360" cy="310896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op"/>
          <a:lstStyle/>
          <a:p algn="l">
            <a:pPr algn="l" lvl="0"/>
            <a:r>
              <a:rPr lang="zh-CN" sz="1400" b="1" typeface="Microsoft YaHei">
                <a:solidFill>
                  <a:srgbClr val="16253D"/>
                </a:solidFill>
                <a:latin typeface="Microsoft YaHei"/>
                <a:ea typeface="Microsoft YaHei"/>
              </a:rPr>
              <a:t>04 质量与交付</a:t>
            </a:r>
            <a:endParaRPr lang="zh-CN" sz="1400"/>
          </a:p>
        </p:txBody>
      </p:sp>
      <p:sp>
        <p:nvSpPr>
          <p:cNvPr id="24" name="Text 24"/>
          <p:cNvSpPr txBox="1"/>
          <p:nvPr/>
        </p:nvSpPr>
        <p:spPr>
          <a:xfrm>
            <a:off x="8494776" y="5230368"/>
            <a:ext cx="2834639" cy="155448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op"/>
          <a:lstStyle/>
          <a:p algn="l">
            <a:pPr algn="l" lvl="0"/>
            <a:r>
              <a:rPr lang="zh-CN" sz="1019" b="0" typeface="Microsoft YaHei">
                <a:solidFill>
                  <a:srgbClr val="5E6E85"/>
                </a:solidFill>
                <a:latin typeface="Microsoft YaHei"/>
                <a:ea typeface="Microsoft YaHei"/>
              </a:rPr>
              <a:t>QC / Manifest / 复盘</a:t>
            </a:r>
            <a:endParaRPr lang="zh-CN" sz="1019"/>
          </a:p>
        </p:txBody>
      </p:sp>
      <p:sp>
        <p:nvSpPr>
          <p:cNvPr id="25" name="Text 25"/>
          <p:cNvSpPr txBox="1"/>
          <p:nvPr/>
        </p:nvSpPr>
        <p:spPr>
          <a:xfrm>
            <a:off x="777240" y="5925312"/>
            <a:ext cx="7040880" cy="201168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op"/>
          <a:lstStyle/>
          <a:p algn="c">
            <a:pPr algn="c" lvl="0"/>
            <a:r>
              <a:rPr lang="zh-CN" sz="1019" b="0" typeface="Microsoft YaHei">
                <a:solidFill>
                  <a:srgbClr val="5E6E85"/>
                </a:solidFill>
                <a:latin typeface="Microsoft YaHei"/>
                <a:ea typeface="Microsoft YaHei"/>
              </a:rPr>
              <a:t>图：平台内真实任务计划、工具调用与阶段状态展示</a:t>
            </a:r>
            <a:endParaRPr lang="zh-CN" sz="1019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83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 3"/>
          <p:cNvSpPr/>
          <p:nvPr/>
        </p:nvSpPr>
        <p:spPr>
          <a:xfrm>
            <a:off x="8961120" y="-640080"/>
            <a:ext cx="3931920" cy="3931920"/>
          </a:xfrm>
          <a:prstGeom prst="rect">
            <a:avLst/>
          </a:prstGeom>
          <a:solidFill>
            <a:srgbClr val="16B8AE">
              <a:alpha val="16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Shape 4"/>
          <p:cNvSpPr/>
          <p:nvPr/>
        </p:nvSpPr>
        <p:spPr>
          <a:xfrm>
            <a:off x="-1005840" y="4754880"/>
            <a:ext cx="2743200" cy="2743200"/>
          </a:xfrm>
          <a:prstGeom prst="rect">
            <a:avLst/>
          </a:prstGeom>
          <a:solidFill>
            <a:srgbClr val="4E7CF4">
              <a:alpha val="20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Text 5"/>
          <p:cNvSpPr txBox="1"/>
          <p:nvPr/>
        </p:nvSpPr>
        <p:spPr>
          <a:xfrm>
            <a:off x="594360" y="320040"/>
            <a:ext cx="6858000" cy="27432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op"/>
          <a:lstStyle/>
          <a:p algn="l">
            <a:pPr algn="l" lvl="0"/>
            <a:r>
              <a:rPr lang="zh-CN" sz="1100" b="1" typeface="Microsoft YaHei">
                <a:solidFill>
                  <a:srgbClr val="FFFFFF"/>
                </a:solidFill>
                <a:latin typeface="Microsoft YaHei"/>
                <a:ea typeface="Microsoft YaHei"/>
              </a:rPr>
              <a:t>第三章</a:t>
            </a:r>
            <a:endParaRPr lang="zh-CN" sz="1100"/>
          </a:p>
        </p:txBody>
      </p:sp>
      <p:sp>
        <p:nvSpPr>
          <p:cNvPr id="6" name="Text 6"/>
          <p:cNvSpPr txBox="1"/>
          <p:nvPr/>
        </p:nvSpPr>
        <p:spPr>
          <a:xfrm>
            <a:off x="594360" y="658368"/>
            <a:ext cx="10515600" cy="59436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op"/>
          <a:lstStyle/>
          <a:p algn="l">
            <a:pPr algn="l" lvl="0"/>
            <a:r>
              <a:rPr lang="zh-CN" sz="2500" b="1" typeface="Microsoft YaHei">
                <a:solidFill>
                  <a:srgbClr val="FFFFFF"/>
                </a:solidFill>
                <a:latin typeface="Microsoft YaHei"/>
                <a:ea typeface="Microsoft YaHei"/>
              </a:rPr>
              <a:t>多 Agent 协同设计</a:t>
            </a:r>
            <a:endParaRPr lang="zh-CN" sz="2500"/>
          </a:p>
        </p:txBody>
      </p:sp>
      <p:sp>
        <p:nvSpPr>
          <p:cNvPr id="7" name="Text 7"/>
          <p:cNvSpPr txBox="1"/>
          <p:nvPr/>
        </p:nvSpPr>
        <p:spPr>
          <a:xfrm>
            <a:off x="11064240" y="6291072"/>
            <a:ext cx="502920" cy="256032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op"/>
          <a:lstStyle/>
          <a:p algn="r">
            <a:pPr algn="r" lvl="0"/>
            <a:r>
              <a:rPr lang="zh-CN" sz="900" b="1" typeface="Microsoft YaHei">
                <a:solidFill>
                  <a:srgbClr val="B4C0D0"/>
                </a:solidFill>
                <a:latin typeface="Microsoft YaHei"/>
                <a:ea typeface="Microsoft YaHei"/>
              </a:rPr>
              <a:t>08</a:t>
            </a:r>
            <a:endParaRPr lang="zh-CN" sz="900"/>
          </a:p>
        </p:txBody>
      </p:sp>
      <p:sp>
        <p:nvSpPr>
          <p:cNvPr id="8" name="Text 8"/>
          <p:cNvSpPr txBox="1"/>
          <p:nvPr/>
        </p:nvSpPr>
        <p:spPr>
          <a:xfrm>
            <a:off x="640080" y="1417320"/>
            <a:ext cx="10332720" cy="329184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op"/>
          <a:lstStyle/>
          <a:p algn="l">
            <a:pPr algn="l" lvl="0"/>
            <a:r>
              <a:rPr lang="zh-CN" sz="1500" b="0" typeface="Microsoft YaHei">
                <a:solidFill>
                  <a:srgbClr val="D7E5F5"/>
                </a:solidFill>
                <a:latin typeface="Microsoft YaHei"/>
                <a:ea typeface="Microsoft YaHei"/>
              </a:rPr>
              <a:t>多 Agent 的目的不是“更多对话”，而是责任分离、独立质量判断和可审计责任链。</a:t>
            </a:r>
            <a:endParaRPr lang="zh-CN" sz="1500"/>
          </a:p>
        </p:txBody>
      </p:sp>
      <p:sp>
        <p:nvSpPr>
          <p:cNvPr id="9" name="Shape 9"/>
          <p:cNvSpPr/>
          <p:nvPr/>
        </p:nvSpPr>
        <p:spPr>
          <a:xfrm>
            <a:off x="502920" y="2194560"/>
            <a:ext cx="205740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F1"/>
            </a:solidFill>
          </a:ln>
        </p:spPr>
        <p:txBody>
          <a:bodyPr/>
          <a:lstStyle/>
          <a:p/>
        </p:txBody>
      </p:sp>
      <p:sp>
        <p:nvSpPr>
          <p:cNvPr id="10" name="Shape 10"/>
          <p:cNvSpPr/>
          <p:nvPr/>
        </p:nvSpPr>
        <p:spPr>
          <a:xfrm>
            <a:off x="502920" y="2194560"/>
            <a:ext cx="73152" cy="2194560"/>
          </a:xfrm>
          <a:prstGeom prst="roundRect">
            <a:avLst/>
          </a:prstGeom>
          <a:solidFill>
            <a:srgbClr val="4E7CF4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Text 11"/>
          <p:cNvSpPr txBox="1"/>
          <p:nvPr/>
        </p:nvSpPr>
        <p:spPr>
          <a:xfrm>
            <a:off x="722376" y="2359152"/>
            <a:ext cx="1691640" cy="310896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op"/>
          <a:lstStyle/>
          <a:p algn="l">
            <a:pPr algn="l" lvl="0"/>
            <a:r>
              <a:rPr lang="zh-CN" sz="1400" b="1" typeface="Microsoft YaHei">
                <a:solidFill>
                  <a:srgbClr val="16253D"/>
                </a:solidFill>
                <a:latin typeface="Microsoft YaHei"/>
                <a:ea typeface="Microsoft YaHei"/>
              </a:rPr>
              <a:t>BioOps Manager</a:t>
            </a:r>
            <a:endParaRPr lang="zh-CN" sz="1400"/>
          </a:p>
        </p:txBody>
      </p:sp>
      <p:sp>
        <p:nvSpPr>
          <p:cNvPr id="12" name="Text 12"/>
          <p:cNvSpPr txBox="1"/>
          <p:nvPr/>
        </p:nvSpPr>
        <p:spPr>
          <a:xfrm>
            <a:off x="722376" y="2770632"/>
            <a:ext cx="1645920" cy="150876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op"/>
          <a:lstStyle/>
          <a:p algn="l">
            <a:pPr algn="l" lvl="0"/>
            <a:r>
              <a:rPr lang="zh-CN" sz="1010" b="0" typeface="Microsoft YaHei">
                <a:solidFill>
                  <a:srgbClr val="5E6E85"/>
                </a:solidFill>
                <a:latin typeface="Microsoft YaHei"/>
                <a:ea typeface="Microsoft YaHei"/>
              </a:rPr>
              <a:t>agent-general</a:t>
            </a:r>
            <a:endParaRPr lang="zh-CN" sz="1010"/>
          </a:p>
          <a:p algn="l">
            <a:pPr algn="l" lvl="0"/>
            <a:r>
              <a:rPr lang="zh-CN" sz="1010" b="0" typeface="Microsoft YaHei">
                <a:solidFill>
                  <a:srgbClr val="5E6E85"/>
                </a:solidFill>
                <a:latin typeface="Microsoft YaHei"/>
                <a:ea typeface="Microsoft YaHei"/>
              </a:rPr>
              <a:t>建 Case、拆 Work Item、汇总风险</a:t>
            </a:r>
            <a:endParaRPr lang="zh-CN" sz="1010"/>
          </a:p>
          <a:p algn="l">
            <a:pPr algn="l" lvl="0"/>
            <a:r>
              <a:rPr lang="zh-CN" sz="1010" b="0" typeface="Microsoft YaHei">
                <a:solidFill>
                  <a:srgbClr val="5E6E85"/>
                </a:solidFill>
                <a:latin typeface="Microsoft YaHei"/>
                <a:ea typeface="Microsoft YaHei"/>
              </a:rPr>
              <a:t>禁止直接提交计算</a:t>
            </a:r>
            <a:endParaRPr lang="zh-CN" sz="1010"/>
          </a:p>
        </p:txBody>
      </p:sp>
      <p:sp>
        <p:nvSpPr>
          <p:cNvPr id="13" name="Shape 13"/>
          <p:cNvSpPr/>
          <p:nvPr/>
        </p:nvSpPr>
        <p:spPr>
          <a:xfrm>
            <a:off x="2743200" y="2194560"/>
            <a:ext cx="205740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F1"/>
            </a:solidFill>
          </a:ln>
        </p:spPr>
        <p:txBody>
          <a:bodyPr/>
          <a:lstStyle/>
          <a:p/>
        </p:txBody>
      </p:sp>
      <p:sp>
        <p:nvSpPr>
          <p:cNvPr id="14" name="Shape 14"/>
          <p:cNvSpPr/>
          <p:nvPr/>
        </p:nvSpPr>
        <p:spPr>
          <a:xfrm>
            <a:off x="2743200" y="2194560"/>
            <a:ext cx="73152" cy="2194560"/>
          </a:xfrm>
          <a:prstGeom prst="roundRect">
            <a:avLst/>
          </a:prstGeom>
          <a:solidFill>
            <a:srgbClr val="16B8AE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Text 15"/>
          <p:cNvSpPr txBox="1"/>
          <p:nvPr/>
        </p:nvSpPr>
        <p:spPr>
          <a:xfrm>
            <a:off x="2962656" y="2359152"/>
            <a:ext cx="1691640" cy="310896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op"/>
          <a:lstStyle/>
          <a:p algn="l">
            <a:pPr algn="l" lvl="0"/>
            <a:r>
              <a:rPr lang="zh-CN" sz="1400" b="1" typeface="Microsoft YaHei">
                <a:solidFill>
                  <a:srgbClr val="16253D"/>
                </a:solidFill>
                <a:latin typeface="Microsoft YaHei"/>
                <a:ea typeface="Microsoft YaHei"/>
              </a:rPr>
              <a:t>Data Steward</a:t>
            </a:r>
            <a:endParaRPr lang="zh-CN" sz="1400"/>
          </a:p>
        </p:txBody>
      </p:sp>
      <p:sp>
        <p:nvSpPr>
          <p:cNvPr id="16" name="Text 16"/>
          <p:cNvSpPr txBox="1"/>
          <p:nvPr/>
        </p:nvSpPr>
        <p:spPr>
          <a:xfrm>
            <a:off x="2962656" y="2770632"/>
            <a:ext cx="1645920" cy="150876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op"/>
          <a:lstStyle/>
          <a:p algn="l">
            <a:pPr algn="l" lvl="0"/>
            <a:r>
              <a:rPr lang="zh-CN" sz="1010" b="0" typeface="Microsoft YaHei">
                <a:solidFill>
                  <a:srgbClr val="5E6E85"/>
                </a:solidFill>
                <a:latin typeface="Microsoft YaHei"/>
                <a:ea typeface="Microsoft YaHei"/>
              </a:rPr>
              <a:t>agent-data</a:t>
            </a:r>
            <a:endParaRPr lang="zh-CN" sz="1010"/>
          </a:p>
          <a:p algn="l">
            <a:pPr algn="l" lvl="0"/>
            <a:r>
              <a:rPr lang="zh-CN" sz="1010" b="0" typeface="Microsoft YaHei">
                <a:solidFill>
                  <a:srgbClr val="5E6E85"/>
                </a:solidFill>
                <a:latin typeface="Microsoft YaHei"/>
                <a:ea typeface="Microsoft YaHei"/>
              </a:rPr>
              <a:t>预检样本、分组、物种与版本</a:t>
            </a:r>
            <a:endParaRPr lang="zh-CN" sz="1010"/>
          </a:p>
          <a:p algn="l">
            <a:pPr algn="l" lvl="0"/>
            <a:r>
              <a:rPr lang="zh-CN" sz="1010" b="0" typeface="Microsoft YaHei">
                <a:solidFill>
                  <a:srgbClr val="5E6E85"/>
                </a:solidFill>
                <a:latin typeface="Microsoft YaHei"/>
                <a:ea typeface="Microsoft YaHei"/>
              </a:rPr>
              <a:t>只读，不运行计算</a:t>
            </a:r>
            <a:endParaRPr lang="zh-CN" sz="1010"/>
          </a:p>
        </p:txBody>
      </p:sp>
      <p:sp>
        <p:nvSpPr>
          <p:cNvPr id="17" name="Shape 17"/>
          <p:cNvSpPr/>
          <p:nvPr/>
        </p:nvSpPr>
        <p:spPr>
          <a:xfrm>
            <a:off x="4983480" y="2194560"/>
            <a:ext cx="205740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F1"/>
            </a:solidFill>
          </a:ln>
        </p:spPr>
        <p:txBody>
          <a:bodyPr/>
          <a:lstStyle/>
          <a:p/>
        </p:txBody>
      </p:sp>
      <p:sp>
        <p:nvSpPr>
          <p:cNvPr id="18" name="Shape 18"/>
          <p:cNvSpPr/>
          <p:nvPr/>
        </p:nvSpPr>
        <p:spPr>
          <a:xfrm>
            <a:off x="4983480" y="2194560"/>
            <a:ext cx="73152" cy="2194560"/>
          </a:xfrm>
          <a:prstGeom prst="roundRect">
            <a:avLst/>
          </a:prstGeom>
          <a:solidFill>
            <a:srgbClr val="FFAA5B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Text 19"/>
          <p:cNvSpPr txBox="1"/>
          <p:nvPr/>
        </p:nvSpPr>
        <p:spPr>
          <a:xfrm>
            <a:off x="5202936" y="2359152"/>
            <a:ext cx="1691640" cy="310896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op"/>
          <a:lstStyle/>
          <a:p algn="l">
            <a:pPr algn="l" lvl="0"/>
            <a:r>
              <a:rPr lang="zh-CN" sz="1400" b="1" typeface="Microsoft YaHei">
                <a:solidFill>
                  <a:srgbClr val="16253D"/>
                </a:solidFill>
                <a:latin typeface="Microsoft YaHei"/>
                <a:ea typeface="Microsoft YaHei"/>
              </a:rPr>
              <a:t>Domain Executor</a:t>
            </a:r>
            <a:endParaRPr lang="zh-CN" sz="1400"/>
          </a:p>
        </p:txBody>
      </p:sp>
      <p:sp>
        <p:nvSpPr>
          <p:cNvPr id="20" name="Text 20"/>
          <p:cNvSpPr txBox="1"/>
          <p:nvPr/>
        </p:nvSpPr>
        <p:spPr>
          <a:xfrm>
            <a:off x="5202936" y="2770632"/>
            <a:ext cx="1645920" cy="150876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op"/>
          <a:lstStyle/>
          <a:p algn="l">
            <a:pPr algn="l" lvl="0"/>
            <a:r>
              <a:rPr lang="zh-CN" sz="1010" b="0" typeface="Microsoft YaHei">
                <a:solidFill>
                  <a:srgbClr val="5E6E85"/>
                </a:solidFill>
                <a:latin typeface="Microsoft YaHei"/>
                <a:ea typeface="Microsoft YaHei"/>
              </a:rPr>
              <a:t>agent-rnaseq / atacseq / scrna</a:t>
            </a:r>
            <a:endParaRPr lang="zh-CN" sz="1010"/>
          </a:p>
          <a:p algn="l">
            <a:pPr algn="l" lvl="0"/>
            <a:r>
              <a:rPr lang="zh-CN" sz="1010" b="0" typeface="Microsoft YaHei">
                <a:solidFill>
                  <a:srgbClr val="5E6E85"/>
                </a:solidFill>
                <a:latin typeface="Microsoft YaHei"/>
                <a:ea typeface="Microsoft YaHei"/>
              </a:rPr>
              <a:t>审批后提交与监控同模态流程</a:t>
            </a:r>
            <a:endParaRPr lang="zh-CN" sz="1010"/>
          </a:p>
        </p:txBody>
      </p:sp>
      <p:sp>
        <p:nvSpPr>
          <p:cNvPr id="21" name="Shape 21"/>
          <p:cNvSpPr/>
          <p:nvPr/>
        </p:nvSpPr>
        <p:spPr>
          <a:xfrm>
            <a:off x="7223760" y="2194560"/>
            <a:ext cx="205740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F1"/>
            </a:solidFill>
          </a:ln>
        </p:spPr>
        <p:txBody>
          <a:bodyPr/>
          <a:lstStyle/>
          <a:p/>
        </p:txBody>
      </p:sp>
      <p:sp>
        <p:nvSpPr>
          <p:cNvPr id="22" name="Shape 22"/>
          <p:cNvSpPr/>
          <p:nvPr/>
        </p:nvSpPr>
        <p:spPr>
          <a:xfrm>
            <a:off x="7223760" y="2194560"/>
            <a:ext cx="73152" cy="2194560"/>
          </a:xfrm>
          <a:prstGeom prst="roundRect">
            <a:avLst/>
          </a:prstGeom>
          <a:solidFill>
            <a:srgbClr val="C9F36A"/>
          </a:solidFill>
          <a:ln>
            <a:noFill/>
          </a:ln>
        </p:spPr>
        <p:txBody>
          <a:bodyPr/>
          <a:lstStyle/>
          <a:p/>
        </p:txBody>
      </p:sp>
      <p:sp>
        <p:nvSpPr>
          <p:cNvPr id="23" name="Text 23"/>
          <p:cNvSpPr txBox="1"/>
          <p:nvPr/>
        </p:nvSpPr>
        <p:spPr>
          <a:xfrm>
            <a:off x="7443216" y="2359152"/>
            <a:ext cx="1691640" cy="310896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op"/>
          <a:lstStyle/>
          <a:p algn="l">
            <a:pPr algn="l" lvl="0"/>
            <a:r>
              <a:rPr lang="zh-CN" sz="1400" b="1" typeface="Microsoft YaHei">
                <a:solidFill>
                  <a:srgbClr val="16253D"/>
                </a:solidFill>
                <a:latin typeface="Microsoft YaHei"/>
                <a:ea typeface="Microsoft YaHei"/>
              </a:rPr>
              <a:t>Quality Auditor</a:t>
            </a:r>
            <a:endParaRPr lang="zh-CN" sz="1400"/>
          </a:p>
        </p:txBody>
      </p:sp>
      <p:sp>
        <p:nvSpPr>
          <p:cNvPr id="24" name="Text 24"/>
          <p:cNvSpPr txBox="1"/>
          <p:nvPr/>
        </p:nvSpPr>
        <p:spPr>
          <a:xfrm>
            <a:off x="7443216" y="2770632"/>
            <a:ext cx="1645920" cy="150876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op"/>
          <a:lstStyle/>
          <a:p algn="l">
            <a:pPr algn="l" lvl="0"/>
            <a:r>
              <a:rPr lang="zh-CN" sz="1010" b="0" typeface="Microsoft YaHei">
                <a:solidFill>
                  <a:srgbClr val="5E6E85"/>
                </a:solidFill>
                <a:latin typeface="Microsoft YaHei"/>
                <a:ea typeface="Microsoft YaHei"/>
              </a:rPr>
              <a:t>agent-qc</a:t>
            </a:r>
            <a:endParaRPr lang="zh-CN" sz="1010"/>
          </a:p>
          <a:p algn="l">
            <a:pPr algn="l" lvl="0"/>
            <a:r>
              <a:rPr lang="zh-CN" sz="1010" b="0" typeface="Microsoft YaHei">
                <a:solidFill>
                  <a:srgbClr val="5E6E85"/>
                </a:solidFill>
                <a:latin typeface="Microsoft YaHei"/>
                <a:ea typeface="Microsoft YaHei"/>
              </a:rPr>
              <a:t>按版本化规则核验</a:t>
            </a:r>
            <a:endParaRPr lang="zh-CN" sz="1010"/>
          </a:p>
          <a:p algn="l">
            <a:pPr algn="l" lvl="0"/>
            <a:r>
              <a:rPr lang="zh-CN" sz="1010" b="0" typeface="Microsoft YaHei">
                <a:solidFill>
                  <a:srgbClr val="5E6E85"/>
                </a:solidFill>
                <a:latin typeface="Microsoft YaHei"/>
                <a:ea typeface="Microsoft YaHei"/>
              </a:rPr>
              <a:t>证据不足转人工复核</a:t>
            </a:r>
            <a:endParaRPr lang="zh-CN" sz="1010"/>
          </a:p>
        </p:txBody>
      </p:sp>
      <p:sp>
        <p:nvSpPr>
          <p:cNvPr id="25" name="Shape 25"/>
          <p:cNvSpPr/>
          <p:nvPr/>
        </p:nvSpPr>
        <p:spPr>
          <a:xfrm>
            <a:off x="9464040" y="2194560"/>
            <a:ext cx="205740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F1"/>
            </a:solidFill>
          </a:ln>
        </p:spPr>
        <p:txBody>
          <a:bodyPr/>
          <a:lstStyle/>
          <a:p/>
        </p:txBody>
      </p:sp>
      <p:sp>
        <p:nvSpPr>
          <p:cNvPr id="26" name="Shape 26"/>
          <p:cNvSpPr/>
          <p:nvPr/>
        </p:nvSpPr>
        <p:spPr>
          <a:xfrm>
            <a:off x="9464040" y="2194560"/>
            <a:ext cx="73152" cy="2194560"/>
          </a:xfrm>
          <a:prstGeom prst="roundRect">
            <a:avLst/>
          </a:prstGeom>
          <a:solidFill>
            <a:srgbClr val="16B8AE"/>
          </a:solidFill>
          <a:ln>
            <a:noFill/>
          </a:ln>
        </p:spPr>
        <p:txBody>
          <a:bodyPr/>
          <a:lstStyle/>
          <a:p/>
        </p:txBody>
      </p:sp>
      <p:sp>
        <p:nvSpPr>
          <p:cNvPr id="27" name="Text 27"/>
          <p:cNvSpPr txBox="1"/>
          <p:nvPr/>
        </p:nvSpPr>
        <p:spPr>
          <a:xfrm>
            <a:off x="9683496" y="2359152"/>
            <a:ext cx="1691640" cy="310896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op"/>
          <a:lstStyle/>
          <a:p algn="l">
            <a:pPr algn="l" lvl="0"/>
            <a:r>
              <a:rPr lang="zh-CN" sz="1400" b="1" typeface="Microsoft YaHei">
                <a:solidFill>
                  <a:srgbClr val="16253D"/>
                </a:solidFill>
                <a:latin typeface="Microsoft YaHei"/>
                <a:ea typeface="Microsoft YaHei"/>
              </a:rPr>
              <a:t>Delivery Reporter</a:t>
            </a:r>
            <a:endParaRPr lang="zh-CN" sz="1400"/>
          </a:p>
        </p:txBody>
      </p:sp>
      <p:sp>
        <p:nvSpPr>
          <p:cNvPr id="28" name="Text 28"/>
          <p:cNvSpPr txBox="1"/>
          <p:nvPr/>
        </p:nvSpPr>
        <p:spPr>
          <a:xfrm>
            <a:off x="9683496" y="2770632"/>
            <a:ext cx="1645920" cy="150876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op"/>
          <a:lstStyle/>
          <a:p algn="l">
            <a:pPr algn="l" lvl="0"/>
            <a:r>
              <a:rPr lang="zh-CN" sz="1010" b="0" typeface="Microsoft YaHei">
                <a:solidFill>
                  <a:srgbClr val="5E6E85"/>
                </a:solidFill>
                <a:latin typeface="Microsoft YaHei"/>
                <a:ea typeface="Microsoft YaHei"/>
              </a:rPr>
              <a:t>agent-delivery</a:t>
            </a:r>
            <a:endParaRPr lang="zh-CN" sz="1010"/>
          </a:p>
          <a:p algn="l">
            <a:pPr algn="l" lvl="0"/>
            <a:r>
              <a:rPr lang="zh-CN" sz="1010" b="0" typeface="Microsoft YaHei">
                <a:solidFill>
                  <a:srgbClr val="5E6E85"/>
                </a:solidFill>
                <a:latin typeface="Microsoft YaHei"/>
                <a:ea typeface="Microsoft YaHei"/>
              </a:rPr>
              <a:t>汇总验证过的产物与风险</a:t>
            </a:r>
            <a:endParaRPr lang="zh-CN" sz="1010"/>
          </a:p>
          <a:p algn="l">
            <a:pPr algn="l" lvl="0"/>
            <a:r>
              <a:rPr lang="zh-CN" sz="1010" b="0" typeface="Microsoft YaHei">
                <a:solidFill>
                  <a:srgbClr val="5E6E85"/>
                </a:solidFill>
                <a:latin typeface="Microsoft YaHei"/>
                <a:ea typeface="Microsoft YaHei"/>
              </a:rPr>
              <a:t>不发布文件</a:t>
            </a:r>
            <a:endParaRPr lang="zh-CN" sz="1010"/>
          </a:p>
        </p:txBody>
      </p:sp>
      <p:sp>
        <p:nvSpPr>
          <p:cNvPr id="29" name="Text 29"/>
          <p:cNvSpPr txBox="1"/>
          <p:nvPr/>
        </p:nvSpPr>
        <p:spPr>
          <a:xfrm>
            <a:off x="822960" y="5212080"/>
            <a:ext cx="10607040" cy="27432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op"/>
          <a:lstStyle/>
          <a:p algn="c">
            <a:pPr algn="c" lvl="0"/>
            <a:r>
              <a:rPr lang="zh-CN" sz="1300" b="1" typeface="Microsoft YaHei">
                <a:solidFill>
                  <a:srgbClr val="C9F36A"/>
                </a:solidFill>
                <a:latin typeface="Microsoft YaHei"/>
                <a:ea typeface="Microsoft YaHei"/>
              </a:rPr>
              <a:t>Manager 负责编排，但不拥有执行权；执行者不判定质量；质控者不发布交付。</a:t>
            </a:r>
            <a:endParaRPr lang="zh-CN" sz="13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ns2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 3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6B8AE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Shape 4"/>
          <p:cNvSpPr/>
          <p:nvPr/>
        </p:nvSpPr>
        <p:spPr>
          <a:xfrm>
            <a:off x="9692640" y="128016"/>
            <a:ext cx="2499055" cy="45720"/>
          </a:xfrm>
          <a:prstGeom prst="rect">
            <a:avLst/>
          </a:prstGeom>
          <a:solidFill>
            <a:srgbClr val="C9F36A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Text 5"/>
          <p:cNvSpPr txBox="1"/>
          <p:nvPr/>
        </p:nvSpPr>
        <p:spPr>
          <a:xfrm>
            <a:off x="594360" y="320040"/>
            <a:ext cx="6858000" cy="27432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op"/>
          <a:lstStyle/>
          <a:p algn="l">
            <a:pPr algn="l" lvl="0"/>
            <a:r>
              <a:rPr lang="zh-CN" sz="1100" b="1" typeface="Microsoft YaHei">
                <a:solidFill>
                  <a:srgbClr val="5E6E85"/>
                </a:solidFill>
                <a:latin typeface="Microsoft YaHei"/>
                <a:ea typeface="Microsoft YaHei"/>
              </a:rPr>
              <a:t>第三章 · 协同闭环</a:t>
            </a:r>
            <a:endParaRPr lang="zh-CN" sz="1100"/>
          </a:p>
        </p:txBody>
      </p:sp>
      <p:sp>
        <p:nvSpPr>
          <p:cNvPr id="6" name="Text 6"/>
          <p:cNvSpPr txBox="1"/>
          <p:nvPr/>
        </p:nvSpPr>
        <p:spPr>
          <a:xfrm>
            <a:off x="594360" y="658368"/>
            <a:ext cx="10515600" cy="59436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op"/>
          <a:lstStyle/>
          <a:p algn="l">
            <a:pPr algn="l" lvl="0"/>
            <a:r>
              <a:rPr lang="zh-CN" sz="2500" b="1" typeface="Microsoft YaHei">
                <a:solidFill>
                  <a:srgbClr val="16253D"/>
                </a:solidFill>
                <a:latin typeface="Microsoft YaHei"/>
                <a:ea typeface="Microsoft YaHei"/>
              </a:rPr>
              <a:t>状态、上下文与异常处理</a:t>
            </a:r>
            <a:endParaRPr lang="zh-CN" sz="2500"/>
          </a:p>
        </p:txBody>
      </p:sp>
      <p:sp>
        <p:nvSpPr>
          <p:cNvPr id="7" name="Text 7"/>
          <p:cNvSpPr txBox="1"/>
          <p:nvPr/>
        </p:nvSpPr>
        <p:spPr>
          <a:xfrm>
            <a:off x="11064240" y="6291072"/>
            <a:ext cx="502920" cy="256032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op"/>
          <a:lstStyle/>
          <a:p algn="r">
            <a:pPr algn="r" lvl="0"/>
            <a:r>
              <a:rPr lang="zh-CN" sz="900" b="1" typeface="Microsoft YaHei">
                <a:solidFill>
                  <a:srgbClr val="5E6E85"/>
                </a:solidFill>
                <a:latin typeface="Microsoft YaHei"/>
                <a:ea typeface="Microsoft YaHei"/>
              </a:rPr>
              <a:t>09</a:t>
            </a:r>
            <a:endParaRPr lang="zh-CN" sz="900"/>
          </a:p>
        </p:txBody>
      </p:sp>
      <p:pic>
        <p:nvPicPr>
          <p:cNvPr id="8" name="Multi Agent Planning"/>
          <p:cNvPicPr>
            <a:picLocks noChangeAspect="1"/>
          </p:cNvPicPr>
          <p:nvPr/>
        </p:nvPicPr>
        <p:blipFill>
          <a:blip ns2:embed="rId1"/>
          <a:stretch>
            <a:fillRect/>
          </a:stretch>
        </p:blipFill>
        <p:spPr>
          <a:xfrm>
            <a:off x="658368" y="1481328"/>
            <a:ext cx="5532120" cy="2798064"/>
          </a:xfrm>
          <a:prstGeom prst="roundRect">
            <a:avLst/>
          </a:prstGeom>
          <a:ln w="19050">
            <a:solidFill>
              <a:srgbClr val="D5E0ED"/>
            </a:solidFill>
          </a:ln>
        </p:spPr>
      </p:pic>
      <p:pic>
        <p:nvPicPr>
          <p:cNvPr id="9" name="Agent Tool Execution"/>
          <p:cNvPicPr>
            <a:picLocks noChangeAspect="1"/>
          </p:cNvPicPr>
          <p:nvPr/>
        </p:nvPicPr>
        <p:blipFill>
          <a:blip ns2:embed="rId2"/>
          <a:stretch>
            <a:fillRect/>
          </a:stretch>
        </p:blipFill>
        <p:spPr>
          <a:xfrm>
            <a:off x="6382512" y="1481328"/>
            <a:ext cx="5138928" cy="2313432"/>
          </a:xfrm>
          <a:prstGeom prst="roundRect">
            <a:avLst/>
          </a:prstGeom>
          <a:ln w="19050">
            <a:solidFill>
              <a:srgbClr val="D5E0ED"/>
            </a:solidFill>
          </a:ln>
        </p:spPr>
      </p:pic>
      <p:sp>
        <p:nvSpPr>
          <p:cNvPr id="10" name="Shape 10"/>
          <p:cNvSpPr/>
          <p:nvPr/>
        </p:nvSpPr>
        <p:spPr>
          <a:xfrm>
            <a:off x="6382512" y="4041648"/>
            <a:ext cx="5138928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F1"/>
            </a:solidFill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6382512" y="4041648"/>
            <a:ext cx="73152" cy="932688"/>
          </a:xfrm>
          <a:prstGeom prst="roundRect">
            <a:avLst/>
          </a:prstGeom>
          <a:solidFill>
            <a:srgbClr val="16B8AE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Text 12"/>
          <p:cNvSpPr txBox="1"/>
          <p:nvPr/>
        </p:nvSpPr>
        <p:spPr>
          <a:xfrm>
            <a:off x="6601968" y="4206240"/>
            <a:ext cx="4773168" cy="310896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op"/>
          <a:lstStyle/>
          <a:p algn="l">
            <a:pPr algn="l" lvl="0"/>
            <a:r>
              <a:rPr lang="zh-CN" sz="1400" b="1" typeface="Microsoft YaHei">
                <a:solidFill>
                  <a:srgbClr val="16253D"/>
                </a:solidFill>
                <a:latin typeface="Microsoft YaHei"/>
                <a:ea typeface="Microsoft YaHei"/>
              </a:rPr>
              <a:t>结构化上下文</a:t>
            </a:r>
            <a:endParaRPr lang="zh-CN" sz="1400"/>
          </a:p>
        </p:txBody>
      </p:sp>
      <p:sp>
        <p:nvSpPr>
          <p:cNvPr id="13" name="Text 13"/>
          <p:cNvSpPr txBox="1"/>
          <p:nvPr/>
        </p:nvSpPr>
        <p:spPr>
          <a:xfrm>
            <a:off x="6601968" y="4617720"/>
            <a:ext cx="4727448" cy="246888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op"/>
          <a:lstStyle/>
          <a:p algn="l">
            <a:pPr algn="l" lvl="0"/>
            <a:r>
              <a:rPr lang="zh-CN" sz="1040" b="0" typeface="Microsoft YaHei">
                <a:solidFill>
                  <a:srgbClr val="5E6E85"/>
                </a:solidFill>
                <a:latin typeface="Microsoft YaHei"/>
                <a:ea typeface="Microsoft YaHei"/>
              </a:rPr>
              <a:t>Case / Work Item / Artifact Ref / Evidence Event</a:t>
            </a:r>
            <a:endParaRPr lang="zh-CN" sz="1040"/>
          </a:p>
          <a:p algn="l">
            <a:pPr algn="l" lvl="0"/>
            <a:r>
              <a:rPr lang="zh-CN" sz="1040" b="0" typeface="Microsoft YaHei">
                <a:solidFill>
                  <a:srgbClr val="5E6E85"/>
                </a:solidFill>
                <a:latin typeface="Microsoft YaHei"/>
                <a:ea typeface="Microsoft YaHei"/>
              </a:rPr>
              <a:t>只传 ID、短摘要、规则与逻辑引用</a:t>
            </a:r>
            <a:endParaRPr lang="zh-CN" sz="1040"/>
          </a:p>
        </p:txBody>
      </p:sp>
      <p:sp>
        <p:nvSpPr>
          <p:cNvPr id="14" name="Shape 14"/>
          <p:cNvSpPr/>
          <p:nvPr/>
        </p:nvSpPr>
        <p:spPr>
          <a:xfrm>
            <a:off x="658368" y="4526280"/>
            <a:ext cx="553212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F1"/>
            </a:solidFill>
          </a:ln>
        </p:spPr>
        <p:txBody>
          <a:bodyPr/>
          <a:lstStyle/>
          <a:p/>
        </p:txBody>
      </p:sp>
      <p:sp>
        <p:nvSpPr>
          <p:cNvPr id="15" name="Shape 15"/>
          <p:cNvSpPr/>
          <p:nvPr/>
        </p:nvSpPr>
        <p:spPr>
          <a:xfrm>
            <a:off x="658368" y="4526280"/>
            <a:ext cx="73152" cy="868680"/>
          </a:xfrm>
          <a:prstGeom prst="roundRect">
            <a:avLst/>
          </a:prstGeom>
          <a:solidFill>
            <a:srgbClr val="FFAA5B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Text 16"/>
          <p:cNvSpPr txBox="1"/>
          <p:nvPr/>
        </p:nvSpPr>
        <p:spPr>
          <a:xfrm>
            <a:off x="877824" y="4690872"/>
            <a:ext cx="5166359" cy="310896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op"/>
          <a:lstStyle/>
          <a:p algn="l">
            <a:pPr algn="l" lvl="0"/>
            <a:r>
              <a:rPr lang="zh-CN" sz="1400" b="1" typeface="Microsoft YaHei">
                <a:solidFill>
                  <a:srgbClr val="16253D"/>
                </a:solidFill>
                <a:latin typeface="Microsoft YaHei"/>
                <a:ea typeface="Microsoft YaHei"/>
              </a:rPr>
              <a:t>异常处理</a:t>
            </a:r>
            <a:endParaRPr lang="zh-CN" sz="1400"/>
          </a:p>
        </p:txBody>
      </p:sp>
      <p:sp>
        <p:nvSpPr>
          <p:cNvPr id="17" name="Text 17"/>
          <p:cNvSpPr txBox="1"/>
          <p:nvPr/>
        </p:nvSpPr>
        <p:spPr>
          <a:xfrm>
            <a:off x="877824" y="5102352"/>
            <a:ext cx="5120640" cy="182879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op"/>
          <a:lstStyle/>
          <a:p algn="l">
            <a:pPr algn="l" lvl="0"/>
            <a:r>
              <a:rPr lang="zh-CN" sz="1019" b="0" typeface="Microsoft YaHei">
                <a:solidFill>
                  <a:srgbClr val="5E6E85"/>
                </a:solidFill>
                <a:latin typeface="Microsoft YaHei"/>
                <a:ea typeface="Microsoft YaHei"/>
              </a:rPr>
              <a:t>blocked / manual_review / 有界重试</a:t>
            </a:r>
            <a:endParaRPr lang="zh-CN" sz="1019"/>
          </a:p>
          <a:p algn="l">
            <a:pPr algn="l" lvl="0"/>
            <a:r>
              <a:rPr lang="zh-CN" sz="1019" b="0" typeface="Microsoft YaHei">
                <a:solidFill>
                  <a:srgbClr val="5E6E85"/>
                </a:solidFill>
                <a:latin typeface="Microsoft YaHei"/>
                <a:ea typeface="Microsoft YaHei"/>
              </a:rPr>
              <a:t>所有状态由 trace_id 与事件链关联</a:t>
            </a:r>
            <a:endParaRPr lang="zh-CN" sz="1019"/>
          </a:p>
        </p:txBody>
      </p:sp>
      <p:sp>
        <p:nvSpPr>
          <p:cNvPr id="18" name="Text 18"/>
          <p:cNvSpPr txBox="1"/>
          <p:nvPr/>
        </p:nvSpPr>
        <p:spPr>
          <a:xfrm>
            <a:off x="731520" y="5833872"/>
            <a:ext cx="10515600" cy="22860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op"/>
          <a:lstStyle/>
          <a:p algn="c">
            <a:pPr algn="c" lvl="0"/>
            <a:r>
              <a:rPr lang="zh-CN" sz="1100" b="1" typeface="Microsoft YaHei">
                <a:solidFill>
                  <a:srgbClr val="16253D"/>
                </a:solidFill>
                <a:latin typeface="Microsoft YaHei"/>
                <a:ea typeface="Microsoft YaHei"/>
              </a:rPr>
              <a:t>真实界面展示了 Agent 计划、子任务状态和工具执行结果，而非仅停留在架构图。</a:t>
            </a:r>
            <a:endParaRPr lang="zh-CN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83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 3"/>
          <p:cNvSpPr/>
          <p:nvPr/>
        </p:nvSpPr>
        <p:spPr>
          <a:xfrm>
            <a:off x="8961120" y="-640080"/>
            <a:ext cx="3931920" cy="3931920"/>
          </a:xfrm>
          <a:prstGeom prst="rect">
            <a:avLst/>
          </a:prstGeom>
          <a:solidFill>
            <a:srgbClr val="16B8AE">
              <a:alpha val="16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Shape 4"/>
          <p:cNvSpPr/>
          <p:nvPr/>
        </p:nvSpPr>
        <p:spPr>
          <a:xfrm>
            <a:off x="-1005840" y="4754880"/>
            <a:ext cx="2743200" cy="2743200"/>
          </a:xfrm>
          <a:prstGeom prst="rect">
            <a:avLst/>
          </a:prstGeom>
          <a:solidFill>
            <a:srgbClr val="4E7CF4">
              <a:alpha val="20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Text 5"/>
          <p:cNvSpPr txBox="1"/>
          <p:nvPr/>
        </p:nvSpPr>
        <p:spPr>
          <a:xfrm>
            <a:off x="594360" y="320040"/>
            <a:ext cx="6858000" cy="27432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op"/>
          <a:lstStyle/>
          <a:p algn="l">
            <a:pPr algn="l" lvl="0"/>
            <a:r>
              <a:rPr lang="zh-CN" sz="1100" b="1" typeface="Microsoft YaHei">
                <a:solidFill>
                  <a:srgbClr val="FFFFFF"/>
                </a:solidFill>
                <a:latin typeface="Microsoft YaHei"/>
                <a:ea typeface="Microsoft YaHei"/>
              </a:rPr>
              <a:t>第四章</a:t>
            </a:r>
            <a:endParaRPr lang="zh-CN" sz="1100"/>
          </a:p>
        </p:txBody>
      </p:sp>
      <p:sp>
        <p:nvSpPr>
          <p:cNvPr id="6" name="Text 6"/>
          <p:cNvSpPr txBox="1"/>
          <p:nvPr/>
        </p:nvSpPr>
        <p:spPr>
          <a:xfrm>
            <a:off x="594360" y="658368"/>
            <a:ext cx="10515600" cy="59436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op"/>
          <a:lstStyle/>
          <a:p algn="l">
            <a:pPr algn="l" lvl="0"/>
            <a:r>
              <a:rPr lang="zh-CN" sz="2500" b="1" typeface="Microsoft YaHei">
                <a:solidFill>
                  <a:srgbClr val="FFFFFF"/>
                </a:solidFill>
                <a:latin typeface="Microsoft YaHei"/>
                <a:ea typeface="Microsoft YaHei"/>
              </a:rPr>
              <a:t>Skill 工程体系</a:t>
            </a:r>
            <a:endParaRPr lang="zh-CN" sz="2500"/>
          </a:p>
        </p:txBody>
      </p:sp>
      <p:sp>
        <p:nvSpPr>
          <p:cNvPr id="7" name="Text 7"/>
          <p:cNvSpPr txBox="1"/>
          <p:nvPr/>
        </p:nvSpPr>
        <p:spPr>
          <a:xfrm>
            <a:off x="11064240" y="6291072"/>
            <a:ext cx="502920" cy="256032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op"/>
          <a:lstStyle/>
          <a:p algn="r">
            <a:pPr algn="r" lvl="0"/>
            <a:r>
              <a:rPr lang="zh-CN" sz="900" b="1" typeface="Microsoft YaHei">
                <a:solidFill>
                  <a:srgbClr val="B4C0D0"/>
                </a:solidFill>
                <a:latin typeface="Microsoft YaHei"/>
                <a:ea typeface="Microsoft YaHei"/>
              </a:rPr>
              <a:t>10</a:t>
            </a:r>
            <a:endParaRPr lang="zh-CN" sz="900"/>
          </a:p>
        </p:txBody>
      </p:sp>
      <p:sp>
        <p:nvSpPr>
          <p:cNvPr id="8" name="Text 8"/>
          <p:cNvSpPr txBox="1"/>
          <p:nvPr/>
        </p:nvSpPr>
        <p:spPr>
          <a:xfrm>
            <a:off x="640080" y="1417320"/>
            <a:ext cx="10241280" cy="329184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op"/>
          <a:lstStyle/>
          <a:p algn="l">
            <a:pPr algn="l" lvl="0"/>
            <a:r>
              <a:rPr lang="zh-CN" sz="1500" b="0" typeface="Microsoft YaHei">
                <a:solidFill>
                  <a:srgbClr val="D7E5F5"/>
                </a:solidFill>
                <a:latin typeface="Microsoft YaHei"/>
                <a:ea typeface="Microsoft YaHei"/>
              </a:rPr>
              <a:t>以稳定 I/O、失败语义、权限边界和版本治理，把领域经验沉淀为可复用的工程能力。</a:t>
            </a:r>
            <a:endParaRPr lang="zh-CN" sz="1500"/>
          </a:p>
        </p:txBody>
      </p:sp>
      <p:sp>
        <p:nvSpPr>
          <p:cNvPr id="9" name="Shape 9"/>
          <p:cNvSpPr/>
          <p:nvPr/>
        </p:nvSpPr>
        <p:spPr>
          <a:xfrm>
            <a:off x="658368" y="2057400"/>
            <a:ext cx="3429000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F1"/>
            </a:solidFill>
          </a:ln>
        </p:spPr>
        <p:txBody>
          <a:bodyPr/>
          <a:lstStyle/>
          <a:p/>
        </p:txBody>
      </p:sp>
      <p:sp>
        <p:nvSpPr>
          <p:cNvPr id="10" name="Shape 10"/>
          <p:cNvSpPr/>
          <p:nvPr/>
        </p:nvSpPr>
        <p:spPr>
          <a:xfrm>
            <a:off x="658368" y="2057400"/>
            <a:ext cx="73152" cy="1261872"/>
          </a:xfrm>
          <a:prstGeom prst="roundRect">
            <a:avLst/>
          </a:prstGeom>
          <a:solidFill>
            <a:srgbClr val="4E7CF4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Text 11"/>
          <p:cNvSpPr txBox="1"/>
          <p:nvPr/>
        </p:nvSpPr>
        <p:spPr>
          <a:xfrm>
            <a:off x="877824" y="2221992"/>
            <a:ext cx="3063240" cy="310896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op"/>
          <a:lstStyle/>
          <a:p algn="l">
            <a:pPr algn="l" lvl="0"/>
            <a:r>
              <a:rPr lang="zh-CN" sz="1400" b="1" typeface="Microsoft YaHei">
                <a:solidFill>
                  <a:srgbClr val="16253D"/>
                </a:solidFill>
                <a:latin typeface="Microsoft YaHei"/>
                <a:ea typeface="Microsoft YaHei"/>
              </a:rPr>
              <a:t>case-create</a:t>
            </a:r>
            <a:endParaRPr lang="zh-CN" sz="1400"/>
          </a:p>
        </p:txBody>
      </p:sp>
      <p:sp>
        <p:nvSpPr>
          <p:cNvPr id="12" name="Text 12"/>
          <p:cNvSpPr txBox="1"/>
          <p:nvPr/>
        </p:nvSpPr>
        <p:spPr>
          <a:xfrm>
            <a:off x="877824" y="2633472"/>
            <a:ext cx="3017520" cy="576071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op"/>
          <a:lstStyle/>
          <a:p algn="l">
            <a:pPr algn="l" lvl="0"/>
            <a:r>
              <a:rPr lang="zh-CN" sz="1080" b="0" typeface="Microsoft YaHei">
                <a:solidFill>
                  <a:srgbClr val="5E6E85"/>
                </a:solidFill>
                <a:latin typeface="Microsoft YaHei"/>
                <a:ea typeface="Microsoft YaHei"/>
              </a:rPr>
              <a:t>创建 Case 与初始工作项</a:t>
            </a:r>
            <a:endParaRPr lang="zh-CN" sz="1080"/>
          </a:p>
        </p:txBody>
      </p:sp>
      <p:sp>
        <p:nvSpPr>
          <p:cNvPr id="13" name="Shape 13"/>
          <p:cNvSpPr/>
          <p:nvPr/>
        </p:nvSpPr>
        <p:spPr>
          <a:xfrm>
            <a:off x="4453128" y="2057400"/>
            <a:ext cx="3429000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F1"/>
            </a:solidFill>
          </a:ln>
        </p:spPr>
        <p:txBody>
          <a:bodyPr/>
          <a:lstStyle/>
          <a:p/>
        </p:txBody>
      </p:sp>
      <p:sp>
        <p:nvSpPr>
          <p:cNvPr id="14" name="Shape 14"/>
          <p:cNvSpPr/>
          <p:nvPr/>
        </p:nvSpPr>
        <p:spPr>
          <a:xfrm>
            <a:off x="4453128" y="2057400"/>
            <a:ext cx="73152" cy="1261872"/>
          </a:xfrm>
          <a:prstGeom prst="roundRect">
            <a:avLst/>
          </a:prstGeom>
          <a:solidFill>
            <a:srgbClr val="16B8AE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Text 15"/>
          <p:cNvSpPr txBox="1"/>
          <p:nvPr/>
        </p:nvSpPr>
        <p:spPr>
          <a:xfrm>
            <a:off x="4672584" y="2221992"/>
            <a:ext cx="3063240" cy="310896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op"/>
          <a:lstStyle/>
          <a:p algn="l">
            <a:pPr algn="l" lvl="0"/>
            <a:r>
              <a:rPr lang="zh-CN" sz="1400" b="1" typeface="Microsoft YaHei">
                <a:solidFill>
                  <a:srgbClr val="16253D"/>
                </a:solidFill>
                <a:latin typeface="Microsoft YaHei"/>
                <a:ea typeface="Microsoft YaHei"/>
              </a:rPr>
              <a:t>project-preflight</a:t>
            </a:r>
            <a:endParaRPr lang="zh-CN" sz="1400"/>
          </a:p>
        </p:txBody>
      </p:sp>
      <p:sp>
        <p:nvSpPr>
          <p:cNvPr id="16" name="Text 16"/>
          <p:cNvSpPr txBox="1"/>
          <p:nvPr/>
        </p:nvSpPr>
        <p:spPr>
          <a:xfrm>
            <a:off x="4672584" y="2633472"/>
            <a:ext cx="3017520" cy="576071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op"/>
          <a:lstStyle/>
          <a:p algn="l">
            <a:pPr algn="l" lvl="0"/>
            <a:r>
              <a:rPr lang="zh-CN" sz="1080" b="0" typeface="Microsoft YaHei">
                <a:solidFill>
                  <a:srgbClr val="5E6E85"/>
                </a:solidFill>
                <a:latin typeface="Microsoft YaHei"/>
                <a:ea typeface="Microsoft YaHei"/>
              </a:rPr>
              <a:t>校验元数据、分组、物种、参考版本</a:t>
            </a:r>
            <a:endParaRPr lang="zh-CN" sz="1080"/>
          </a:p>
        </p:txBody>
      </p:sp>
      <p:sp>
        <p:nvSpPr>
          <p:cNvPr id="17" name="Shape 17"/>
          <p:cNvSpPr/>
          <p:nvPr/>
        </p:nvSpPr>
        <p:spPr>
          <a:xfrm>
            <a:off x="8247888" y="2057400"/>
            <a:ext cx="3429000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F1"/>
            </a:solidFill>
          </a:ln>
        </p:spPr>
        <p:txBody>
          <a:bodyPr/>
          <a:lstStyle/>
          <a:p/>
        </p:txBody>
      </p:sp>
      <p:sp>
        <p:nvSpPr>
          <p:cNvPr id="18" name="Shape 18"/>
          <p:cNvSpPr/>
          <p:nvPr/>
        </p:nvSpPr>
        <p:spPr>
          <a:xfrm>
            <a:off x="8247888" y="2057400"/>
            <a:ext cx="73152" cy="1261872"/>
          </a:xfrm>
          <a:prstGeom prst="roundRect">
            <a:avLst/>
          </a:prstGeom>
          <a:solidFill>
            <a:srgbClr val="FFAA5B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Text 19"/>
          <p:cNvSpPr txBox="1"/>
          <p:nvPr/>
        </p:nvSpPr>
        <p:spPr>
          <a:xfrm>
            <a:off x="8467344" y="2221992"/>
            <a:ext cx="3063240" cy="310896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op"/>
          <a:lstStyle/>
          <a:p algn="l">
            <a:pPr algn="l" lvl="0"/>
            <a:r>
              <a:rPr lang="zh-CN" sz="1400" b="1" typeface="Microsoft YaHei">
                <a:solidFill>
                  <a:srgbClr val="16253D"/>
                </a:solidFill>
                <a:latin typeface="Microsoft YaHei"/>
                <a:ea typeface="Microsoft YaHei"/>
              </a:rPr>
              <a:t>workflow-submit</a:t>
            </a:r>
            <a:endParaRPr lang="zh-CN" sz="1400"/>
          </a:p>
        </p:txBody>
      </p:sp>
      <p:sp>
        <p:nvSpPr>
          <p:cNvPr id="20" name="Text 20"/>
          <p:cNvSpPr txBox="1"/>
          <p:nvPr/>
        </p:nvSpPr>
        <p:spPr>
          <a:xfrm>
            <a:off x="8467344" y="2633472"/>
            <a:ext cx="3017520" cy="576071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op"/>
          <a:lstStyle/>
          <a:p algn="l">
            <a:pPr algn="l" lvl="0"/>
            <a:r>
              <a:rPr lang="zh-CN" sz="1080" b="0" typeface="Microsoft YaHei">
                <a:solidFill>
                  <a:srgbClr val="5E6E85"/>
                </a:solidFill>
                <a:latin typeface="Microsoft YaHei"/>
                <a:ea typeface="Microsoft YaHei"/>
              </a:rPr>
              <a:t>按审批范围提交受控流程</a:t>
            </a:r>
            <a:endParaRPr lang="zh-CN" sz="1080"/>
          </a:p>
        </p:txBody>
      </p:sp>
      <p:sp>
        <p:nvSpPr>
          <p:cNvPr id="21" name="Shape 21"/>
          <p:cNvSpPr/>
          <p:nvPr/>
        </p:nvSpPr>
        <p:spPr>
          <a:xfrm>
            <a:off x="658368" y="3657600"/>
            <a:ext cx="3429000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F1"/>
            </a:solidFill>
          </a:ln>
        </p:spPr>
        <p:txBody>
          <a:bodyPr/>
          <a:lstStyle/>
          <a:p/>
        </p:txBody>
      </p:sp>
      <p:sp>
        <p:nvSpPr>
          <p:cNvPr id="22" name="Shape 22"/>
          <p:cNvSpPr/>
          <p:nvPr/>
        </p:nvSpPr>
        <p:spPr>
          <a:xfrm>
            <a:off x="658368" y="3657600"/>
            <a:ext cx="73152" cy="1261872"/>
          </a:xfrm>
          <a:prstGeom prst="roundRect">
            <a:avLst/>
          </a:prstGeom>
          <a:solidFill>
            <a:srgbClr val="4E7CF4"/>
          </a:solidFill>
          <a:ln>
            <a:noFill/>
          </a:ln>
        </p:spPr>
        <p:txBody>
          <a:bodyPr/>
          <a:lstStyle/>
          <a:p/>
        </p:txBody>
      </p:sp>
      <p:sp>
        <p:nvSpPr>
          <p:cNvPr id="23" name="Text 23"/>
          <p:cNvSpPr txBox="1"/>
          <p:nvPr/>
        </p:nvSpPr>
        <p:spPr>
          <a:xfrm>
            <a:off x="877824" y="3822191"/>
            <a:ext cx="3063240" cy="310896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op"/>
          <a:lstStyle/>
          <a:p algn="l">
            <a:pPr algn="l" lvl="0"/>
            <a:r>
              <a:rPr lang="zh-CN" sz="1400" b="1" typeface="Microsoft YaHei">
                <a:solidFill>
                  <a:srgbClr val="16253D"/>
                </a:solidFill>
                <a:latin typeface="Microsoft YaHei"/>
                <a:ea typeface="Microsoft YaHei"/>
              </a:rPr>
              <a:t>workflow-monitor</a:t>
            </a:r>
            <a:endParaRPr lang="zh-CN" sz="1400"/>
          </a:p>
        </p:txBody>
      </p:sp>
      <p:sp>
        <p:nvSpPr>
          <p:cNvPr id="24" name="Text 24"/>
          <p:cNvSpPr txBox="1"/>
          <p:nvPr/>
        </p:nvSpPr>
        <p:spPr>
          <a:xfrm>
            <a:off x="877824" y="4233672"/>
            <a:ext cx="3017520" cy="576071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op"/>
          <a:lstStyle/>
          <a:p algn="l">
            <a:pPr algn="l" lvl="0"/>
            <a:r>
              <a:rPr lang="zh-CN" sz="1080" b="0" typeface="Microsoft YaHei">
                <a:solidFill>
                  <a:srgbClr val="5E6E85"/>
                </a:solidFill>
                <a:latin typeface="Microsoft YaHei"/>
                <a:ea typeface="Microsoft YaHei"/>
              </a:rPr>
              <a:t>查询状态、日志摘要与产物引用</a:t>
            </a:r>
            <a:endParaRPr lang="zh-CN" sz="1080"/>
          </a:p>
        </p:txBody>
      </p:sp>
      <p:sp>
        <p:nvSpPr>
          <p:cNvPr id="25" name="Shape 25"/>
          <p:cNvSpPr/>
          <p:nvPr/>
        </p:nvSpPr>
        <p:spPr>
          <a:xfrm>
            <a:off x="4453128" y="3657600"/>
            <a:ext cx="3429000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F1"/>
            </a:solidFill>
          </a:ln>
        </p:spPr>
        <p:txBody>
          <a:bodyPr/>
          <a:lstStyle/>
          <a:p/>
        </p:txBody>
      </p:sp>
      <p:sp>
        <p:nvSpPr>
          <p:cNvPr id="26" name="Shape 26"/>
          <p:cNvSpPr/>
          <p:nvPr/>
        </p:nvSpPr>
        <p:spPr>
          <a:xfrm>
            <a:off x="4453128" y="3657600"/>
            <a:ext cx="73152" cy="1261872"/>
          </a:xfrm>
          <a:prstGeom prst="roundRect">
            <a:avLst/>
          </a:prstGeom>
          <a:solidFill>
            <a:srgbClr val="C9F36A"/>
          </a:solidFill>
          <a:ln>
            <a:noFill/>
          </a:ln>
        </p:spPr>
        <p:txBody>
          <a:bodyPr/>
          <a:lstStyle/>
          <a:p/>
        </p:txBody>
      </p:sp>
      <p:sp>
        <p:nvSpPr>
          <p:cNvPr id="27" name="Text 27"/>
          <p:cNvSpPr txBox="1"/>
          <p:nvPr/>
        </p:nvSpPr>
        <p:spPr>
          <a:xfrm>
            <a:off x="4672584" y="3822191"/>
            <a:ext cx="3063240" cy="310896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op"/>
          <a:lstStyle/>
          <a:p algn="l">
            <a:pPr algn="l" lvl="0"/>
            <a:r>
              <a:rPr lang="zh-CN" sz="1400" b="1" typeface="Microsoft YaHei">
                <a:solidFill>
                  <a:srgbClr val="16253D"/>
                </a:solidFill>
                <a:latin typeface="Microsoft YaHei"/>
                <a:ea typeface="Microsoft YaHei"/>
              </a:rPr>
              <a:t>quality-gate</a:t>
            </a:r>
            <a:endParaRPr lang="zh-CN" sz="1400"/>
          </a:p>
        </p:txBody>
      </p:sp>
      <p:sp>
        <p:nvSpPr>
          <p:cNvPr id="28" name="Text 28"/>
          <p:cNvSpPr txBox="1"/>
          <p:nvPr/>
        </p:nvSpPr>
        <p:spPr>
          <a:xfrm>
            <a:off x="4672584" y="4233672"/>
            <a:ext cx="3017520" cy="576071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op"/>
          <a:lstStyle/>
          <a:p algn="l">
            <a:pPr algn="l" lvl="0"/>
            <a:r>
              <a:rPr lang="zh-CN" sz="1080" b="0" typeface="Microsoft YaHei">
                <a:solidFill>
                  <a:srgbClr val="5E6E85"/>
                </a:solidFill>
                <a:latin typeface="Microsoft YaHei"/>
                <a:ea typeface="Microsoft YaHei"/>
              </a:rPr>
              <a:t>规则化 QC 决策或转人工</a:t>
            </a:r>
            <a:endParaRPr lang="zh-CN" sz="1080"/>
          </a:p>
        </p:txBody>
      </p:sp>
      <p:sp>
        <p:nvSpPr>
          <p:cNvPr id="29" name="Shape 29"/>
          <p:cNvSpPr/>
          <p:nvPr/>
        </p:nvSpPr>
        <p:spPr>
          <a:xfrm>
            <a:off x="8247888" y="3657600"/>
            <a:ext cx="3429000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F1"/>
            </a:solidFill>
          </a:ln>
        </p:spPr>
        <p:txBody>
          <a:bodyPr/>
          <a:lstStyle/>
          <a:p/>
        </p:txBody>
      </p:sp>
      <p:sp>
        <p:nvSpPr>
          <p:cNvPr id="30" name="Shape 30"/>
          <p:cNvSpPr/>
          <p:nvPr/>
        </p:nvSpPr>
        <p:spPr>
          <a:xfrm>
            <a:off x="8247888" y="3657600"/>
            <a:ext cx="73152" cy="1261872"/>
          </a:xfrm>
          <a:prstGeom prst="roundRect">
            <a:avLst/>
          </a:prstGeom>
          <a:solidFill>
            <a:srgbClr val="16B8AE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Text 31"/>
          <p:cNvSpPr txBox="1"/>
          <p:nvPr/>
        </p:nvSpPr>
        <p:spPr>
          <a:xfrm>
            <a:off x="8467344" y="3822191"/>
            <a:ext cx="3063240" cy="310896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op"/>
          <a:lstStyle/>
          <a:p algn="l">
            <a:pPr algn="l" lvl="0"/>
            <a:r>
              <a:rPr lang="zh-CN" sz="1400" b="1" typeface="Microsoft YaHei">
                <a:solidFill>
                  <a:srgbClr val="16253D"/>
                </a:solidFill>
                <a:latin typeface="Microsoft YaHei"/>
                <a:ea typeface="Microsoft YaHei"/>
              </a:rPr>
              <a:t>delivery-manifest</a:t>
            </a:r>
            <a:endParaRPr lang="zh-CN" sz="1400"/>
          </a:p>
        </p:txBody>
      </p:sp>
      <p:sp>
        <p:nvSpPr>
          <p:cNvPr id="32" name="Text 32"/>
          <p:cNvSpPr txBox="1"/>
          <p:nvPr/>
        </p:nvSpPr>
        <p:spPr>
          <a:xfrm>
            <a:off x="8467344" y="4233672"/>
            <a:ext cx="3017520" cy="576071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op"/>
          <a:lstStyle/>
          <a:p algn="l">
            <a:pPr algn="l" lvl="0"/>
            <a:r>
              <a:rPr lang="zh-CN" sz="1080" b="0" typeface="Microsoft YaHei">
                <a:solidFill>
                  <a:srgbClr val="5E6E85"/>
                </a:solidFill>
                <a:latin typeface="Microsoft YaHei"/>
                <a:ea typeface="Microsoft YaHei"/>
              </a:rPr>
              <a:t>生成交付清单、风险与复盘入口</a:t>
            </a:r>
            <a:endParaRPr lang="zh-CN" sz="1080"/>
          </a:p>
        </p:txBody>
      </p:sp>
      <p:sp>
        <p:nvSpPr>
          <p:cNvPr id="33" name="Shape 33"/>
          <p:cNvSpPr/>
          <p:nvPr/>
        </p:nvSpPr>
        <p:spPr>
          <a:xfrm>
            <a:off x="658368" y="5687568"/>
            <a:ext cx="3246120" cy="274320"/>
          </a:xfrm>
          <a:prstGeom prst="roundRect">
            <a:avLst/>
          </a:prstGeom>
          <a:solidFill>
            <a:srgbClr val="C9F36A"/>
          </a:solidFill>
          <a:ln>
            <a:noFill/>
          </a:ln>
        </p:spPr>
        <p:txBody>
          <a:bodyPr/>
          <a:lstStyle/>
          <a:p/>
        </p:txBody>
      </p:sp>
      <p:sp>
        <p:nvSpPr>
          <p:cNvPr id="34" name="Text 34"/>
          <p:cNvSpPr txBox="1"/>
          <p:nvPr/>
        </p:nvSpPr>
        <p:spPr>
          <a:xfrm>
            <a:off x="713232" y="5724144"/>
            <a:ext cx="3136391" cy="164592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op"/>
          <a:lstStyle/>
          <a:p algn="c">
            <a:pPr algn="c" lvl="0"/>
            <a:r>
              <a:rPr lang="zh-CN" sz="900" b="1" typeface="Microsoft YaHei">
                <a:solidFill>
                  <a:srgbClr val="0C1830"/>
                </a:solidFill>
                <a:latin typeface="Microsoft YaHei"/>
                <a:ea typeface="Microsoft YaHei"/>
              </a:rPr>
              <a:t>评分维度：Skill 工程体系与生态复用 · 25%</a:t>
            </a:r>
            <a:endParaRPr lang="zh-CN" sz="9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ns2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 3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6B8AE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Shape 4"/>
          <p:cNvSpPr/>
          <p:nvPr/>
        </p:nvSpPr>
        <p:spPr>
          <a:xfrm>
            <a:off x="9692640" y="128016"/>
            <a:ext cx="2499055" cy="45720"/>
          </a:xfrm>
          <a:prstGeom prst="rect">
            <a:avLst/>
          </a:prstGeom>
          <a:solidFill>
            <a:srgbClr val="C9F36A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Text 5"/>
          <p:cNvSpPr txBox="1"/>
          <p:nvPr/>
        </p:nvSpPr>
        <p:spPr>
          <a:xfrm>
            <a:off x="594360" y="320040"/>
            <a:ext cx="6858000" cy="27432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op"/>
          <a:lstStyle/>
          <a:p algn="l">
            <a:pPr algn="l" lvl="0"/>
            <a:r>
              <a:rPr lang="zh-CN" sz="1100" b="1" typeface="Microsoft YaHei">
                <a:solidFill>
                  <a:srgbClr val="5E6E85"/>
                </a:solidFill>
                <a:latin typeface="Microsoft YaHei"/>
                <a:ea typeface="Microsoft YaHei"/>
              </a:rPr>
              <a:t>第四章 · Skill 契约</a:t>
            </a:r>
            <a:endParaRPr lang="zh-CN" sz="1100"/>
          </a:p>
        </p:txBody>
      </p:sp>
      <p:sp>
        <p:nvSpPr>
          <p:cNvPr id="6" name="Text 6"/>
          <p:cNvSpPr txBox="1"/>
          <p:nvPr/>
        </p:nvSpPr>
        <p:spPr>
          <a:xfrm>
            <a:off x="594360" y="658368"/>
            <a:ext cx="10515600" cy="59436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op"/>
          <a:lstStyle/>
          <a:p algn="l">
            <a:pPr algn="l" lvl="0"/>
            <a:r>
              <a:rPr lang="zh-CN" sz="2500" b="1" typeface="Microsoft YaHei">
                <a:solidFill>
                  <a:srgbClr val="16253D"/>
                </a:solidFill>
                <a:latin typeface="Microsoft YaHei"/>
                <a:ea typeface="Microsoft YaHei"/>
              </a:rPr>
              <a:t>从一次调用到可治理的生命周期</a:t>
            </a:r>
            <a:endParaRPr lang="zh-CN" sz="2500"/>
          </a:p>
        </p:txBody>
      </p:sp>
      <p:sp>
        <p:nvSpPr>
          <p:cNvPr id="7" name="Text 7"/>
          <p:cNvSpPr txBox="1"/>
          <p:nvPr/>
        </p:nvSpPr>
        <p:spPr>
          <a:xfrm>
            <a:off x="11064240" y="6291072"/>
            <a:ext cx="502920" cy="256032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op"/>
          <a:lstStyle/>
          <a:p algn="r">
            <a:pPr algn="r" lvl="0"/>
            <a:r>
              <a:rPr lang="zh-CN" sz="900" b="1" typeface="Microsoft YaHei">
                <a:solidFill>
                  <a:srgbClr val="5E6E85"/>
                </a:solidFill>
                <a:latin typeface="Microsoft YaHei"/>
                <a:ea typeface="Microsoft YaHei"/>
              </a:rPr>
              <a:t>11</a:t>
            </a:r>
            <a:endParaRPr lang="zh-CN" sz="900"/>
          </a:p>
        </p:txBody>
      </p:sp>
      <p:pic>
        <p:nvPicPr>
          <p:cNvPr id="8" name="AI Studio Skill Invocation"/>
          <p:cNvPicPr>
            <a:picLocks noChangeAspect="1"/>
          </p:cNvPicPr>
          <p:nvPr/>
        </p:nvPicPr>
        <p:blipFill>
          <a:blip ns2:embed="rId1"/>
          <a:stretch>
            <a:fillRect/>
          </a:stretch>
        </p:blipFill>
        <p:spPr>
          <a:xfrm>
            <a:off x="658368" y="1417320"/>
            <a:ext cx="6903720" cy="4480560"/>
          </a:xfrm>
          <a:prstGeom prst="roundRect">
            <a:avLst/>
          </a:prstGeom>
          <a:ln w="19050">
            <a:solidFill>
              <a:srgbClr val="D5E0ED"/>
            </a:solidFill>
          </a:ln>
        </p:spPr>
      </p:pic>
      <p:sp>
        <p:nvSpPr>
          <p:cNvPr id="9" name="Shape 9"/>
          <p:cNvSpPr/>
          <p:nvPr/>
        </p:nvSpPr>
        <p:spPr>
          <a:xfrm>
            <a:off x="7818120" y="1417320"/>
            <a:ext cx="370332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F1"/>
            </a:solidFill>
          </a:ln>
        </p:spPr>
        <p:txBody>
          <a:bodyPr/>
          <a:lstStyle/>
          <a:p/>
        </p:txBody>
      </p:sp>
      <p:sp>
        <p:nvSpPr>
          <p:cNvPr id="10" name="Shape 10"/>
          <p:cNvSpPr/>
          <p:nvPr/>
        </p:nvSpPr>
        <p:spPr>
          <a:xfrm>
            <a:off x="7818120" y="1417320"/>
            <a:ext cx="73152" cy="841248"/>
          </a:xfrm>
          <a:prstGeom prst="roundRect">
            <a:avLst/>
          </a:prstGeom>
          <a:solidFill>
            <a:srgbClr val="4E7CF4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Text 11"/>
          <p:cNvSpPr txBox="1"/>
          <p:nvPr/>
        </p:nvSpPr>
        <p:spPr>
          <a:xfrm>
            <a:off x="8037576" y="1581912"/>
            <a:ext cx="3337560" cy="310896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op"/>
          <a:lstStyle/>
          <a:p algn="l">
            <a:pPr algn="l" lvl="0"/>
            <a:r>
              <a:rPr lang="zh-CN" sz="1400" b="1" typeface="Microsoft YaHei">
                <a:solidFill>
                  <a:srgbClr val="16253D"/>
                </a:solidFill>
                <a:latin typeface="Microsoft YaHei"/>
                <a:ea typeface="Microsoft YaHei"/>
              </a:rPr>
              <a:t>输入</a:t>
            </a:r>
            <a:endParaRPr lang="zh-CN" sz="1400"/>
          </a:p>
        </p:txBody>
      </p:sp>
      <p:sp>
        <p:nvSpPr>
          <p:cNvPr id="12" name="Text 12"/>
          <p:cNvSpPr txBox="1"/>
          <p:nvPr/>
        </p:nvSpPr>
        <p:spPr>
          <a:xfrm>
            <a:off x="8037576" y="1993392"/>
            <a:ext cx="3291839" cy="155448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op"/>
          <a:lstStyle/>
          <a:p algn="l">
            <a:pPr algn="l" lvl="0"/>
            <a:r>
              <a:rPr lang="zh-CN" sz="1040" b="0" typeface="Microsoft YaHei">
                <a:solidFill>
                  <a:srgbClr val="5E6E85"/>
                </a:solidFill>
                <a:latin typeface="Microsoft YaHei"/>
                <a:ea typeface="Microsoft YaHei"/>
              </a:rPr>
              <a:t>参数 schema</a:t>
            </a:r>
            <a:endParaRPr lang="zh-CN" sz="1040"/>
          </a:p>
          <a:p algn="l">
            <a:pPr algn="l" lvl="0"/>
            <a:r>
              <a:rPr lang="zh-CN" sz="1040" b="0" typeface="Microsoft YaHei">
                <a:solidFill>
                  <a:srgbClr val="5E6E85"/>
                </a:solidFill>
                <a:latin typeface="Microsoft YaHei"/>
                <a:ea typeface="Microsoft YaHei"/>
              </a:rPr>
              <a:t>权限上下文</a:t>
            </a:r>
            <a:endParaRPr lang="zh-CN" sz="1040"/>
          </a:p>
        </p:txBody>
      </p:sp>
      <p:sp>
        <p:nvSpPr>
          <p:cNvPr id="13" name="Shape 13"/>
          <p:cNvSpPr/>
          <p:nvPr/>
        </p:nvSpPr>
        <p:spPr>
          <a:xfrm>
            <a:off x="7818120" y="2496312"/>
            <a:ext cx="370332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F1"/>
            </a:solidFill>
          </a:ln>
        </p:spPr>
        <p:txBody>
          <a:bodyPr/>
          <a:lstStyle/>
          <a:p/>
        </p:txBody>
      </p:sp>
      <p:sp>
        <p:nvSpPr>
          <p:cNvPr id="14" name="Shape 14"/>
          <p:cNvSpPr/>
          <p:nvPr/>
        </p:nvSpPr>
        <p:spPr>
          <a:xfrm>
            <a:off x="7818120" y="2496312"/>
            <a:ext cx="73152" cy="841248"/>
          </a:xfrm>
          <a:prstGeom prst="roundRect">
            <a:avLst/>
          </a:prstGeom>
          <a:solidFill>
            <a:srgbClr val="16B8AE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Text 15"/>
          <p:cNvSpPr txBox="1"/>
          <p:nvPr/>
        </p:nvSpPr>
        <p:spPr>
          <a:xfrm>
            <a:off x="8037576" y="2660904"/>
            <a:ext cx="3337560" cy="310896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op"/>
          <a:lstStyle/>
          <a:p algn="l">
            <a:pPr algn="l" lvl="0"/>
            <a:r>
              <a:rPr lang="zh-CN" sz="1400" b="1" typeface="Microsoft YaHei">
                <a:solidFill>
                  <a:srgbClr val="16253D"/>
                </a:solidFill>
                <a:latin typeface="Microsoft YaHei"/>
                <a:ea typeface="Microsoft YaHei"/>
              </a:rPr>
              <a:t>执行</a:t>
            </a:r>
            <a:endParaRPr lang="zh-CN" sz="1400"/>
          </a:p>
        </p:txBody>
      </p:sp>
      <p:sp>
        <p:nvSpPr>
          <p:cNvPr id="16" name="Text 16"/>
          <p:cNvSpPr txBox="1"/>
          <p:nvPr/>
        </p:nvSpPr>
        <p:spPr>
          <a:xfrm>
            <a:off x="8037576" y="3072384"/>
            <a:ext cx="3291839" cy="155448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op"/>
          <a:lstStyle/>
          <a:p algn="l">
            <a:pPr algn="l" lvl="0"/>
            <a:r>
              <a:rPr lang="zh-CN" sz="1040" b="0" typeface="Microsoft YaHei">
                <a:solidFill>
                  <a:srgbClr val="5E6E85"/>
                </a:solidFill>
                <a:latin typeface="Microsoft YaHei"/>
                <a:ea typeface="Microsoft YaHei"/>
              </a:rPr>
              <a:t>allowlist</a:t>
            </a:r>
            <a:endParaRPr lang="zh-CN" sz="1040"/>
          </a:p>
          <a:p algn="l">
            <a:pPr algn="l" lvl="0"/>
            <a:r>
              <a:rPr lang="zh-CN" sz="1040" b="0" typeface="Microsoft YaHei">
                <a:solidFill>
                  <a:srgbClr val="5E6E85"/>
                </a:solidFill>
                <a:latin typeface="Microsoft YaHei"/>
                <a:ea typeface="Microsoft YaHei"/>
              </a:rPr>
              <a:t>审批与幂等</a:t>
            </a:r>
            <a:endParaRPr lang="zh-CN" sz="1040"/>
          </a:p>
        </p:txBody>
      </p:sp>
      <p:sp>
        <p:nvSpPr>
          <p:cNvPr id="17" name="Shape 17"/>
          <p:cNvSpPr/>
          <p:nvPr/>
        </p:nvSpPr>
        <p:spPr>
          <a:xfrm>
            <a:off x="7818120" y="3575304"/>
            <a:ext cx="370332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F1"/>
            </a:solidFill>
          </a:ln>
        </p:spPr>
        <p:txBody>
          <a:bodyPr/>
          <a:lstStyle/>
          <a:p/>
        </p:txBody>
      </p:sp>
      <p:sp>
        <p:nvSpPr>
          <p:cNvPr id="18" name="Shape 18"/>
          <p:cNvSpPr/>
          <p:nvPr/>
        </p:nvSpPr>
        <p:spPr>
          <a:xfrm>
            <a:off x="7818120" y="3575304"/>
            <a:ext cx="73152" cy="841248"/>
          </a:xfrm>
          <a:prstGeom prst="roundRect">
            <a:avLst/>
          </a:prstGeom>
          <a:solidFill>
            <a:srgbClr val="FFAA5B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Text 19"/>
          <p:cNvSpPr txBox="1"/>
          <p:nvPr/>
        </p:nvSpPr>
        <p:spPr>
          <a:xfrm>
            <a:off x="8037576" y="3739896"/>
            <a:ext cx="3337560" cy="310896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op"/>
          <a:lstStyle/>
          <a:p algn="l">
            <a:pPr algn="l" lvl="0"/>
            <a:r>
              <a:rPr lang="zh-CN" sz="1400" b="1" typeface="Microsoft YaHei">
                <a:solidFill>
                  <a:srgbClr val="16253D"/>
                </a:solidFill>
                <a:latin typeface="Microsoft YaHei"/>
                <a:ea typeface="Microsoft YaHei"/>
              </a:rPr>
              <a:t>输出</a:t>
            </a:r>
            <a:endParaRPr lang="zh-CN" sz="1400"/>
          </a:p>
        </p:txBody>
      </p:sp>
      <p:sp>
        <p:nvSpPr>
          <p:cNvPr id="20" name="Text 20"/>
          <p:cNvSpPr txBox="1"/>
          <p:nvPr/>
        </p:nvSpPr>
        <p:spPr>
          <a:xfrm>
            <a:off x="8037576" y="4151376"/>
            <a:ext cx="3291839" cy="155448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op"/>
          <a:lstStyle/>
          <a:p algn="l">
            <a:pPr algn="l" lvl="0"/>
            <a:r>
              <a:rPr lang="zh-CN" sz="1040" b="0" typeface="Microsoft YaHei">
                <a:solidFill>
                  <a:srgbClr val="5E6E85"/>
                </a:solidFill>
                <a:latin typeface="Microsoft YaHei"/>
                <a:ea typeface="Microsoft YaHei"/>
              </a:rPr>
              <a:t>结构化结果</a:t>
            </a:r>
            <a:endParaRPr lang="zh-CN" sz="1040"/>
          </a:p>
          <a:p algn="l">
            <a:pPr algn="l" lvl="0"/>
            <a:r>
              <a:rPr lang="zh-CN" sz="1040" b="0" typeface="Microsoft YaHei">
                <a:solidFill>
                  <a:srgbClr val="5E6E85"/>
                </a:solidFill>
                <a:latin typeface="Microsoft YaHei"/>
                <a:ea typeface="Microsoft YaHei"/>
              </a:rPr>
              <a:t>Artifact 引用</a:t>
            </a:r>
            <a:endParaRPr lang="zh-CN" sz="1040"/>
          </a:p>
        </p:txBody>
      </p:sp>
      <p:sp>
        <p:nvSpPr>
          <p:cNvPr id="21" name="Shape 21"/>
          <p:cNvSpPr/>
          <p:nvPr/>
        </p:nvSpPr>
        <p:spPr>
          <a:xfrm>
            <a:off x="7818120" y="4654296"/>
            <a:ext cx="370332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F1"/>
            </a:solidFill>
          </a:ln>
        </p:spPr>
        <p:txBody>
          <a:bodyPr/>
          <a:lstStyle/>
          <a:p/>
        </p:txBody>
      </p:sp>
      <p:sp>
        <p:nvSpPr>
          <p:cNvPr id="22" name="Shape 22"/>
          <p:cNvSpPr/>
          <p:nvPr/>
        </p:nvSpPr>
        <p:spPr>
          <a:xfrm>
            <a:off x="7818120" y="4654296"/>
            <a:ext cx="73152" cy="841248"/>
          </a:xfrm>
          <a:prstGeom prst="roundRect">
            <a:avLst/>
          </a:prstGeom>
          <a:solidFill>
            <a:srgbClr val="C9F36A"/>
          </a:solidFill>
          <a:ln>
            <a:noFill/>
          </a:ln>
        </p:spPr>
        <p:txBody>
          <a:bodyPr/>
          <a:lstStyle/>
          <a:p/>
        </p:txBody>
      </p:sp>
      <p:sp>
        <p:nvSpPr>
          <p:cNvPr id="23" name="Text 23"/>
          <p:cNvSpPr txBox="1"/>
          <p:nvPr/>
        </p:nvSpPr>
        <p:spPr>
          <a:xfrm>
            <a:off x="8037576" y="4818888"/>
            <a:ext cx="3337560" cy="310896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op"/>
          <a:lstStyle/>
          <a:p algn="l">
            <a:pPr algn="l" lvl="0"/>
            <a:r>
              <a:rPr lang="zh-CN" sz="1400" b="1" typeface="Microsoft YaHei">
                <a:solidFill>
                  <a:srgbClr val="16253D"/>
                </a:solidFill>
                <a:latin typeface="Microsoft YaHei"/>
                <a:ea typeface="Microsoft YaHei"/>
              </a:rPr>
              <a:t>治理</a:t>
            </a:r>
            <a:endParaRPr lang="zh-CN" sz="1400"/>
          </a:p>
        </p:txBody>
      </p:sp>
      <p:sp>
        <p:nvSpPr>
          <p:cNvPr id="24" name="Text 24"/>
          <p:cNvSpPr txBox="1"/>
          <p:nvPr/>
        </p:nvSpPr>
        <p:spPr>
          <a:xfrm>
            <a:off x="8037576" y="5230368"/>
            <a:ext cx="3291839" cy="155448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op"/>
          <a:lstStyle/>
          <a:p algn="l">
            <a:pPr algn="l" lvl="0"/>
            <a:r>
              <a:rPr lang="zh-CN" sz="1040" b="0" typeface="Microsoft YaHei">
                <a:solidFill>
                  <a:srgbClr val="5E6E85"/>
                </a:solidFill>
                <a:latin typeface="Microsoft YaHei"/>
                <a:ea typeface="Microsoft YaHei"/>
              </a:rPr>
              <a:t>版本 / 测试</a:t>
            </a:r>
            <a:endParaRPr lang="zh-CN" sz="1040"/>
          </a:p>
          <a:p algn="l">
            <a:pPr algn="l" lvl="0"/>
            <a:r>
              <a:rPr lang="zh-CN" sz="1040" b="0" typeface="Microsoft YaHei">
                <a:solidFill>
                  <a:srgbClr val="5E6E85"/>
                </a:solidFill>
                <a:latin typeface="Microsoft YaHei"/>
                <a:ea typeface="Microsoft YaHei"/>
              </a:rPr>
              <a:t>灰度与回滚</a:t>
            </a:r>
            <a:endParaRPr lang="zh-CN" sz="1040"/>
          </a:p>
        </p:txBody>
      </p:sp>
      <p:sp>
        <p:nvSpPr>
          <p:cNvPr id="25" name="Text 25"/>
          <p:cNvSpPr txBox="1"/>
          <p:nvPr/>
        </p:nvSpPr>
        <p:spPr>
          <a:xfrm>
            <a:off x="914400" y="5943600"/>
            <a:ext cx="6400800" cy="18288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op"/>
          <a:lstStyle/>
          <a:p algn="c">
            <a:pPr algn="c" lvl="0"/>
            <a:r>
              <a:rPr lang="zh-CN" sz="1019" b="0" typeface="Microsoft YaHei">
                <a:solidFill>
                  <a:srgbClr val="5E6E85"/>
                </a:solidFill>
                <a:latin typeface="Microsoft YaHei"/>
                <a:ea typeface="Microsoft YaHei"/>
              </a:rPr>
              <a:t>图：AI Studio 中真实的工具调用与结果回传</a:t>
            </a:r>
            <a:endParaRPr lang="zh-CN" sz="1019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83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 3"/>
          <p:cNvSpPr/>
          <p:nvPr/>
        </p:nvSpPr>
        <p:spPr>
          <a:xfrm>
            <a:off x="8961120" y="-640080"/>
            <a:ext cx="3931920" cy="3931920"/>
          </a:xfrm>
          <a:prstGeom prst="rect">
            <a:avLst/>
          </a:prstGeom>
          <a:solidFill>
            <a:srgbClr val="16B8AE">
              <a:alpha val="16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Shape 4"/>
          <p:cNvSpPr/>
          <p:nvPr/>
        </p:nvSpPr>
        <p:spPr>
          <a:xfrm>
            <a:off x="-1005840" y="4754880"/>
            <a:ext cx="2743200" cy="2743200"/>
          </a:xfrm>
          <a:prstGeom prst="rect">
            <a:avLst/>
          </a:prstGeom>
          <a:solidFill>
            <a:srgbClr val="4E7CF4">
              <a:alpha val="20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Text 5"/>
          <p:cNvSpPr txBox="1"/>
          <p:nvPr/>
        </p:nvSpPr>
        <p:spPr>
          <a:xfrm>
            <a:off x="594360" y="320040"/>
            <a:ext cx="6858000" cy="27432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op"/>
          <a:lstStyle/>
          <a:p algn="l">
            <a:pPr algn="l" lvl="0"/>
            <a:r>
              <a:rPr lang="zh-CN" sz="1100" b="1" typeface="Microsoft YaHei">
                <a:solidFill>
                  <a:srgbClr val="FFFFFF"/>
                </a:solidFill>
                <a:latin typeface="Microsoft YaHei"/>
                <a:ea typeface="Microsoft YaHei"/>
              </a:rPr>
              <a:t>第五章</a:t>
            </a:r>
            <a:endParaRPr lang="zh-CN" sz="1100"/>
          </a:p>
        </p:txBody>
      </p:sp>
      <p:sp>
        <p:nvSpPr>
          <p:cNvPr id="6" name="Text 6"/>
          <p:cNvSpPr txBox="1"/>
          <p:nvPr/>
        </p:nvSpPr>
        <p:spPr>
          <a:xfrm>
            <a:off x="594360" y="658368"/>
            <a:ext cx="10515600" cy="59436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op"/>
          <a:lstStyle/>
          <a:p algn="l">
            <a:pPr algn="l" lvl="0"/>
            <a:r>
              <a:rPr lang="zh-CN" sz="2500" b="1" typeface="Microsoft YaHei">
                <a:solidFill>
                  <a:srgbClr val="FFFFFF"/>
                </a:solidFill>
                <a:latin typeface="Microsoft YaHei"/>
                <a:ea typeface="Microsoft YaHei"/>
              </a:rPr>
              <a:t>工程落地、运行验证与安全可审计</a:t>
            </a:r>
            <a:endParaRPr lang="zh-CN" sz="2500"/>
          </a:p>
        </p:txBody>
      </p:sp>
      <p:sp>
        <p:nvSpPr>
          <p:cNvPr id="7" name="Text 7"/>
          <p:cNvSpPr txBox="1"/>
          <p:nvPr/>
        </p:nvSpPr>
        <p:spPr>
          <a:xfrm>
            <a:off x="11064240" y="6291072"/>
            <a:ext cx="502920" cy="256032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op"/>
          <a:lstStyle/>
          <a:p algn="r">
            <a:pPr algn="r" lvl="0"/>
            <a:r>
              <a:rPr lang="zh-CN" sz="900" b="1" typeface="Microsoft YaHei">
                <a:solidFill>
                  <a:srgbClr val="B4C0D0"/>
                </a:solidFill>
                <a:latin typeface="Microsoft YaHei"/>
                <a:ea typeface="Microsoft YaHei"/>
              </a:rPr>
              <a:t>12</a:t>
            </a:r>
            <a:endParaRPr lang="zh-CN" sz="900"/>
          </a:p>
        </p:txBody>
      </p:sp>
      <p:sp>
        <p:nvSpPr>
          <p:cNvPr id="8" name="Text 8"/>
          <p:cNvSpPr txBox="1"/>
          <p:nvPr/>
        </p:nvSpPr>
        <p:spPr>
          <a:xfrm>
            <a:off x="640080" y="1417320"/>
            <a:ext cx="9875520" cy="329184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op"/>
          <a:lstStyle/>
          <a:p algn="l">
            <a:pPr algn="l" lvl="0"/>
            <a:r>
              <a:rPr lang="zh-CN" sz="1500" b="0" typeface="Microsoft YaHei">
                <a:solidFill>
                  <a:srgbClr val="D7E5F5"/>
                </a:solidFill>
                <a:latin typeface="Microsoft YaHei"/>
                <a:ea typeface="Microsoft YaHei"/>
              </a:rPr>
              <a:t>工程重点是“每个动作可控制、每条链路可验证、每项结果可解释”。</a:t>
            </a:r>
            <a:endParaRPr lang="zh-CN" sz="1500"/>
          </a:p>
        </p:txBody>
      </p:sp>
      <p:sp>
        <p:nvSpPr>
          <p:cNvPr id="9" name="Shape 9"/>
          <p:cNvSpPr/>
          <p:nvPr/>
        </p:nvSpPr>
        <p:spPr>
          <a:xfrm>
            <a:off x="658368" y="2057400"/>
            <a:ext cx="297180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F1"/>
            </a:solidFill>
          </a:ln>
        </p:spPr>
        <p:txBody>
          <a:bodyPr/>
          <a:lstStyle/>
          <a:p/>
        </p:txBody>
      </p:sp>
      <p:sp>
        <p:nvSpPr>
          <p:cNvPr id="10" name="Shape 10"/>
          <p:cNvSpPr/>
          <p:nvPr/>
        </p:nvSpPr>
        <p:spPr>
          <a:xfrm>
            <a:off x="658368" y="2057400"/>
            <a:ext cx="73152" cy="1508760"/>
          </a:xfrm>
          <a:prstGeom prst="roundRect">
            <a:avLst/>
          </a:prstGeom>
          <a:solidFill>
            <a:srgbClr val="4E7CF4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Text 11"/>
          <p:cNvSpPr txBox="1"/>
          <p:nvPr/>
        </p:nvSpPr>
        <p:spPr>
          <a:xfrm>
            <a:off x="877824" y="2221992"/>
            <a:ext cx="2606040" cy="310896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op"/>
          <a:lstStyle/>
          <a:p algn="l">
            <a:pPr algn="l" lvl="0"/>
            <a:r>
              <a:rPr lang="zh-CN" sz="1400" b="1" typeface="Microsoft YaHei">
                <a:solidFill>
                  <a:srgbClr val="16253D"/>
                </a:solidFill>
                <a:latin typeface="Microsoft YaHei"/>
                <a:ea typeface="Microsoft YaHei"/>
              </a:rPr>
              <a:t>可运行底座</a:t>
            </a:r>
            <a:endParaRPr lang="zh-CN" sz="1400"/>
          </a:p>
        </p:txBody>
      </p:sp>
      <p:sp>
        <p:nvSpPr>
          <p:cNvPr id="12" name="Text 12"/>
          <p:cNvSpPr txBox="1"/>
          <p:nvPr/>
        </p:nvSpPr>
        <p:spPr>
          <a:xfrm>
            <a:off x="877824" y="2633472"/>
            <a:ext cx="2560320" cy="822959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op"/>
          <a:lstStyle/>
          <a:p algn="l">
            <a:pPr algn="l" lvl="0"/>
            <a:r>
              <a:rPr lang="zh-CN" sz="1080" b="0" typeface="Microsoft YaHei">
                <a:solidFill>
                  <a:srgbClr val="5E6E85"/>
                </a:solidFill>
                <a:latin typeface="Microsoft YaHei"/>
                <a:ea typeface="Microsoft YaHei"/>
              </a:rPr>
              <a:t>FastAPI / PostgreSQL / Redis / Celery</a:t>
            </a:r>
            <a:endParaRPr lang="zh-CN" sz="1080"/>
          </a:p>
          <a:p algn="l">
            <a:pPr algn="l" lvl="0"/>
            <a:r>
              <a:rPr lang="zh-CN" sz="1080" b="0" typeface="Microsoft YaHei">
                <a:solidFill>
                  <a:srgbClr val="5E6E85"/>
                </a:solidFill>
                <a:latin typeface="Microsoft YaHei"/>
                <a:ea typeface="Microsoft YaHei"/>
              </a:rPr>
              <a:t>Vue 3 / Snakemake / Docker Compose</a:t>
            </a:r>
            <a:endParaRPr lang="zh-CN" sz="1080"/>
          </a:p>
        </p:txBody>
      </p:sp>
      <p:sp>
        <p:nvSpPr>
          <p:cNvPr id="13" name="Shape 13"/>
          <p:cNvSpPr/>
          <p:nvPr/>
        </p:nvSpPr>
        <p:spPr>
          <a:xfrm>
            <a:off x="4133087" y="2057400"/>
            <a:ext cx="297180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F1"/>
            </a:solidFill>
          </a:ln>
        </p:spPr>
        <p:txBody>
          <a:bodyPr/>
          <a:lstStyle/>
          <a:p/>
        </p:txBody>
      </p:sp>
      <p:sp>
        <p:nvSpPr>
          <p:cNvPr id="14" name="Shape 14"/>
          <p:cNvSpPr/>
          <p:nvPr/>
        </p:nvSpPr>
        <p:spPr>
          <a:xfrm>
            <a:off x="4133087" y="2057400"/>
            <a:ext cx="73152" cy="1508760"/>
          </a:xfrm>
          <a:prstGeom prst="roundRect">
            <a:avLst/>
          </a:prstGeom>
          <a:solidFill>
            <a:srgbClr val="16B8AE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Text 15"/>
          <p:cNvSpPr txBox="1"/>
          <p:nvPr/>
        </p:nvSpPr>
        <p:spPr>
          <a:xfrm>
            <a:off x="4352544" y="2221992"/>
            <a:ext cx="2606040" cy="310896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op"/>
          <a:lstStyle/>
          <a:p algn="l">
            <a:pPr algn="l" lvl="0"/>
            <a:r>
              <a:rPr lang="zh-CN" sz="1400" b="1" typeface="Microsoft YaHei">
                <a:solidFill>
                  <a:srgbClr val="16253D"/>
                </a:solidFill>
                <a:latin typeface="Microsoft YaHei"/>
                <a:ea typeface="Microsoft YaHei"/>
              </a:rPr>
              <a:t>协同与执行</a:t>
            </a:r>
            <a:endParaRPr lang="zh-CN" sz="1400"/>
          </a:p>
        </p:txBody>
      </p:sp>
      <p:sp>
        <p:nvSpPr>
          <p:cNvPr id="16" name="Text 16"/>
          <p:cNvSpPr txBox="1"/>
          <p:nvPr/>
        </p:nvSpPr>
        <p:spPr>
          <a:xfrm>
            <a:off x="4352544" y="2633472"/>
            <a:ext cx="2560320" cy="822959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op"/>
          <a:lstStyle/>
          <a:p algn="l">
            <a:pPr algn="l" lvl="0"/>
            <a:r>
              <a:rPr lang="zh-CN" sz="1080" b="0" typeface="Microsoft YaHei">
                <a:solidFill>
                  <a:srgbClr val="5E6E85"/>
                </a:solidFill>
                <a:latin typeface="Microsoft YaHei"/>
                <a:ea typeface="Microsoft YaHei"/>
              </a:rPr>
              <a:t>AgentTeams Bridge + OmicHub MAS</a:t>
            </a:r>
            <a:endParaRPr lang="zh-CN" sz="1080"/>
          </a:p>
          <a:p algn="l">
            <a:pPr algn="l" lvl="0"/>
            <a:r>
              <a:rPr lang="zh-CN" sz="1080" b="0" typeface="Microsoft YaHei">
                <a:solidFill>
                  <a:srgbClr val="5E6E85"/>
                </a:solidFill>
                <a:latin typeface="Microsoft YaHei"/>
                <a:ea typeface="Microsoft YaHei"/>
              </a:rPr>
              <a:t>独立 Worker 计算面与流程 YAML</a:t>
            </a:r>
            <a:endParaRPr lang="zh-CN" sz="1080"/>
          </a:p>
        </p:txBody>
      </p:sp>
      <p:sp>
        <p:nvSpPr>
          <p:cNvPr id="17" name="Shape 17"/>
          <p:cNvSpPr/>
          <p:nvPr/>
        </p:nvSpPr>
        <p:spPr>
          <a:xfrm>
            <a:off x="7607808" y="2057400"/>
            <a:ext cx="297180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F1"/>
            </a:solidFill>
          </a:ln>
        </p:spPr>
        <p:txBody>
          <a:bodyPr/>
          <a:lstStyle/>
          <a:p/>
        </p:txBody>
      </p:sp>
      <p:sp>
        <p:nvSpPr>
          <p:cNvPr id="18" name="Shape 18"/>
          <p:cNvSpPr/>
          <p:nvPr/>
        </p:nvSpPr>
        <p:spPr>
          <a:xfrm>
            <a:off x="7607808" y="2057400"/>
            <a:ext cx="73152" cy="1508760"/>
          </a:xfrm>
          <a:prstGeom prst="roundRect">
            <a:avLst/>
          </a:prstGeom>
          <a:solidFill>
            <a:srgbClr val="FFAA5B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Text 19"/>
          <p:cNvSpPr txBox="1"/>
          <p:nvPr/>
        </p:nvSpPr>
        <p:spPr>
          <a:xfrm>
            <a:off x="7827264" y="2221992"/>
            <a:ext cx="2606040" cy="310896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op"/>
          <a:lstStyle/>
          <a:p algn="l">
            <a:pPr algn="l" lvl="0"/>
            <a:r>
              <a:rPr lang="zh-CN" sz="1400" b="1" typeface="Microsoft YaHei">
                <a:solidFill>
                  <a:srgbClr val="16253D"/>
                </a:solidFill>
                <a:latin typeface="Microsoft YaHei"/>
                <a:ea typeface="Microsoft YaHei"/>
              </a:rPr>
              <a:t>审计与证据</a:t>
            </a:r>
            <a:endParaRPr lang="zh-CN" sz="1400"/>
          </a:p>
        </p:txBody>
      </p:sp>
      <p:sp>
        <p:nvSpPr>
          <p:cNvPr id="20" name="Text 20"/>
          <p:cNvSpPr txBox="1"/>
          <p:nvPr/>
        </p:nvSpPr>
        <p:spPr>
          <a:xfrm>
            <a:off x="7827264" y="2633472"/>
            <a:ext cx="2560320" cy="822959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op"/>
          <a:lstStyle/>
          <a:p algn="l">
            <a:pPr algn="l" lvl="0"/>
            <a:r>
              <a:rPr lang="zh-CN" sz="1080" b="0" typeface="Microsoft YaHei">
                <a:solidFill>
                  <a:srgbClr val="5E6E85"/>
                </a:solidFill>
                <a:latin typeface="Microsoft YaHei"/>
                <a:ea typeface="Microsoft YaHei"/>
              </a:rPr>
              <a:t>Case、Artifact、Outbox、Trace</a:t>
            </a:r>
            <a:endParaRPr lang="zh-CN" sz="1080"/>
          </a:p>
          <a:p algn="l">
            <a:pPr algn="l" lvl="0"/>
            <a:r>
              <a:rPr lang="zh-CN" sz="1080" b="0" typeface="Microsoft YaHei">
                <a:solidFill>
                  <a:srgbClr val="5E6E85"/>
                </a:solidFill>
                <a:latin typeface="Microsoft YaHei"/>
                <a:ea typeface="Microsoft YaHei"/>
              </a:rPr>
              <a:t>Delivery Manifest 与 Evidence Event</a:t>
            </a:r>
            <a:endParaRPr lang="zh-CN" sz="1080"/>
          </a:p>
        </p:txBody>
      </p:sp>
      <p:sp>
        <p:nvSpPr>
          <p:cNvPr id="21" name="Shape 21"/>
          <p:cNvSpPr/>
          <p:nvPr/>
        </p:nvSpPr>
        <p:spPr>
          <a:xfrm>
            <a:off x="2395728" y="4224528"/>
            <a:ext cx="297180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F1"/>
            </a:solidFill>
          </a:ln>
        </p:spPr>
        <p:txBody>
          <a:bodyPr/>
          <a:lstStyle/>
          <a:p/>
        </p:txBody>
      </p:sp>
      <p:sp>
        <p:nvSpPr>
          <p:cNvPr id="22" name="Shape 22"/>
          <p:cNvSpPr/>
          <p:nvPr/>
        </p:nvSpPr>
        <p:spPr>
          <a:xfrm>
            <a:off x="2395728" y="4224528"/>
            <a:ext cx="73152" cy="1508760"/>
          </a:xfrm>
          <a:prstGeom prst="roundRect">
            <a:avLst/>
          </a:prstGeom>
          <a:solidFill>
            <a:srgbClr val="C9F36A"/>
          </a:solidFill>
          <a:ln>
            <a:noFill/>
          </a:ln>
        </p:spPr>
        <p:txBody>
          <a:bodyPr/>
          <a:lstStyle/>
          <a:p/>
        </p:txBody>
      </p:sp>
      <p:sp>
        <p:nvSpPr>
          <p:cNvPr id="23" name="Text 23"/>
          <p:cNvSpPr txBox="1"/>
          <p:nvPr/>
        </p:nvSpPr>
        <p:spPr>
          <a:xfrm>
            <a:off x="2615184" y="4389120"/>
            <a:ext cx="2606040" cy="310896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op"/>
          <a:lstStyle/>
          <a:p algn="l">
            <a:pPr algn="l" lvl="0"/>
            <a:r>
              <a:rPr lang="zh-CN" sz="1400" b="1" typeface="Microsoft YaHei">
                <a:solidFill>
                  <a:srgbClr val="16253D"/>
                </a:solidFill>
                <a:latin typeface="Microsoft YaHei"/>
                <a:ea typeface="Microsoft YaHei"/>
              </a:rPr>
              <a:t>安全与治理</a:t>
            </a:r>
            <a:endParaRPr lang="zh-CN" sz="1400"/>
          </a:p>
        </p:txBody>
      </p:sp>
      <p:sp>
        <p:nvSpPr>
          <p:cNvPr id="24" name="Text 24"/>
          <p:cNvSpPr txBox="1"/>
          <p:nvPr/>
        </p:nvSpPr>
        <p:spPr>
          <a:xfrm>
            <a:off x="2615184" y="4800600"/>
            <a:ext cx="2560320" cy="822959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op"/>
          <a:lstStyle/>
          <a:p algn="l">
            <a:pPr algn="l" lvl="0"/>
            <a:r>
              <a:rPr lang="zh-CN" sz="1080" b="0" typeface="Microsoft YaHei">
                <a:solidFill>
                  <a:srgbClr val="5E6E85"/>
                </a:solidFill>
                <a:latin typeface="Microsoft YaHei"/>
                <a:ea typeface="Microsoft YaHei"/>
              </a:rPr>
              <a:t>最小权限、审批、幂等、质量门</a:t>
            </a:r>
            <a:endParaRPr lang="zh-CN" sz="1080"/>
          </a:p>
          <a:p algn="l">
            <a:pPr algn="l" lvl="0"/>
            <a:r>
              <a:rPr lang="zh-CN" sz="1080" b="0" typeface="Microsoft YaHei">
                <a:solidFill>
                  <a:srgbClr val="5E6E85"/>
                </a:solidFill>
                <a:latin typeface="Microsoft YaHei"/>
                <a:ea typeface="Microsoft YaHei"/>
              </a:rPr>
              <a:t>关闭高风险默认能力，支持回滚</a:t>
            </a:r>
            <a:endParaRPr lang="zh-CN" sz="1080"/>
          </a:p>
        </p:txBody>
      </p:sp>
      <p:sp>
        <p:nvSpPr>
          <p:cNvPr id="25" name="Shape 25"/>
          <p:cNvSpPr/>
          <p:nvPr/>
        </p:nvSpPr>
        <p:spPr>
          <a:xfrm>
            <a:off x="5870448" y="4224528"/>
            <a:ext cx="297180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F1"/>
            </a:solidFill>
          </a:ln>
        </p:spPr>
        <p:txBody>
          <a:bodyPr/>
          <a:lstStyle/>
          <a:p/>
        </p:txBody>
      </p:sp>
      <p:sp>
        <p:nvSpPr>
          <p:cNvPr id="26" name="Shape 26"/>
          <p:cNvSpPr/>
          <p:nvPr/>
        </p:nvSpPr>
        <p:spPr>
          <a:xfrm>
            <a:off x="5870448" y="4224528"/>
            <a:ext cx="73152" cy="1508760"/>
          </a:xfrm>
          <a:prstGeom prst="roundRect">
            <a:avLst/>
          </a:prstGeom>
          <a:solidFill>
            <a:srgbClr val="E96673"/>
          </a:solidFill>
          <a:ln>
            <a:noFill/>
          </a:ln>
        </p:spPr>
        <p:txBody>
          <a:bodyPr/>
          <a:lstStyle/>
          <a:p/>
        </p:txBody>
      </p:sp>
      <p:sp>
        <p:nvSpPr>
          <p:cNvPr id="27" name="Text 27"/>
          <p:cNvSpPr txBox="1"/>
          <p:nvPr/>
        </p:nvSpPr>
        <p:spPr>
          <a:xfrm>
            <a:off x="6089904" y="4389120"/>
            <a:ext cx="2606040" cy="310896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op"/>
          <a:lstStyle/>
          <a:p algn="l">
            <a:pPr algn="l" lvl="0"/>
            <a:r>
              <a:rPr lang="zh-CN" sz="1400" b="1" typeface="Microsoft YaHei">
                <a:solidFill>
                  <a:srgbClr val="16253D"/>
                </a:solidFill>
                <a:latin typeface="Microsoft YaHei"/>
                <a:ea typeface="Microsoft YaHei"/>
              </a:rPr>
              <a:t>验证边界</a:t>
            </a:r>
            <a:endParaRPr lang="zh-CN" sz="1400"/>
          </a:p>
        </p:txBody>
      </p:sp>
      <p:sp>
        <p:nvSpPr>
          <p:cNvPr id="28" name="Text 28"/>
          <p:cNvSpPr txBox="1"/>
          <p:nvPr/>
        </p:nvSpPr>
        <p:spPr>
          <a:xfrm>
            <a:off x="6089904" y="4800600"/>
            <a:ext cx="2560320" cy="822959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op"/>
          <a:lstStyle/>
          <a:p algn="l">
            <a:pPr algn="l" lvl="0"/>
            <a:r>
              <a:rPr lang="zh-CN" sz="1080" b="0" typeface="Microsoft YaHei">
                <a:solidFill>
                  <a:srgbClr val="5E6E85"/>
                </a:solidFill>
                <a:latin typeface="Microsoft YaHei"/>
                <a:ea typeface="Microsoft YaHei"/>
              </a:rPr>
              <a:t>单元/契约测试已有基础；真实 RNAFlow、Matrix 等以 staging 部署验收为准。</a:t>
            </a:r>
            <a:endParaRPr lang="zh-CN" sz="1080"/>
          </a:p>
        </p:txBody>
      </p:sp>
      <p:sp>
        <p:nvSpPr>
          <p:cNvPr id="29" name="Shape 29"/>
          <p:cNvSpPr/>
          <p:nvPr/>
        </p:nvSpPr>
        <p:spPr>
          <a:xfrm>
            <a:off x="658368" y="5760720"/>
            <a:ext cx="3154680" cy="274320"/>
          </a:xfrm>
          <a:prstGeom prst="roundRect">
            <a:avLst/>
          </a:prstGeom>
          <a:solidFill>
            <a:srgbClr val="C9F36A"/>
          </a:solidFill>
          <a:ln>
            <a:noFill/>
          </a:ln>
        </p:spPr>
        <p:txBody>
          <a:bodyPr/>
          <a:lstStyle/>
          <a:p/>
        </p:txBody>
      </p:sp>
      <p:sp>
        <p:nvSpPr>
          <p:cNvPr id="30" name="Text 30"/>
          <p:cNvSpPr txBox="1"/>
          <p:nvPr/>
        </p:nvSpPr>
        <p:spPr>
          <a:xfrm>
            <a:off x="713232" y="5797296"/>
            <a:ext cx="3044952" cy="164592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op"/>
          <a:lstStyle/>
          <a:p algn="c">
            <a:pPr algn="c" lvl="0"/>
            <a:r>
              <a:rPr lang="zh-CN" sz="900" b="1" typeface="Microsoft YaHei">
                <a:solidFill>
                  <a:srgbClr val="0C1830"/>
                </a:solidFill>
                <a:latin typeface="Microsoft YaHei"/>
                <a:ea typeface="Microsoft YaHei"/>
              </a:rPr>
              <a:t>评分维度：工程落地与安全可审计 · 20%</a:t>
            </a:r>
            <a:endParaRPr lang="zh-CN" sz="9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ns2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 3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6B8AE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Shape 4"/>
          <p:cNvSpPr/>
          <p:nvPr/>
        </p:nvSpPr>
        <p:spPr>
          <a:xfrm>
            <a:off x="9692640" y="128016"/>
            <a:ext cx="2499055" cy="45720"/>
          </a:xfrm>
          <a:prstGeom prst="rect">
            <a:avLst/>
          </a:prstGeom>
          <a:solidFill>
            <a:srgbClr val="C9F36A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Text 5"/>
          <p:cNvSpPr txBox="1"/>
          <p:nvPr/>
        </p:nvSpPr>
        <p:spPr>
          <a:xfrm>
            <a:off x="594360" y="320040"/>
            <a:ext cx="6858000" cy="27432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op"/>
          <a:lstStyle/>
          <a:p algn="l">
            <a:pPr algn="l" lvl="0"/>
            <a:r>
              <a:rPr lang="zh-CN" sz="1100" b="1" typeface="Microsoft YaHei">
                <a:solidFill>
                  <a:srgbClr val="5E6E85"/>
                </a:solidFill>
                <a:latin typeface="Microsoft YaHei"/>
                <a:ea typeface="Microsoft YaHei"/>
              </a:rPr>
              <a:t>第五章 · 可审计运行</a:t>
            </a:r>
            <a:endParaRPr lang="zh-CN" sz="1100"/>
          </a:p>
        </p:txBody>
      </p:sp>
      <p:sp>
        <p:nvSpPr>
          <p:cNvPr id="6" name="Text 6"/>
          <p:cNvSpPr txBox="1"/>
          <p:nvPr/>
        </p:nvSpPr>
        <p:spPr>
          <a:xfrm>
            <a:off x="594360" y="658368"/>
            <a:ext cx="10515600" cy="59436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op"/>
          <a:lstStyle/>
          <a:p algn="l">
            <a:pPr algn="l" lvl="0"/>
            <a:r>
              <a:rPr lang="zh-CN" sz="2500" b="1" typeface="Microsoft YaHei">
                <a:solidFill>
                  <a:srgbClr val="16253D"/>
                </a:solidFill>
                <a:latin typeface="Microsoft YaHei"/>
                <a:ea typeface="Microsoft YaHei"/>
              </a:rPr>
              <a:t>一条 Case 的最小证据包</a:t>
            </a:r>
            <a:endParaRPr lang="zh-CN" sz="2500"/>
          </a:p>
        </p:txBody>
      </p:sp>
      <p:sp>
        <p:nvSpPr>
          <p:cNvPr id="7" name="Text 7"/>
          <p:cNvSpPr txBox="1"/>
          <p:nvPr/>
        </p:nvSpPr>
        <p:spPr>
          <a:xfrm>
            <a:off x="11064240" y="6291072"/>
            <a:ext cx="502920" cy="256032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op"/>
          <a:lstStyle/>
          <a:p algn="r">
            <a:pPr algn="r" lvl="0"/>
            <a:r>
              <a:rPr lang="zh-CN" sz="900" b="1" typeface="Microsoft YaHei">
                <a:solidFill>
                  <a:srgbClr val="5E6E85"/>
                </a:solidFill>
                <a:latin typeface="Microsoft YaHei"/>
                <a:ea typeface="Microsoft YaHei"/>
              </a:rPr>
              <a:t>13</a:t>
            </a:r>
            <a:endParaRPr lang="zh-CN" sz="900"/>
          </a:p>
        </p:txBody>
      </p:sp>
      <p:sp>
        <p:nvSpPr>
          <p:cNvPr id="8" name="Text 8"/>
          <p:cNvSpPr txBox="1"/>
          <p:nvPr/>
        </p:nvSpPr>
        <p:spPr>
          <a:xfrm>
            <a:off x="640080" y="1298448"/>
            <a:ext cx="10241280" cy="32004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op"/>
          <a:lstStyle/>
          <a:p algn="l">
            <a:pPr algn="l" lvl="0"/>
            <a:r>
              <a:rPr lang="zh-CN" sz="1350" b="0" typeface="Microsoft YaHei">
                <a:solidFill>
                  <a:srgbClr val="5E6E85"/>
                </a:solidFill>
                <a:latin typeface="Microsoft YaHei"/>
                <a:ea typeface="Microsoft YaHei"/>
              </a:rPr>
              <a:t>真实执行界面 + 结构化证据共同证明链路可运行、可复核。</a:t>
            </a:r>
            <a:endParaRPr lang="zh-CN" sz="1350"/>
          </a:p>
        </p:txBody>
      </p:sp>
      <p:pic>
        <p:nvPicPr>
          <p:cNvPr id="9" name="执行计划与子任务"/>
          <p:cNvPicPr>
            <a:picLocks noChangeAspect="1"/>
          </p:cNvPicPr>
          <p:nvPr/>
        </p:nvPicPr>
        <p:blipFill>
          <a:blip ns2:embed="rId1"/>
          <a:stretch>
            <a:fillRect/>
          </a:stretch>
        </p:blipFill>
        <p:spPr>
          <a:xfrm>
            <a:off x="658368" y="1737360"/>
            <a:ext cx="5321808" cy="1783080"/>
          </a:xfrm>
          <a:prstGeom prst="roundRect">
            <a:avLst/>
          </a:prstGeom>
          <a:ln w="19050">
            <a:solidFill>
              <a:srgbClr val="D5E0ED"/>
            </a:solidFill>
          </a:ln>
        </p:spPr>
      </p:pic>
      <p:sp>
        <p:nvSpPr>
          <p:cNvPr id="10" name="Shape 10"/>
          <p:cNvSpPr/>
          <p:nvPr/>
        </p:nvSpPr>
        <p:spPr>
          <a:xfrm>
            <a:off x="768096" y="3154680"/>
            <a:ext cx="1463040" cy="274320"/>
          </a:xfrm>
          <a:prstGeom prst="roundRect">
            <a:avLst/>
          </a:prstGeom>
          <a:solidFill>
            <a:srgbClr val="C9F36A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Text 11"/>
          <p:cNvSpPr txBox="1"/>
          <p:nvPr/>
        </p:nvSpPr>
        <p:spPr>
          <a:xfrm>
            <a:off x="822959" y="3191256"/>
            <a:ext cx="1353312" cy="164592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op"/>
          <a:lstStyle/>
          <a:p algn="c">
            <a:pPr algn="c" lvl="0"/>
            <a:r>
              <a:rPr lang="zh-CN" sz="900" b="1" typeface="Microsoft YaHei">
                <a:solidFill>
                  <a:srgbClr val="0C1830"/>
                </a:solidFill>
                <a:latin typeface="Microsoft YaHei"/>
                <a:ea typeface="Microsoft YaHei"/>
              </a:rPr>
              <a:t>执行计划与子任务</a:t>
            </a:r>
            <a:endParaRPr lang="zh-CN" sz="900"/>
          </a:p>
        </p:txBody>
      </p:sp>
      <p:pic>
        <p:nvPicPr>
          <p:cNvPr id="12" name="工具输出与文件证据"/>
          <p:cNvPicPr>
            <a:picLocks noChangeAspect="1"/>
          </p:cNvPicPr>
          <p:nvPr/>
        </p:nvPicPr>
        <p:blipFill>
          <a:blip ns2:embed="rId2"/>
          <a:stretch>
            <a:fillRect/>
          </a:stretch>
        </p:blipFill>
        <p:spPr>
          <a:xfrm>
            <a:off x="6199632" y="1737360"/>
            <a:ext cx="5321808" cy="1783080"/>
          </a:xfrm>
          <a:prstGeom prst="roundRect">
            <a:avLst/>
          </a:prstGeom>
          <a:ln w="19050">
            <a:solidFill>
              <a:srgbClr val="D5E0ED"/>
            </a:solidFill>
          </a:ln>
        </p:spPr>
      </p:pic>
      <p:sp>
        <p:nvSpPr>
          <p:cNvPr id="13" name="Shape 13"/>
          <p:cNvSpPr/>
          <p:nvPr/>
        </p:nvSpPr>
        <p:spPr>
          <a:xfrm>
            <a:off x="6309360" y="3154680"/>
            <a:ext cx="1463040" cy="274320"/>
          </a:xfrm>
          <a:prstGeom prst="roundRect">
            <a:avLst/>
          </a:prstGeom>
          <a:solidFill>
            <a:srgbClr val="C9F36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 14"/>
          <p:cNvSpPr txBox="1"/>
          <p:nvPr/>
        </p:nvSpPr>
        <p:spPr>
          <a:xfrm>
            <a:off x="6364224" y="3191256"/>
            <a:ext cx="1353312" cy="164592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op"/>
          <a:lstStyle/>
          <a:p algn="c">
            <a:pPr algn="c" lvl="0"/>
            <a:r>
              <a:rPr lang="zh-CN" sz="900" b="1" typeface="Microsoft YaHei">
                <a:solidFill>
                  <a:srgbClr val="0C1830"/>
                </a:solidFill>
                <a:latin typeface="Microsoft YaHei"/>
                <a:ea typeface="Microsoft YaHei"/>
              </a:rPr>
              <a:t>工具输出与文件证据</a:t>
            </a:r>
            <a:endParaRPr lang="zh-CN" sz="900"/>
          </a:p>
        </p:txBody>
      </p:sp>
      <p:pic>
        <p:nvPicPr>
          <p:cNvPr id="15" name="领域分析与判断"/>
          <p:cNvPicPr>
            <a:picLocks noChangeAspect="1"/>
          </p:cNvPicPr>
          <p:nvPr/>
        </p:nvPicPr>
        <p:blipFill>
          <a:blip ns2:embed="rId3"/>
          <a:stretch>
            <a:fillRect/>
          </a:stretch>
        </p:blipFill>
        <p:spPr>
          <a:xfrm>
            <a:off x="658368" y="3886200"/>
            <a:ext cx="5321808" cy="1783080"/>
          </a:xfrm>
          <a:prstGeom prst="roundRect">
            <a:avLst/>
          </a:prstGeom>
          <a:ln w="19050">
            <a:solidFill>
              <a:srgbClr val="D5E0ED"/>
            </a:solidFill>
          </a:ln>
        </p:spPr>
      </p:pic>
      <p:sp>
        <p:nvSpPr>
          <p:cNvPr id="16" name="Shape 16"/>
          <p:cNvSpPr/>
          <p:nvPr/>
        </p:nvSpPr>
        <p:spPr>
          <a:xfrm>
            <a:off x="768096" y="5303520"/>
            <a:ext cx="1463040" cy="274320"/>
          </a:xfrm>
          <a:prstGeom prst="roundRect">
            <a:avLst/>
          </a:prstGeom>
          <a:solidFill>
            <a:srgbClr val="C9F36A"/>
          </a:solidFill>
          <a:ln>
            <a:noFill/>
          </a:ln>
        </p:spPr>
        <p:txBody>
          <a:bodyPr/>
          <a:lstStyle/>
          <a:p/>
        </p:txBody>
      </p:sp>
      <p:sp>
        <p:nvSpPr>
          <p:cNvPr id="17" name="Text 17"/>
          <p:cNvSpPr txBox="1"/>
          <p:nvPr/>
        </p:nvSpPr>
        <p:spPr>
          <a:xfrm>
            <a:off x="822959" y="5340096"/>
            <a:ext cx="1353312" cy="164592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op"/>
          <a:lstStyle/>
          <a:p algn="c">
            <a:pPr algn="c" lvl="0"/>
            <a:r>
              <a:rPr lang="zh-CN" sz="900" b="1" typeface="Microsoft YaHei">
                <a:solidFill>
                  <a:srgbClr val="0C1830"/>
                </a:solidFill>
                <a:latin typeface="Microsoft YaHei"/>
                <a:ea typeface="Microsoft YaHei"/>
              </a:rPr>
              <a:t>领域分析与判断</a:t>
            </a:r>
            <a:endParaRPr lang="zh-CN" sz="900"/>
          </a:p>
        </p:txBody>
      </p:sp>
      <p:pic>
        <p:nvPicPr>
          <p:cNvPr id="18" name="任务状态与运行记录"/>
          <p:cNvPicPr>
            <a:picLocks noChangeAspect="1"/>
          </p:cNvPicPr>
          <p:nvPr/>
        </p:nvPicPr>
        <p:blipFill>
          <a:blip ns2:embed="rId4"/>
          <a:stretch>
            <a:fillRect/>
          </a:stretch>
        </p:blipFill>
        <p:spPr>
          <a:xfrm>
            <a:off x="6199632" y="3886200"/>
            <a:ext cx="5321808" cy="1783080"/>
          </a:xfrm>
          <a:prstGeom prst="roundRect">
            <a:avLst/>
          </a:prstGeom>
          <a:ln w="19050">
            <a:solidFill>
              <a:srgbClr val="D5E0ED"/>
            </a:solidFill>
          </a:ln>
        </p:spPr>
      </p:pic>
      <p:sp>
        <p:nvSpPr>
          <p:cNvPr id="19" name="Shape 19"/>
          <p:cNvSpPr/>
          <p:nvPr/>
        </p:nvSpPr>
        <p:spPr>
          <a:xfrm>
            <a:off x="6309360" y="5303520"/>
            <a:ext cx="1463040" cy="274320"/>
          </a:xfrm>
          <a:prstGeom prst="roundRect">
            <a:avLst/>
          </a:prstGeom>
          <a:solidFill>
            <a:srgbClr val="C9F36A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ext 20"/>
          <p:cNvSpPr txBox="1"/>
          <p:nvPr/>
        </p:nvSpPr>
        <p:spPr>
          <a:xfrm>
            <a:off x="6364224" y="5340096"/>
            <a:ext cx="1353312" cy="164592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op"/>
          <a:lstStyle/>
          <a:p algn="c">
            <a:pPr algn="c" lvl="0"/>
            <a:r>
              <a:rPr lang="zh-CN" sz="900" b="1" typeface="Microsoft YaHei">
                <a:solidFill>
                  <a:srgbClr val="0C1830"/>
                </a:solidFill>
                <a:latin typeface="Microsoft YaHei"/>
                <a:ea typeface="Microsoft YaHei"/>
              </a:rPr>
              <a:t>任务状态与运行记录</a:t>
            </a:r>
            <a:endParaRPr lang="zh-CN" sz="900"/>
          </a:p>
        </p:txBody>
      </p:sp>
      <p:sp>
        <p:nvSpPr>
          <p:cNvPr id="21" name="Text 21"/>
          <p:cNvSpPr txBox="1"/>
          <p:nvPr/>
        </p:nvSpPr>
        <p:spPr>
          <a:xfrm>
            <a:off x="731520" y="5897880"/>
            <a:ext cx="10515600" cy="22860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op"/>
          <a:lstStyle/>
          <a:p algn="c">
            <a:pPr algn="c" lvl="0"/>
            <a:r>
              <a:rPr lang="zh-CN" sz="1080" b="1" typeface="Microsoft YaHei">
                <a:solidFill>
                  <a:srgbClr val="16253D"/>
                </a:solidFill>
                <a:latin typeface="Microsoft YaHei"/>
                <a:ea typeface="Microsoft YaHei"/>
              </a:rPr>
              <a:t>证据包同时保留 case-summary、approvals、task-events、artifact-manifest、quality-decision 与 delivery-manifest。</a:t>
            </a:r>
            <a:endParaRPr lang="zh-CN" sz="108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83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 3"/>
          <p:cNvSpPr/>
          <p:nvPr/>
        </p:nvSpPr>
        <p:spPr>
          <a:xfrm>
            <a:off x="8961120" y="-640080"/>
            <a:ext cx="3931920" cy="3931920"/>
          </a:xfrm>
          <a:prstGeom prst="rect">
            <a:avLst/>
          </a:prstGeom>
          <a:solidFill>
            <a:srgbClr val="16B8AE">
              <a:alpha val="16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Shape 4"/>
          <p:cNvSpPr/>
          <p:nvPr/>
        </p:nvSpPr>
        <p:spPr>
          <a:xfrm>
            <a:off x="-1005840" y="4754880"/>
            <a:ext cx="2743200" cy="2743200"/>
          </a:xfrm>
          <a:prstGeom prst="rect">
            <a:avLst/>
          </a:prstGeom>
          <a:solidFill>
            <a:srgbClr val="4E7CF4">
              <a:alpha val="20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Text 5"/>
          <p:cNvSpPr txBox="1"/>
          <p:nvPr/>
        </p:nvSpPr>
        <p:spPr>
          <a:xfrm>
            <a:off x="594360" y="320040"/>
            <a:ext cx="6858000" cy="27432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op"/>
          <a:lstStyle/>
          <a:p algn="l">
            <a:pPr algn="l" lvl="0"/>
            <a:r>
              <a:rPr lang="zh-CN" sz="1100" b="1" typeface="Microsoft YaHei">
                <a:solidFill>
                  <a:srgbClr val="FFFFFF"/>
                </a:solidFill>
                <a:latin typeface="Microsoft YaHei"/>
                <a:ea typeface="Microsoft YaHei"/>
              </a:rPr>
              <a:t>第六章</a:t>
            </a:r>
            <a:endParaRPr lang="zh-CN" sz="1100"/>
          </a:p>
        </p:txBody>
      </p:sp>
      <p:sp>
        <p:nvSpPr>
          <p:cNvPr id="6" name="Text 6"/>
          <p:cNvSpPr txBox="1"/>
          <p:nvPr/>
        </p:nvSpPr>
        <p:spPr>
          <a:xfrm>
            <a:off x="594360" y="658368"/>
            <a:ext cx="10515600" cy="59436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op"/>
          <a:lstStyle/>
          <a:p algn="l">
            <a:pPr algn="l" lvl="0"/>
            <a:r>
              <a:rPr lang="zh-CN" sz="2500" b="1" typeface="Microsoft YaHei">
                <a:solidFill>
                  <a:srgbClr val="FFFFFF"/>
                </a:solidFill>
                <a:latin typeface="Microsoft YaHei"/>
                <a:ea typeface="Microsoft YaHei"/>
              </a:rPr>
              <a:t>开放 / 开源计划</a:t>
            </a:r>
            <a:endParaRPr lang="zh-CN" sz="2500"/>
          </a:p>
        </p:txBody>
      </p:sp>
      <p:sp>
        <p:nvSpPr>
          <p:cNvPr id="7" name="Text 7"/>
          <p:cNvSpPr txBox="1"/>
          <p:nvPr/>
        </p:nvSpPr>
        <p:spPr>
          <a:xfrm>
            <a:off x="11064240" y="6291072"/>
            <a:ext cx="502920" cy="256032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op"/>
          <a:lstStyle/>
          <a:p algn="r">
            <a:pPr algn="r" lvl="0"/>
            <a:r>
              <a:rPr lang="zh-CN" sz="900" b="1" typeface="Microsoft YaHei">
                <a:solidFill>
                  <a:srgbClr val="B4C0D0"/>
                </a:solidFill>
                <a:latin typeface="Microsoft YaHei"/>
                <a:ea typeface="Microsoft YaHei"/>
              </a:rPr>
              <a:t>14</a:t>
            </a:r>
            <a:endParaRPr lang="zh-CN" sz="900"/>
          </a:p>
        </p:txBody>
      </p:sp>
      <p:sp>
        <p:nvSpPr>
          <p:cNvPr id="8" name="Text 8"/>
          <p:cNvSpPr txBox="1"/>
          <p:nvPr/>
        </p:nvSpPr>
        <p:spPr>
          <a:xfrm>
            <a:off x="640080" y="1444752"/>
            <a:ext cx="9875520" cy="329184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op"/>
          <a:lstStyle/>
          <a:p algn="l">
            <a:pPr algn="l" lvl="0"/>
            <a:r>
              <a:rPr lang="zh-CN" sz="1500" b="0" typeface="Microsoft YaHei">
                <a:solidFill>
                  <a:srgbClr val="D7E5F5"/>
                </a:solidFill>
                <a:latin typeface="Microsoft YaHei"/>
                <a:ea typeface="Microsoft YaHei"/>
              </a:rPr>
              <a:t>开源的目标不是仅发布代码，而是让第三方能理解边界、复现链路、扩展场景。</a:t>
            </a:r>
            <a:endParaRPr lang="zh-CN" sz="1500"/>
          </a:p>
        </p:txBody>
      </p:sp>
      <p:sp>
        <p:nvSpPr>
          <p:cNvPr id="9" name="Shape 9"/>
          <p:cNvSpPr/>
          <p:nvPr/>
        </p:nvSpPr>
        <p:spPr>
          <a:xfrm>
            <a:off x="731520" y="2267712"/>
            <a:ext cx="25146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F1"/>
            </a:solidFill>
          </a:ln>
        </p:spPr>
        <p:txBody>
          <a:bodyPr/>
          <a:lstStyle/>
          <a:p/>
        </p:txBody>
      </p:sp>
      <p:sp>
        <p:nvSpPr>
          <p:cNvPr id="10" name="Shape 10"/>
          <p:cNvSpPr/>
          <p:nvPr/>
        </p:nvSpPr>
        <p:spPr>
          <a:xfrm>
            <a:off x="731520" y="2267712"/>
            <a:ext cx="73152" cy="1828800"/>
          </a:xfrm>
          <a:prstGeom prst="roundRect">
            <a:avLst/>
          </a:prstGeom>
          <a:solidFill>
            <a:srgbClr val="4E7CF4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Text 11"/>
          <p:cNvSpPr txBox="1"/>
          <p:nvPr/>
        </p:nvSpPr>
        <p:spPr>
          <a:xfrm>
            <a:off x="950976" y="2432304"/>
            <a:ext cx="2148840" cy="310896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op"/>
          <a:lstStyle/>
          <a:p algn="l">
            <a:pPr algn="l" lvl="0"/>
            <a:r>
              <a:rPr lang="zh-CN" sz="1400" b="1" typeface="Microsoft YaHei">
                <a:solidFill>
                  <a:srgbClr val="16253D"/>
                </a:solidFill>
                <a:latin typeface="Microsoft YaHei"/>
                <a:ea typeface="Microsoft YaHei"/>
              </a:rPr>
              <a:t>协同模板</a:t>
            </a:r>
            <a:endParaRPr lang="zh-CN" sz="1400"/>
          </a:p>
        </p:txBody>
      </p:sp>
      <p:sp>
        <p:nvSpPr>
          <p:cNvPr id="12" name="Text 12"/>
          <p:cNvSpPr txBox="1"/>
          <p:nvPr/>
        </p:nvSpPr>
        <p:spPr>
          <a:xfrm>
            <a:off x="950976" y="2843784"/>
            <a:ext cx="2103120" cy="114300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op"/>
          <a:lstStyle/>
          <a:p algn="l">
            <a:pPr algn="l" lvl="0"/>
            <a:r>
              <a:rPr lang="zh-CN" sz="1120" b="0" typeface="Microsoft YaHei">
                <a:solidFill>
                  <a:srgbClr val="5E6E85"/>
                </a:solidFill>
                <a:latin typeface="Microsoft YaHei"/>
                <a:ea typeface="Microsoft YaHei"/>
              </a:rPr>
              <a:t>Team / Role / Case / Work Item 声明</a:t>
            </a:r>
            <a:endParaRPr lang="zh-CN" sz="1120"/>
          </a:p>
        </p:txBody>
      </p:sp>
      <p:sp>
        <p:nvSpPr>
          <p:cNvPr id="13" name="Shape 13"/>
          <p:cNvSpPr/>
          <p:nvPr/>
        </p:nvSpPr>
        <p:spPr>
          <a:xfrm>
            <a:off x="3566160" y="2267712"/>
            <a:ext cx="25146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F1"/>
            </a:solidFill>
          </a:ln>
        </p:spPr>
        <p:txBody>
          <a:bodyPr/>
          <a:lstStyle/>
          <a:p/>
        </p:txBody>
      </p:sp>
      <p:sp>
        <p:nvSpPr>
          <p:cNvPr id="14" name="Shape 14"/>
          <p:cNvSpPr/>
          <p:nvPr/>
        </p:nvSpPr>
        <p:spPr>
          <a:xfrm>
            <a:off x="3566160" y="2267712"/>
            <a:ext cx="73152" cy="1828800"/>
          </a:xfrm>
          <a:prstGeom prst="roundRect">
            <a:avLst/>
          </a:prstGeom>
          <a:solidFill>
            <a:srgbClr val="16B8AE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Text 15"/>
          <p:cNvSpPr txBox="1"/>
          <p:nvPr/>
        </p:nvSpPr>
        <p:spPr>
          <a:xfrm>
            <a:off x="3785616" y="2432304"/>
            <a:ext cx="2148840" cy="310896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op"/>
          <a:lstStyle/>
          <a:p algn="l">
            <a:pPr algn="l" lvl="0"/>
            <a:r>
              <a:rPr lang="zh-CN" sz="1400" b="1" typeface="Microsoft YaHei">
                <a:solidFill>
                  <a:srgbClr val="16253D"/>
                </a:solidFill>
                <a:latin typeface="Microsoft YaHei"/>
                <a:ea typeface="Microsoft YaHei"/>
              </a:rPr>
              <a:t>Skill 契约</a:t>
            </a:r>
            <a:endParaRPr lang="zh-CN" sz="1400"/>
          </a:p>
        </p:txBody>
      </p:sp>
      <p:sp>
        <p:nvSpPr>
          <p:cNvPr id="16" name="Text 16"/>
          <p:cNvSpPr txBox="1"/>
          <p:nvPr/>
        </p:nvSpPr>
        <p:spPr>
          <a:xfrm>
            <a:off x="3785616" y="2843784"/>
            <a:ext cx="2103120" cy="114300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op"/>
          <a:lstStyle/>
          <a:p algn="l">
            <a:pPr algn="l" lvl="0"/>
            <a:r>
              <a:rPr lang="zh-CN" sz="1120" b="0" typeface="Microsoft YaHei">
                <a:solidFill>
                  <a:srgbClr val="5E6E85"/>
                </a:solidFill>
                <a:latin typeface="Microsoft YaHei"/>
                <a:ea typeface="Microsoft YaHei"/>
              </a:rPr>
              <a:t>输入输出、失败语义、权限边界、版本</a:t>
            </a:r>
            <a:endParaRPr lang="zh-CN" sz="1120"/>
          </a:p>
        </p:txBody>
      </p:sp>
      <p:sp>
        <p:nvSpPr>
          <p:cNvPr id="17" name="Shape 17"/>
          <p:cNvSpPr/>
          <p:nvPr/>
        </p:nvSpPr>
        <p:spPr>
          <a:xfrm>
            <a:off x="6400800" y="2267712"/>
            <a:ext cx="25146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F1"/>
            </a:solidFill>
          </a:ln>
        </p:spPr>
        <p:txBody>
          <a:bodyPr/>
          <a:lstStyle/>
          <a:p/>
        </p:txBody>
      </p:sp>
      <p:sp>
        <p:nvSpPr>
          <p:cNvPr id="18" name="Shape 18"/>
          <p:cNvSpPr/>
          <p:nvPr/>
        </p:nvSpPr>
        <p:spPr>
          <a:xfrm>
            <a:off x="6400800" y="2267712"/>
            <a:ext cx="73152" cy="1828800"/>
          </a:xfrm>
          <a:prstGeom prst="roundRect">
            <a:avLst/>
          </a:prstGeom>
          <a:solidFill>
            <a:srgbClr val="FFAA5B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Text 19"/>
          <p:cNvSpPr txBox="1"/>
          <p:nvPr/>
        </p:nvSpPr>
        <p:spPr>
          <a:xfrm>
            <a:off x="6620256" y="2432304"/>
            <a:ext cx="2148840" cy="310896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op"/>
          <a:lstStyle/>
          <a:p algn="l">
            <a:pPr algn="l" lvl="0"/>
            <a:r>
              <a:rPr lang="zh-CN" sz="1400" b="1" typeface="Microsoft YaHei">
                <a:solidFill>
                  <a:srgbClr val="16253D"/>
                </a:solidFill>
                <a:latin typeface="Microsoft YaHei"/>
                <a:ea typeface="Microsoft YaHei"/>
              </a:rPr>
              <a:t>Bridge 适配</a:t>
            </a:r>
            <a:endParaRPr lang="zh-CN" sz="1400"/>
          </a:p>
        </p:txBody>
      </p:sp>
      <p:sp>
        <p:nvSpPr>
          <p:cNvPr id="20" name="Text 20"/>
          <p:cNvSpPr txBox="1"/>
          <p:nvPr/>
        </p:nvSpPr>
        <p:spPr>
          <a:xfrm>
            <a:off x="6620256" y="2843784"/>
            <a:ext cx="2103120" cy="114300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op"/>
          <a:lstStyle/>
          <a:p algn="l">
            <a:pPr algn="l" lvl="0"/>
            <a:r>
              <a:rPr lang="zh-CN" sz="1120" b="0" typeface="Microsoft YaHei">
                <a:solidFill>
                  <a:srgbClr val="5E6E85"/>
                </a:solidFill>
                <a:latin typeface="Microsoft YaHei"/>
                <a:ea typeface="Microsoft YaHei"/>
              </a:rPr>
              <a:t>REST 等价协议与 MCP-ready 迁移接口</a:t>
            </a:r>
            <a:endParaRPr lang="zh-CN" sz="1120"/>
          </a:p>
        </p:txBody>
      </p:sp>
      <p:sp>
        <p:nvSpPr>
          <p:cNvPr id="21" name="Shape 21"/>
          <p:cNvSpPr/>
          <p:nvPr/>
        </p:nvSpPr>
        <p:spPr>
          <a:xfrm>
            <a:off x="9235440" y="2267712"/>
            <a:ext cx="25146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F1"/>
            </a:solidFill>
          </a:ln>
        </p:spPr>
        <p:txBody>
          <a:bodyPr/>
          <a:lstStyle/>
          <a:p/>
        </p:txBody>
      </p:sp>
      <p:sp>
        <p:nvSpPr>
          <p:cNvPr id="22" name="Shape 22"/>
          <p:cNvSpPr/>
          <p:nvPr/>
        </p:nvSpPr>
        <p:spPr>
          <a:xfrm>
            <a:off x="9235440" y="2267712"/>
            <a:ext cx="73152" cy="1828800"/>
          </a:xfrm>
          <a:prstGeom prst="roundRect">
            <a:avLst/>
          </a:prstGeom>
          <a:solidFill>
            <a:srgbClr val="C9F36A"/>
          </a:solidFill>
          <a:ln>
            <a:noFill/>
          </a:ln>
        </p:spPr>
        <p:txBody>
          <a:bodyPr/>
          <a:lstStyle/>
          <a:p/>
        </p:txBody>
      </p:sp>
      <p:sp>
        <p:nvSpPr>
          <p:cNvPr id="23" name="Text 23"/>
          <p:cNvSpPr txBox="1"/>
          <p:nvPr/>
        </p:nvSpPr>
        <p:spPr>
          <a:xfrm>
            <a:off x="9454896" y="2432304"/>
            <a:ext cx="2148840" cy="310896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op"/>
          <a:lstStyle/>
          <a:p algn="l">
            <a:pPr algn="l" lvl="0"/>
            <a:r>
              <a:rPr lang="zh-CN" sz="1400" b="1" typeface="Microsoft YaHei">
                <a:solidFill>
                  <a:srgbClr val="16253D"/>
                </a:solidFill>
                <a:latin typeface="Microsoft YaHei"/>
                <a:ea typeface="Microsoft YaHei"/>
              </a:rPr>
              <a:t>Demo 与测试</a:t>
            </a:r>
            <a:endParaRPr lang="zh-CN" sz="1400"/>
          </a:p>
        </p:txBody>
      </p:sp>
      <p:sp>
        <p:nvSpPr>
          <p:cNvPr id="24" name="Text 24"/>
          <p:cNvSpPr txBox="1"/>
          <p:nvPr/>
        </p:nvSpPr>
        <p:spPr>
          <a:xfrm>
            <a:off x="9454896" y="2843784"/>
            <a:ext cx="2103120" cy="114300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op"/>
          <a:lstStyle/>
          <a:p algn="l">
            <a:pPr algn="l" lvl="0"/>
            <a:r>
              <a:rPr lang="zh-CN" sz="1120" b="0" typeface="Microsoft YaHei">
                <a:solidFill>
                  <a:srgbClr val="5E6E85"/>
                </a:solidFill>
                <a:latin typeface="Microsoft YaHei"/>
                <a:ea typeface="Microsoft YaHei"/>
              </a:rPr>
              <a:t>脱敏演示、契约测试、部署与排障文档</a:t>
            </a:r>
            <a:endParaRPr lang="zh-CN" sz="1120"/>
          </a:p>
        </p:txBody>
      </p:sp>
      <p:sp>
        <p:nvSpPr>
          <p:cNvPr id="25" name="Text 25"/>
          <p:cNvSpPr txBox="1"/>
          <p:nvPr/>
        </p:nvSpPr>
        <p:spPr>
          <a:xfrm>
            <a:off x="822960" y="4983480"/>
            <a:ext cx="10332720" cy="32004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op"/>
          <a:lstStyle/>
          <a:p algn="c">
            <a:pPr algn="c" lvl="0"/>
            <a:r>
              <a:rPr lang="zh-CN" sz="1200" b="1" typeface="Microsoft YaHei">
                <a:solidFill>
                  <a:srgbClr val="D7E5F5"/>
                </a:solidFill>
                <a:latin typeface="Microsoft YaHei"/>
                <a:ea typeface="Microsoft YaHei"/>
              </a:rPr>
              <a:t>许可证与依赖边界：现仓库使用 Apache-2.0 + Commons Clause（非商业使用）；对外发布前应完成依赖清单与授权复核。</a:t>
            </a:r>
            <a:endParaRPr lang="zh-CN" sz="1200"/>
          </a:p>
        </p:txBody>
      </p:sp>
      <p:sp>
        <p:nvSpPr>
          <p:cNvPr id="26" name="Shape 26"/>
          <p:cNvSpPr/>
          <p:nvPr/>
        </p:nvSpPr>
        <p:spPr>
          <a:xfrm>
            <a:off x="640080" y="5715000"/>
            <a:ext cx="2606040" cy="274320"/>
          </a:xfrm>
          <a:prstGeom prst="roundRect">
            <a:avLst/>
          </a:prstGeom>
          <a:solidFill>
            <a:srgbClr val="C9F36A"/>
          </a:solidFill>
          <a:ln>
            <a:noFill/>
          </a:ln>
        </p:spPr>
        <p:txBody>
          <a:bodyPr/>
          <a:lstStyle/>
          <a:p/>
        </p:txBody>
      </p:sp>
      <p:sp>
        <p:nvSpPr>
          <p:cNvPr id="27" name="Text 27"/>
          <p:cNvSpPr txBox="1"/>
          <p:nvPr/>
        </p:nvSpPr>
        <p:spPr>
          <a:xfrm>
            <a:off x="694944" y="5751576"/>
            <a:ext cx="2496312" cy="164592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op"/>
          <a:lstStyle/>
          <a:p algn="c">
            <a:pPr algn="c" lvl="0"/>
            <a:r>
              <a:rPr lang="zh-CN" sz="900" b="1" typeface="Microsoft YaHei">
                <a:solidFill>
                  <a:srgbClr val="0C1830"/>
                </a:solidFill>
                <a:latin typeface="Microsoft YaHei"/>
                <a:ea typeface="Microsoft YaHei"/>
              </a:rPr>
              <a:t>评分维度：开放 / 开源贡献 · 5%</a:t>
            </a:r>
            <a:endParaRPr lang="zh-CN" sz="9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 3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6B8AE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Shape 4"/>
          <p:cNvSpPr/>
          <p:nvPr/>
        </p:nvSpPr>
        <p:spPr>
          <a:xfrm>
            <a:off x="9692640" y="128016"/>
            <a:ext cx="2499055" cy="45720"/>
          </a:xfrm>
          <a:prstGeom prst="rect">
            <a:avLst/>
          </a:prstGeom>
          <a:solidFill>
            <a:srgbClr val="C9F36A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Text 5"/>
          <p:cNvSpPr txBox="1"/>
          <p:nvPr/>
        </p:nvSpPr>
        <p:spPr>
          <a:xfrm>
            <a:off x="594360" y="320040"/>
            <a:ext cx="6858000" cy="27432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op"/>
          <a:lstStyle/>
          <a:p algn="l">
            <a:pPr algn="l" lvl="0"/>
            <a:r>
              <a:rPr lang="zh-CN" sz="1100" b="1" typeface="Microsoft YaHei">
                <a:solidFill>
                  <a:srgbClr val="5E6E85"/>
                </a:solidFill>
                <a:latin typeface="Microsoft YaHei"/>
                <a:ea typeface="Microsoft YaHei"/>
              </a:rPr>
              <a:t>第六章 · 复用与贡献</a:t>
            </a:r>
            <a:endParaRPr lang="zh-CN" sz="1100"/>
          </a:p>
        </p:txBody>
      </p:sp>
      <p:sp>
        <p:nvSpPr>
          <p:cNvPr id="6" name="Text 6"/>
          <p:cNvSpPr txBox="1"/>
          <p:nvPr/>
        </p:nvSpPr>
        <p:spPr>
          <a:xfrm>
            <a:off x="594360" y="658368"/>
            <a:ext cx="10515600" cy="59436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op"/>
          <a:lstStyle/>
          <a:p algn="l">
            <a:pPr algn="l" lvl="0"/>
            <a:r>
              <a:rPr lang="zh-CN" sz="2500" b="1" typeface="Microsoft YaHei">
                <a:solidFill>
                  <a:srgbClr val="16253D"/>
                </a:solidFill>
                <a:latin typeface="Microsoft YaHei"/>
                <a:ea typeface="Microsoft YaHei"/>
              </a:rPr>
              <a:t>配置优先，让新场景接入不必重写主链路</a:t>
            </a:r>
            <a:endParaRPr lang="zh-CN" sz="2500"/>
          </a:p>
        </p:txBody>
      </p:sp>
      <p:sp>
        <p:nvSpPr>
          <p:cNvPr id="7" name="Text 7"/>
          <p:cNvSpPr txBox="1"/>
          <p:nvPr/>
        </p:nvSpPr>
        <p:spPr>
          <a:xfrm>
            <a:off x="11064240" y="6291072"/>
            <a:ext cx="502920" cy="256032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op"/>
          <a:lstStyle/>
          <a:p algn="r">
            <a:pPr algn="r" lvl="0"/>
            <a:r>
              <a:rPr lang="zh-CN" sz="900" b="1" typeface="Microsoft YaHei">
                <a:solidFill>
                  <a:srgbClr val="5E6E85"/>
                </a:solidFill>
                <a:latin typeface="Microsoft YaHei"/>
                <a:ea typeface="Microsoft YaHei"/>
              </a:rPr>
              <a:t>15</a:t>
            </a:r>
            <a:endParaRPr lang="zh-CN" sz="900"/>
          </a:p>
        </p:txBody>
      </p:sp>
      <p:sp>
        <p:nvSpPr>
          <p:cNvPr id="8" name="Shape 8"/>
          <p:cNvSpPr/>
          <p:nvPr/>
        </p:nvSpPr>
        <p:spPr>
          <a:xfrm>
            <a:off x="640080" y="1691640"/>
            <a:ext cx="10881360" cy="3611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F1"/>
            </a:solidFill>
          </a:ln>
        </p:spPr>
        <p:txBody>
          <a:bodyPr/>
          <a:lstStyle/>
          <a:p/>
        </p:txBody>
      </p:sp>
      <p:sp>
        <p:nvSpPr>
          <p:cNvPr id="9" name="Shape 9"/>
          <p:cNvSpPr/>
          <p:nvPr/>
        </p:nvSpPr>
        <p:spPr>
          <a:xfrm>
            <a:off x="960120" y="2011680"/>
            <a:ext cx="1828800" cy="502920"/>
          </a:xfrm>
          <a:prstGeom prst="roundRect">
            <a:avLst/>
          </a:prstGeom>
          <a:solidFill>
            <a:srgbClr val="16B8AE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 10"/>
          <p:cNvSpPr txBox="1"/>
          <p:nvPr/>
        </p:nvSpPr>
        <p:spPr>
          <a:xfrm>
            <a:off x="1069848" y="2139696"/>
            <a:ext cx="1600200" cy="164592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op"/>
          <a:lstStyle/>
          <a:p algn="c">
            <a:pPr algn="c" lvl="0"/>
            <a:r>
              <a:rPr lang="zh-CN" sz="1100" b="1" typeface="Microsoft YaHei">
                <a:solidFill>
                  <a:srgbClr val="FFFFFF"/>
                </a:solidFill>
                <a:latin typeface="Microsoft YaHei"/>
                <a:ea typeface="Microsoft YaHei"/>
              </a:rPr>
              <a:t>场景层</a:t>
            </a:r>
            <a:endParaRPr lang="zh-CN" sz="1100"/>
          </a:p>
        </p:txBody>
      </p:sp>
      <p:sp>
        <p:nvSpPr>
          <p:cNvPr id="11" name="Text 11"/>
          <p:cNvSpPr txBox="1"/>
          <p:nvPr/>
        </p:nvSpPr>
        <p:spPr>
          <a:xfrm>
            <a:off x="3063240" y="2130552"/>
            <a:ext cx="7680960" cy="201168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op"/>
          <a:lstStyle/>
          <a:p algn="l">
            <a:pPr algn="l" lvl="0"/>
            <a:r>
              <a:rPr lang="zh-CN" sz="1200" b="1" typeface="Microsoft YaHei">
                <a:solidFill>
                  <a:srgbClr val="16253D"/>
                </a:solidFill>
                <a:latin typeface="Microsoft YaHei"/>
                <a:ea typeface="Microsoft YaHei"/>
              </a:rPr>
              <a:t>RNA-seq · ATAC-seq · 单细胞 · 其他科学计算</a:t>
            </a:r>
            <a:endParaRPr lang="zh-CN" sz="1200"/>
          </a:p>
        </p:txBody>
      </p:sp>
      <p:sp>
        <p:nvSpPr>
          <p:cNvPr id="12" name="Shape 12"/>
          <p:cNvSpPr/>
          <p:nvPr/>
        </p:nvSpPr>
        <p:spPr>
          <a:xfrm>
            <a:off x="960120" y="2761488"/>
            <a:ext cx="1828800" cy="502920"/>
          </a:xfrm>
          <a:prstGeom prst="roundRect">
            <a:avLst/>
          </a:prstGeom>
          <a:solidFill>
            <a:srgbClr val="4E7CF4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Text 13"/>
          <p:cNvSpPr txBox="1"/>
          <p:nvPr/>
        </p:nvSpPr>
        <p:spPr>
          <a:xfrm>
            <a:off x="1069848" y="2889504"/>
            <a:ext cx="1600200" cy="164592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op"/>
          <a:lstStyle/>
          <a:p algn="c">
            <a:pPr algn="c" lvl="0"/>
            <a:r>
              <a:rPr lang="zh-CN" sz="1100" b="1" typeface="Microsoft YaHei">
                <a:solidFill>
                  <a:srgbClr val="FFFFFF"/>
                </a:solidFill>
                <a:latin typeface="Microsoft YaHei"/>
                <a:ea typeface="Microsoft YaHei"/>
              </a:rPr>
              <a:t>协同层</a:t>
            </a:r>
            <a:endParaRPr lang="zh-CN" sz="1100"/>
          </a:p>
        </p:txBody>
      </p:sp>
      <p:sp>
        <p:nvSpPr>
          <p:cNvPr id="14" name="Text 14"/>
          <p:cNvSpPr txBox="1"/>
          <p:nvPr/>
        </p:nvSpPr>
        <p:spPr>
          <a:xfrm>
            <a:off x="3063240" y="2880360"/>
            <a:ext cx="7680960" cy="201168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op"/>
          <a:lstStyle/>
          <a:p algn="l">
            <a:pPr algn="l" lvl="0"/>
            <a:r>
              <a:rPr lang="zh-CN" sz="1200" b="1" typeface="Microsoft YaHei">
                <a:solidFill>
                  <a:srgbClr val="16253D"/>
                </a:solidFill>
                <a:latin typeface="Microsoft YaHei"/>
                <a:ea typeface="Microsoft YaHei"/>
              </a:rPr>
              <a:t>Team / Role / Case / Work Item / 审批策略</a:t>
            </a:r>
            <a:endParaRPr lang="zh-CN" sz="1200"/>
          </a:p>
        </p:txBody>
      </p:sp>
      <p:sp>
        <p:nvSpPr>
          <p:cNvPr id="15" name="Shape 15"/>
          <p:cNvSpPr/>
          <p:nvPr/>
        </p:nvSpPr>
        <p:spPr>
          <a:xfrm>
            <a:off x="960120" y="3511296"/>
            <a:ext cx="1828800" cy="502920"/>
          </a:xfrm>
          <a:prstGeom prst="roundRect">
            <a:avLst/>
          </a:prstGeom>
          <a:solidFill>
            <a:srgbClr val="FFAA5B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Text 16"/>
          <p:cNvSpPr txBox="1"/>
          <p:nvPr/>
        </p:nvSpPr>
        <p:spPr>
          <a:xfrm>
            <a:off x="1069848" y="3639312"/>
            <a:ext cx="1600200" cy="164592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op"/>
          <a:lstStyle/>
          <a:p algn="c">
            <a:pPr algn="c" lvl="0"/>
            <a:r>
              <a:rPr lang="zh-CN" sz="1100" b="1" typeface="Microsoft YaHei">
                <a:solidFill>
                  <a:srgbClr val="FFFFFF"/>
                </a:solidFill>
                <a:latin typeface="Microsoft YaHei"/>
                <a:ea typeface="Microsoft YaHei"/>
              </a:rPr>
              <a:t>能力层</a:t>
            </a:r>
            <a:endParaRPr lang="zh-CN" sz="1100"/>
          </a:p>
        </p:txBody>
      </p:sp>
      <p:sp>
        <p:nvSpPr>
          <p:cNvPr id="17" name="Text 17"/>
          <p:cNvSpPr txBox="1"/>
          <p:nvPr/>
        </p:nvSpPr>
        <p:spPr>
          <a:xfrm>
            <a:off x="3063240" y="3630168"/>
            <a:ext cx="7680960" cy="201168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op"/>
          <a:lstStyle/>
          <a:p algn="l">
            <a:pPr algn="l" lvl="0"/>
            <a:r>
              <a:rPr lang="zh-CN" sz="1200" b="1" typeface="Microsoft YaHei">
                <a:solidFill>
                  <a:srgbClr val="16253D"/>
                </a:solidFill>
                <a:latin typeface="Microsoft YaHei"/>
                <a:ea typeface="Microsoft YaHei"/>
              </a:rPr>
              <a:t>Skill Contract / Bridge / 质量规则 / 交付模板</a:t>
            </a:r>
            <a:endParaRPr lang="zh-CN" sz="1200"/>
          </a:p>
        </p:txBody>
      </p:sp>
      <p:sp>
        <p:nvSpPr>
          <p:cNvPr id="18" name="Shape 18"/>
          <p:cNvSpPr/>
          <p:nvPr/>
        </p:nvSpPr>
        <p:spPr>
          <a:xfrm>
            <a:off x="960120" y="4261104"/>
            <a:ext cx="1828800" cy="502920"/>
          </a:xfrm>
          <a:prstGeom prst="roundRect">
            <a:avLst/>
          </a:prstGeom>
          <a:solidFill>
            <a:srgbClr val="C9F36A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Text 19"/>
          <p:cNvSpPr txBox="1"/>
          <p:nvPr/>
        </p:nvSpPr>
        <p:spPr>
          <a:xfrm>
            <a:off x="1069848" y="4389120"/>
            <a:ext cx="1600200" cy="164592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op"/>
          <a:lstStyle/>
          <a:p algn="c">
            <a:pPr algn="c" lvl="0"/>
            <a:r>
              <a:rPr lang="zh-CN" sz="1100" b="1" typeface="Microsoft YaHei">
                <a:solidFill>
                  <a:srgbClr val="0C1830"/>
                </a:solidFill>
                <a:latin typeface="Microsoft YaHei"/>
                <a:ea typeface="Microsoft YaHei"/>
              </a:rPr>
              <a:t>执行层</a:t>
            </a:r>
            <a:endParaRPr lang="zh-CN" sz="1100"/>
          </a:p>
        </p:txBody>
      </p:sp>
      <p:sp>
        <p:nvSpPr>
          <p:cNvPr id="20" name="Text 20"/>
          <p:cNvSpPr txBox="1"/>
          <p:nvPr/>
        </p:nvSpPr>
        <p:spPr>
          <a:xfrm>
            <a:off x="3063240" y="4379976"/>
            <a:ext cx="7680960" cy="201168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op"/>
          <a:lstStyle/>
          <a:p algn="l">
            <a:pPr algn="l" lvl="0"/>
            <a:r>
              <a:rPr lang="zh-CN" sz="1200" b="1" typeface="Microsoft YaHei">
                <a:solidFill>
                  <a:srgbClr val="16253D"/>
                </a:solidFill>
                <a:latin typeface="Microsoft YaHei"/>
                <a:ea typeface="Microsoft YaHei"/>
              </a:rPr>
              <a:t>OmicHub MAS / Worker / Snakemake / Artifact Registry</a:t>
            </a:r>
            <a:endParaRPr lang="zh-CN" sz="1200"/>
          </a:p>
        </p:txBody>
      </p:sp>
      <p:sp>
        <p:nvSpPr>
          <p:cNvPr id="21" name="Text 21"/>
          <p:cNvSpPr txBox="1"/>
          <p:nvPr/>
        </p:nvSpPr>
        <p:spPr>
          <a:xfrm>
            <a:off x="822960" y="5650992"/>
            <a:ext cx="10241280" cy="32004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op"/>
          <a:lstStyle/>
          <a:p algn="c">
            <a:pPr algn="c" lvl="0"/>
            <a:r>
              <a:rPr lang="zh-CN" sz="1300" b="1" typeface="Microsoft YaHei">
                <a:solidFill>
                  <a:srgbClr val="16B8AE"/>
                </a:solidFill>
                <a:latin typeface="Microsoft YaHei"/>
                <a:ea typeface="Microsoft YaHei"/>
              </a:rPr>
              <a:t>新增流程或行业场景时，优先配置 Team、Skill、Artifact、规则和交付模板；协同主链路保持稳定。</a:t>
            </a:r>
            <a:endParaRPr lang="zh-CN" sz="13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83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 3"/>
          <p:cNvSpPr/>
          <p:nvPr/>
        </p:nvSpPr>
        <p:spPr>
          <a:xfrm>
            <a:off x="8961120" y="-640080"/>
            <a:ext cx="3931920" cy="3931920"/>
          </a:xfrm>
          <a:prstGeom prst="rect">
            <a:avLst/>
          </a:prstGeom>
          <a:solidFill>
            <a:srgbClr val="16B8AE">
              <a:alpha val="16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Shape 4"/>
          <p:cNvSpPr/>
          <p:nvPr/>
        </p:nvSpPr>
        <p:spPr>
          <a:xfrm>
            <a:off x="-1005840" y="4754880"/>
            <a:ext cx="2743200" cy="2743200"/>
          </a:xfrm>
          <a:prstGeom prst="rect">
            <a:avLst/>
          </a:prstGeom>
          <a:solidFill>
            <a:srgbClr val="4E7CF4">
              <a:alpha val="20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Text 5"/>
          <p:cNvSpPr txBox="1"/>
          <p:nvPr/>
        </p:nvSpPr>
        <p:spPr>
          <a:xfrm>
            <a:off x="594360" y="320040"/>
            <a:ext cx="6858000" cy="27432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op"/>
          <a:lstStyle/>
          <a:p algn="l">
            <a:pPr algn="l" lvl="0"/>
            <a:r>
              <a:rPr lang="zh-CN" sz="1100" b="1" typeface="Microsoft YaHei">
                <a:solidFill>
                  <a:srgbClr val="FFFFFF"/>
                </a:solidFill>
                <a:latin typeface="Microsoft YaHei"/>
                <a:ea typeface="Microsoft YaHei"/>
              </a:rPr>
              <a:t>第七章</a:t>
            </a:r>
            <a:endParaRPr lang="zh-CN" sz="1100"/>
          </a:p>
        </p:txBody>
      </p:sp>
      <p:sp>
        <p:nvSpPr>
          <p:cNvPr id="6" name="Text 6"/>
          <p:cNvSpPr txBox="1"/>
          <p:nvPr/>
        </p:nvSpPr>
        <p:spPr>
          <a:xfrm>
            <a:off x="594360" y="658368"/>
            <a:ext cx="10515600" cy="59436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op"/>
          <a:lstStyle/>
          <a:p algn="l">
            <a:pPr algn="l" lvl="0"/>
            <a:r>
              <a:rPr lang="zh-CN" sz="2500" b="1" typeface="Microsoft YaHei">
                <a:solidFill>
                  <a:srgbClr val="FFFFFF"/>
                </a:solidFill>
                <a:latin typeface="Microsoft YaHei"/>
                <a:ea typeface="Microsoft YaHei"/>
              </a:rPr>
              <a:t>落地计划与进展</a:t>
            </a:r>
            <a:endParaRPr lang="zh-CN" sz="2500"/>
          </a:p>
        </p:txBody>
      </p:sp>
      <p:sp>
        <p:nvSpPr>
          <p:cNvPr id="7" name="Text 7"/>
          <p:cNvSpPr txBox="1"/>
          <p:nvPr/>
        </p:nvSpPr>
        <p:spPr>
          <a:xfrm>
            <a:off x="11064240" y="6291072"/>
            <a:ext cx="502920" cy="256032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op"/>
          <a:lstStyle/>
          <a:p algn="r">
            <a:pPr algn="r" lvl="0"/>
            <a:r>
              <a:rPr lang="zh-CN" sz="900" b="1" typeface="Microsoft YaHei">
                <a:solidFill>
                  <a:srgbClr val="B4C0D0"/>
                </a:solidFill>
                <a:latin typeface="Microsoft YaHei"/>
                <a:ea typeface="Microsoft YaHei"/>
              </a:rPr>
              <a:t>16</a:t>
            </a:r>
            <a:endParaRPr lang="zh-CN" sz="900"/>
          </a:p>
        </p:txBody>
      </p:sp>
      <p:sp>
        <p:nvSpPr>
          <p:cNvPr id="8" name="Text 8"/>
          <p:cNvSpPr txBox="1"/>
          <p:nvPr/>
        </p:nvSpPr>
        <p:spPr>
          <a:xfrm>
            <a:off x="640080" y="1417320"/>
            <a:ext cx="10241280" cy="347472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op"/>
          <a:lstStyle/>
          <a:p algn="l">
            <a:pPr algn="l" lvl="0"/>
            <a:r>
              <a:rPr lang="zh-CN" sz="1500" b="0" typeface="Microsoft YaHei">
                <a:solidFill>
                  <a:srgbClr val="D7E5F5"/>
                </a:solidFill>
                <a:latin typeface="Microsoft YaHei"/>
                <a:ea typeface="Microsoft YaHei"/>
              </a:rPr>
              <a:t>以“可验证闭环”为阶段目标，清晰区分已有工程基础、比赛增量与后续部署验收。</a:t>
            </a:r>
            <a:endParaRPr lang="zh-CN" sz="1500"/>
          </a:p>
        </p:txBody>
      </p:sp>
      <p:sp>
        <p:nvSpPr>
          <p:cNvPr id="9" name="Shape 9"/>
          <p:cNvSpPr/>
          <p:nvPr/>
        </p:nvSpPr>
        <p:spPr>
          <a:xfrm>
            <a:off x="731520" y="2148840"/>
            <a:ext cx="246888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F1"/>
            </a:solidFill>
          </a:ln>
        </p:spPr>
        <p:txBody>
          <a:bodyPr/>
          <a:lstStyle/>
          <a:p/>
        </p:txBody>
      </p:sp>
      <p:sp>
        <p:nvSpPr>
          <p:cNvPr id="10" name="Shape 10"/>
          <p:cNvSpPr/>
          <p:nvPr/>
        </p:nvSpPr>
        <p:spPr>
          <a:xfrm>
            <a:off x="731520" y="2148840"/>
            <a:ext cx="73152" cy="2377440"/>
          </a:xfrm>
          <a:prstGeom prst="roundRect">
            <a:avLst/>
          </a:prstGeom>
          <a:solidFill>
            <a:srgbClr val="16B8AE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Text 11"/>
          <p:cNvSpPr txBox="1"/>
          <p:nvPr/>
        </p:nvSpPr>
        <p:spPr>
          <a:xfrm>
            <a:off x="950976" y="2313432"/>
            <a:ext cx="2103120" cy="310896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op"/>
          <a:lstStyle/>
          <a:p algn="l">
            <a:pPr algn="l" lvl="0"/>
            <a:r>
              <a:rPr lang="zh-CN" sz="1400" b="1" typeface="Microsoft YaHei">
                <a:solidFill>
                  <a:srgbClr val="16253D"/>
                </a:solidFill>
                <a:latin typeface="Microsoft YaHei"/>
                <a:ea typeface="Microsoft YaHei"/>
              </a:rPr>
              <a:t>已有基础</a:t>
            </a:r>
            <a:endParaRPr lang="zh-CN" sz="1400"/>
          </a:p>
        </p:txBody>
      </p:sp>
      <p:sp>
        <p:nvSpPr>
          <p:cNvPr id="12" name="Text 12"/>
          <p:cNvSpPr txBox="1"/>
          <p:nvPr/>
        </p:nvSpPr>
        <p:spPr>
          <a:xfrm>
            <a:off x="950976" y="2724912"/>
            <a:ext cx="2057400" cy="169164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op"/>
          <a:lstStyle/>
          <a:p algn="l">
            <a:pPr algn="l" lvl="0"/>
            <a:r>
              <a:rPr lang="zh-CN" sz="1100" b="0" typeface="Microsoft YaHei">
                <a:solidFill>
                  <a:srgbClr val="5E6E85"/>
                </a:solidFill>
                <a:latin typeface="Microsoft YaHei"/>
                <a:ea typeface="Microsoft YaHei"/>
              </a:rPr>
              <a:t>OmicHub 平台、领域 Agent、流程 YAML、MAS/Artifact/审计、AgentTeams Bridge 与契约</a:t>
            </a:r>
            <a:endParaRPr lang="zh-CN" sz="1100"/>
          </a:p>
        </p:txBody>
      </p:sp>
      <p:sp>
        <p:nvSpPr>
          <p:cNvPr id="13" name="Shape 13"/>
          <p:cNvSpPr/>
          <p:nvPr/>
        </p:nvSpPr>
        <p:spPr>
          <a:xfrm>
            <a:off x="3538728" y="2148840"/>
            <a:ext cx="246888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F1"/>
            </a:solidFill>
          </a:ln>
        </p:spPr>
        <p:txBody>
          <a:bodyPr/>
          <a:lstStyle/>
          <a:p/>
        </p:txBody>
      </p:sp>
      <p:sp>
        <p:nvSpPr>
          <p:cNvPr id="14" name="Shape 14"/>
          <p:cNvSpPr/>
          <p:nvPr/>
        </p:nvSpPr>
        <p:spPr>
          <a:xfrm>
            <a:off x="3538728" y="2148840"/>
            <a:ext cx="73152" cy="2377440"/>
          </a:xfrm>
          <a:prstGeom prst="roundRect">
            <a:avLst/>
          </a:prstGeom>
          <a:solidFill>
            <a:srgbClr val="FFAA5B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Text 15"/>
          <p:cNvSpPr txBox="1"/>
          <p:nvPr/>
        </p:nvSpPr>
        <p:spPr>
          <a:xfrm>
            <a:off x="3758184" y="2313432"/>
            <a:ext cx="2103120" cy="310896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op"/>
          <a:lstStyle/>
          <a:p algn="l">
            <a:pPr algn="l" lvl="0"/>
            <a:r>
              <a:rPr lang="zh-CN" sz="1400" b="1" typeface="Microsoft YaHei">
                <a:solidFill>
                  <a:srgbClr val="16253D"/>
                </a:solidFill>
                <a:latin typeface="Microsoft YaHei"/>
                <a:ea typeface="Microsoft YaHei"/>
              </a:rPr>
              <a:t>比赛增量</a:t>
            </a:r>
            <a:endParaRPr lang="zh-CN" sz="1400"/>
          </a:p>
        </p:txBody>
      </p:sp>
      <p:sp>
        <p:nvSpPr>
          <p:cNvPr id="16" name="Text 16"/>
          <p:cNvSpPr txBox="1"/>
          <p:nvPr/>
        </p:nvSpPr>
        <p:spPr>
          <a:xfrm>
            <a:off x="3758184" y="2724912"/>
            <a:ext cx="2057400" cy="169164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op"/>
          <a:lstStyle/>
          <a:p algn="l">
            <a:pPr algn="l" lvl="0"/>
            <a:r>
              <a:rPr lang="zh-CN" sz="1100" b="0" typeface="Microsoft YaHei">
                <a:solidFill>
                  <a:srgbClr val="5E6E85"/>
                </a:solidFill>
                <a:latin typeface="Microsoft YaHei"/>
                <a:ea typeface="Microsoft YaHei"/>
              </a:rPr>
              <a:t>BioOps Team/Role、Case 编排、专职 Agent、质量规则、三条可验证 Demo</a:t>
            </a:r>
            <a:endParaRPr lang="zh-CN" sz="1100"/>
          </a:p>
        </p:txBody>
      </p:sp>
      <p:sp>
        <p:nvSpPr>
          <p:cNvPr id="17" name="Shape 17"/>
          <p:cNvSpPr/>
          <p:nvPr/>
        </p:nvSpPr>
        <p:spPr>
          <a:xfrm>
            <a:off x="6345936" y="2148840"/>
            <a:ext cx="246888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F1"/>
            </a:solidFill>
          </a:ln>
        </p:spPr>
        <p:txBody>
          <a:bodyPr/>
          <a:lstStyle/>
          <a:p/>
        </p:txBody>
      </p:sp>
      <p:sp>
        <p:nvSpPr>
          <p:cNvPr id="18" name="Shape 18"/>
          <p:cNvSpPr/>
          <p:nvPr/>
        </p:nvSpPr>
        <p:spPr>
          <a:xfrm>
            <a:off x="6345936" y="2148840"/>
            <a:ext cx="73152" cy="2377440"/>
          </a:xfrm>
          <a:prstGeom prst="roundRect">
            <a:avLst/>
          </a:prstGeom>
          <a:solidFill>
            <a:srgbClr val="4E7CF4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Text 19"/>
          <p:cNvSpPr txBox="1"/>
          <p:nvPr/>
        </p:nvSpPr>
        <p:spPr>
          <a:xfrm>
            <a:off x="6565392" y="2313432"/>
            <a:ext cx="2103120" cy="310896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op"/>
          <a:lstStyle/>
          <a:p algn="l">
            <a:pPr algn="l" lvl="0"/>
            <a:r>
              <a:rPr lang="zh-CN" sz="1400" b="1" typeface="Microsoft YaHei">
                <a:solidFill>
                  <a:srgbClr val="16253D"/>
                </a:solidFill>
                <a:latin typeface="Microsoft YaHei"/>
                <a:ea typeface="Microsoft YaHei"/>
              </a:rPr>
              <a:t>部署验收</a:t>
            </a:r>
            <a:endParaRPr lang="zh-CN" sz="1400"/>
          </a:p>
        </p:txBody>
      </p:sp>
      <p:sp>
        <p:nvSpPr>
          <p:cNvPr id="20" name="Text 20"/>
          <p:cNvSpPr txBox="1"/>
          <p:nvPr/>
        </p:nvSpPr>
        <p:spPr>
          <a:xfrm>
            <a:off x="6565392" y="2724912"/>
            <a:ext cx="2057400" cy="169164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op"/>
          <a:lstStyle/>
          <a:p algn="l">
            <a:pPr algn="l" lvl="0"/>
            <a:r>
              <a:rPr lang="zh-CN" sz="1100" b="0" typeface="Microsoft YaHei">
                <a:solidFill>
                  <a:srgbClr val="5E6E85"/>
                </a:solidFill>
                <a:latin typeface="Microsoft YaHei"/>
                <a:ea typeface="Microsoft YaHei"/>
              </a:rPr>
              <a:t>staging Worker、RNAFlow 容器、审批链、Matrix/Gateway（可选）与真实 E2E</a:t>
            </a:r>
            <a:endParaRPr lang="zh-CN" sz="1100"/>
          </a:p>
        </p:txBody>
      </p:sp>
      <p:sp>
        <p:nvSpPr>
          <p:cNvPr id="21" name="Shape 21"/>
          <p:cNvSpPr/>
          <p:nvPr/>
        </p:nvSpPr>
        <p:spPr>
          <a:xfrm>
            <a:off x="9153144" y="2148840"/>
            <a:ext cx="246888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F1"/>
            </a:solidFill>
          </a:ln>
        </p:spPr>
        <p:txBody>
          <a:bodyPr/>
          <a:lstStyle/>
          <a:p/>
        </p:txBody>
      </p:sp>
      <p:sp>
        <p:nvSpPr>
          <p:cNvPr id="22" name="Shape 22"/>
          <p:cNvSpPr/>
          <p:nvPr/>
        </p:nvSpPr>
        <p:spPr>
          <a:xfrm>
            <a:off x="9153144" y="2148840"/>
            <a:ext cx="73152" cy="2377440"/>
          </a:xfrm>
          <a:prstGeom prst="roundRect">
            <a:avLst/>
          </a:prstGeom>
          <a:solidFill>
            <a:srgbClr val="C9F36A"/>
          </a:solidFill>
          <a:ln>
            <a:noFill/>
          </a:ln>
        </p:spPr>
        <p:txBody>
          <a:bodyPr/>
          <a:lstStyle/>
          <a:p/>
        </p:txBody>
      </p:sp>
      <p:sp>
        <p:nvSpPr>
          <p:cNvPr id="23" name="Text 23"/>
          <p:cNvSpPr txBox="1"/>
          <p:nvPr/>
        </p:nvSpPr>
        <p:spPr>
          <a:xfrm>
            <a:off x="9372600" y="2313432"/>
            <a:ext cx="2103120" cy="310896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op"/>
          <a:lstStyle/>
          <a:p algn="l">
            <a:pPr algn="l" lvl="0"/>
            <a:r>
              <a:rPr lang="zh-CN" sz="1400" b="1" typeface="Microsoft YaHei">
                <a:solidFill>
                  <a:srgbClr val="16253D"/>
                </a:solidFill>
                <a:latin typeface="Microsoft YaHei"/>
                <a:ea typeface="Microsoft YaHei"/>
              </a:rPr>
              <a:t>扩展演进</a:t>
            </a:r>
            <a:endParaRPr lang="zh-CN" sz="1400"/>
          </a:p>
        </p:txBody>
      </p:sp>
      <p:sp>
        <p:nvSpPr>
          <p:cNvPr id="24" name="Text 24"/>
          <p:cNvSpPr txBox="1"/>
          <p:nvPr/>
        </p:nvSpPr>
        <p:spPr>
          <a:xfrm>
            <a:off x="9372600" y="2724912"/>
            <a:ext cx="2057400" cy="169164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op"/>
          <a:lstStyle/>
          <a:p algn="l">
            <a:pPr algn="l" lvl="0"/>
            <a:r>
              <a:rPr lang="zh-CN" sz="1100" b="0" typeface="Microsoft YaHei">
                <a:solidFill>
                  <a:srgbClr val="5E6E85"/>
                </a:solidFill>
                <a:latin typeface="Microsoft YaHei"/>
                <a:ea typeface="Microsoft YaHei"/>
              </a:rPr>
              <a:t>SOP / 规则 RAG、指标看板、更多组学与企业客户场景</a:t>
            </a:r>
            <a:endParaRPr lang="zh-CN" sz="1100"/>
          </a:p>
        </p:txBody>
      </p:sp>
      <p:sp>
        <p:nvSpPr>
          <p:cNvPr id="25" name="Text 25"/>
          <p:cNvSpPr txBox="1"/>
          <p:nvPr/>
        </p:nvSpPr>
        <p:spPr>
          <a:xfrm>
            <a:off x="777240" y="5257800"/>
            <a:ext cx="10515600" cy="292608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op"/>
          <a:lstStyle/>
          <a:p algn="c">
            <a:pPr algn="c" lvl="0"/>
            <a:r>
              <a:rPr lang="zh-CN" sz="1220" b="1" typeface="Microsoft YaHei">
                <a:solidFill>
                  <a:srgbClr val="E96673"/>
                </a:solidFill>
                <a:latin typeface="Microsoft YaHei"/>
                <a:ea typeface="Microsoft YaHei"/>
              </a:rPr>
              <a:t>展示口径：已实现基础 / 比赛增量 / 待部署验收必须分层表达，不将单测或设计表述为生产上线。</a:t>
            </a:r>
            <a:endParaRPr lang="zh-CN" sz="122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ns2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 3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6B8AE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Shape 4"/>
          <p:cNvSpPr/>
          <p:nvPr/>
        </p:nvSpPr>
        <p:spPr>
          <a:xfrm>
            <a:off x="9692640" y="128016"/>
            <a:ext cx="2499055" cy="45720"/>
          </a:xfrm>
          <a:prstGeom prst="rect">
            <a:avLst/>
          </a:prstGeom>
          <a:solidFill>
            <a:srgbClr val="C9F36A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Text 5"/>
          <p:cNvSpPr txBox="1"/>
          <p:nvPr/>
        </p:nvSpPr>
        <p:spPr>
          <a:xfrm>
            <a:off x="594360" y="320040"/>
            <a:ext cx="6858000" cy="27432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op"/>
          <a:lstStyle/>
          <a:p algn="l">
            <a:pPr algn="l" lvl="0"/>
            <a:r>
              <a:rPr lang="zh-CN" sz="1100" b="1" typeface="Microsoft YaHei">
                <a:solidFill>
                  <a:srgbClr val="5E6E85"/>
                </a:solidFill>
                <a:latin typeface="Microsoft YaHei"/>
                <a:ea typeface="Microsoft YaHei"/>
              </a:rPr>
              <a:t>第七章 · 里程碑与风险控制</a:t>
            </a:r>
            <a:endParaRPr lang="zh-CN" sz="1100"/>
          </a:p>
        </p:txBody>
      </p:sp>
      <p:sp>
        <p:nvSpPr>
          <p:cNvPr id="6" name="Text 6"/>
          <p:cNvSpPr txBox="1"/>
          <p:nvPr/>
        </p:nvSpPr>
        <p:spPr>
          <a:xfrm>
            <a:off x="594360" y="658368"/>
            <a:ext cx="10515600" cy="59436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op"/>
          <a:lstStyle/>
          <a:p algn="l">
            <a:pPr algn="l" lvl="0"/>
            <a:r>
              <a:rPr lang="zh-CN" sz="2500" b="1" typeface="Microsoft YaHei">
                <a:solidFill>
                  <a:srgbClr val="16253D"/>
                </a:solidFill>
                <a:latin typeface="Microsoft YaHei"/>
                <a:ea typeface="Microsoft YaHei"/>
              </a:rPr>
              <a:t>从可运行 Demo 到行业复制</a:t>
            </a:r>
            <a:endParaRPr lang="zh-CN" sz="2500"/>
          </a:p>
        </p:txBody>
      </p:sp>
      <p:sp>
        <p:nvSpPr>
          <p:cNvPr id="7" name="Text 7"/>
          <p:cNvSpPr txBox="1"/>
          <p:nvPr/>
        </p:nvSpPr>
        <p:spPr>
          <a:xfrm>
            <a:off x="11064240" y="6291072"/>
            <a:ext cx="502920" cy="256032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op"/>
          <a:lstStyle/>
          <a:p algn="r">
            <a:pPr algn="r" lvl="0"/>
            <a:r>
              <a:rPr lang="zh-CN" sz="900" b="1" typeface="Microsoft YaHei">
                <a:solidFill>
                  <a:srgbClr val="5E6E85"/>
                </a:solidFill>
                <a:latin typeface="Microsoft YaHei"/>
                <a:ea typeface="Microsoft YaHei"/>
              </a:rPr>
              <a:t>17</a:t>
            </a:r>
            <a:endParaRPr lang="zh-CN" sz="900"/>
          </a:p>
        </p:txBody>
      </p:sp>
      <p:pic>
        <p:nvPicPr>
          <p:cNvPr id="8" name="Agent Execution Record"/>
          <p:cNvPicPr>
            <a:picLocks noChangeAspect="1"/>
          </p:cNvPicPr>
          <p:nvPr/>
        </p:nvPicPr>
        <p:blipFill>
          <a:blip ns2:embed="rId1"/>
          <a:stretch>
            <a:fillRect/>
          </a:stretch>
        </p:blipFill>
        <p:spPr>
          <a:xfrm>
            <a:off x="658368" y="1417320"/>
            <a:ext cx="5486400" cy="3383280"/>
          </a:xfrm>
          <a:prstGeom prst="roundRect">
            <a:avLst/>
          </a:prstGeom>
          <a:ln w="19050">
            <a:solidFill>
              <a:srgbClr val="D5E0ED"/>
            </a:solidFill>
          </a:ln>
        </p:spPr>
      </p:pic>
      <p:pic>
        <p:nvPicPr>
          <p:cNvPr id="9" name="Multi Agent Scientific Review"/>
          <p:cNvPicPr>
            <a:picLocks noChangeAspect="1"/>
          </p:cNvPicPr>
          <p:nvPr/>
        </p:nvPicPr>
        <p:blipFill>
          <a:blip ns2:embed="rId2"/>
          <a:stretch>
            <a:fillRect/>
          </a:stretch>
        </p:blipFill>
        <p:spPr>
          <a:xfrm>
            <a:off x="6355080" y="1417320"/>
            <a:ext cx="5166360" cy="3383280"/>
          </a:xfrm>
          <a:prstGeom prst="roundRect">
            <a:avLst/>
          </a:prstGeom>
          <a:ln w="19050">
            <a:solidFill>
              <a:srgbClr val="D5E0ED"/>
            </a:solidFill>
          </a:ln>
        </p:spPr>
      </p:pic>
      <p:sp>
        <p:nvSpPr>
          <p:cNvPr id="10" name="Shape 10"/>
          <p:cNvSpPr/>
          <p:nvPr/>
        </p:nvSpPr>
        <p:spPr>
          <a:xfrm>
            <a:off x="731520" y="5138928"/>
            <a:ext cx="233172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F1"/>
            </a:solidFill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841248" y="5330952"/>
            <a:ext cx="502920" cy="274320"/>
          </a:xfrm>
          <a:prstGeom prst="roundRect">
            <a:avLst/>
          </a:prstGeom>
          <a:solidFill>
            <a:srgbClr val="16B8AE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Text 12"/>
          <p:cNvSpPr txBox="1"/>
          <p:nvPr/>
        </p:nvSpPr>
        <p:spPr>
          <a:xfrm>
            <a:off x="896112" y="5367528"/>
            <a:ext cx="393192" cy="164592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op"/>
          <a:lstStyle/>
          <a:p algn="c">
            <a:pPr algn="c" lvl="0"/>
            <a:r>
              <a:rPr lang="zh-CN" sz="900" b="1" typeface="Microsoft YaHei">
                <a:solidFill>
                  <a:srgbClr val="FFFFFF"/>
                </a:solidFill>
                <a:latin typeface="Microsoft YaHei"/>
                <a:ea typeface="Microsoft YaHei"/>
              </a:rPr>
              <a:t>M1</a:t>
            </a:r>
            <a:endParaRPr lang="zh-CN" sz="900"/>
          </a:p>
        </p:txBody>
      </p:sp>
      <p:sp>
        <p:nvSpPr>
          <p:cNvPr id="13" name="Text 13"/>
          <p:cNvSpPr txBox="1"/>
          <p:nvPr/>
        </p:nvSpPr>
        <p:spPr>
          <a:xfrm>
            <a:off x="1481328" y="5303520"/>
            <a:ext cx="1417320" cy="201168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op"/>
          <a:lstStyle/>
          <a:p algn="l">
            <a:pPr algn="l" lvl="0"/>
            <a:r>
              <a:rPr lang="zh-CN" sz="1100" b="1" typeface="Microsoft YaHei">
                <a:solidFill>
                  <a:srgbClr val="16253D"/>
                </a:solidFill>
                <a:latin typeface="Microsoft YaHei"/>
                <a:ea typeface="Microsoft YaHei"/>
              </a:rPr>
              <a:t>Case 可见</a:t>
            </a:r>
            <a:endParaRPr lang="zh-CN" sz="1100"/>
          </a:p>
        </p:txBody>
      </p:sp>
      <p:sp>
        <p:nvSpPr>
          <p:cNvPr id="14" name="Shape 14"/>
          <p:cNvSpPr/>
          <p:nvPr/>
        </p:nvSpPr>
        <p:spPr>
          <a:xfrm>
            <a:off x="3474720" y="5138928"/>
            <a:ext cx="233172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F1"/>
            </a:solidFill>
          </a:ln>
        </p:spPr>
        <p:txBody>
          <a:bodyPr/>
          <a:lstStyle/>
          <a:p/>
        </p:txBody>
      </p:sp>
      <p:sp>
        <p:nvSpPr>
          <p:cNvPr id="15" name="Shape 15"/>
          <p:cNvSpPr/>
          <p:nvPr/>
        </p:nvSpPr>
        <p:spPr>
          <a:xfrm>
            <a:off x="3584448" y="5330952"/>
            <a:ext cx="502920" cy="274320"/>
          </a:xfrm>
          <a:prstGeom prst="roundRect">
            <a:avLst/>
          </a:prstGeom>
          <a:solidFill>
            <a:srgbClr val="FFAA5B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Text 16"/>
          <p:cNvSpPr txBox="1"/>
          <p:nvPr/>
        </p:nvSpPr>
        <p:spPr>
          <a:xfrm>
            <a:off x="3639312" y="5367528"/>
            <a:ext cx="393192" cy="164592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op"/>
          <a:lstStyle/>
          <a:p algn="c">
            <a:pPr algn="c" lvl="0"/>
            <a:r>
              <a:rPr lang="zh-CN" sz="900" b="1" typeface="Microsoft YaHei">
                <a:solidFill>
                  <a:srgbClr val="FFFFFF"/>
                </a:solidFill>
                <a:latin typeface="Microsoft YaHei"/>
                <a:ea typeface="Microsoft YaHei"/>
              </a:rPr>
              <a:t>M2</a:t>
            </a:r>
            <a:endParaRPr lang="zh-CN" sz="900"/>
          </a:p>
        </p:txBody>
      </p:sp>
      <p:sp>
        <p:nvSpPr>
          <p:cNvPr id="17" name="Text 17"/>
          <p:cNvSpPr txBox="1"/>
          <p:nvPr/>
        </p:nvSpPr>
        <p:spPr>
          <a:xfrm>
            <a:off x="4224528" y="5303520"/>
            <a:ext cx="1417320" cy="201168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op"/>
          <a:lstStyle/>
          <a:p algn="l">
            <a:pPr algn="l" lvl="0"/>
            <a:r>
              <a:rPr lang="zh-CN" sz="1100" b="1" typeface="Microsoft YaHei">
                <a:solidFill>
                  <a:srgbClr val="16253D"/>
                </a:solidFill>
                <a:latin typeface="Microsoft YaHei"/>
                <a:ea typeface="Microsoft YaHei"/>
              </a:rPr>
              <a:t>可信闭环</a:t>
            </a:r>
            <a:endParaRPr lang="zh-CN" sz="1100"/>
          </a:p>
        </p:txBody>
      </p:sp>
      <p:sp>
        <p:nvSpPr>
          <p:cNvPr id="18" name="Shape 18"/>
          <p:cNvSpPr/>
          <p:nvPr/>
        </p:nvSpPr>
        <p:spPr>
          <a:xfrm>
            <a:off x="6217920" y="5138928"/>
            <a:ext cx="233172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F1"/>
            </a:solidFill>
          </a:ln>
        </p:spPr>
        <p:txBody>
          <a:bodyPr/>
          <a:lstStyle/>
          <a:p/>
        </p:txBody>
      </p:sp>
      <p:sp>
        <p:nvSpPr>
          <p:cNvPr id="19" name="Shape 19"/>
          <p:cNvSpPr/>
          <p:nvPr/>
        </p:nvSpPr>
        <p:spPr>
          <a:xfrm>
            <a:off x="6327648" y="5330952"/>
            <a:ext cx="502920" cy="274320"/>
          </a:xfrm>
          <a:prstGeom prst="roundRect">
            <a:avLst/>
          </a:prstGeom>
          <a:solidFill>
            <a:srgbClr val="4E7CF4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ext 20"/>
          <p:cNvSpPr txBox="1"/>
          <p:nvPr/>
        </p:nvSpPr>
        <p:spPr>
          <a:xfrm>
            <a:off x="6382512" y="5367528"/>
            <a:ext cx="393192" cy="164592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op"/>
          <a:lstStyle/>
          <a:p algn="c">
            <a:pPr algn="c" lvl="0"/>
            <a:r>
              <a:rPr lang="zh-CN" sz="900" b="1" typeface="Microsoft YaHei">
                <a:solidFill>
                  <a:srgbClr val="FFFFFF"/>
                </a:solidFill>
                <a:latin typeface="Microsoft YaHei"/>
                <a:ea typeface="Microsoft YaHei"/>
              </a:rPr>
              <a:t>M3</a:t>
            </a:r>
            <a:endParaRPr lang="zh-CN" sz="900"/>
          </a:p>
        </p:txBody>
      </p:sp>
      <p:sp>
        <p:nvSpPr>
          <p:cNvPr id="21" name="Text 21"/>
          <p:cNvSpPr txBox="1"/>
          <p:nvPr/>
        </p:nvSpPr>
        <p:spPr>
          <a:xfrm>
            <a:off x="6967728" y="5303520"/>
            <a:ext cx="1417320" cy="201168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op"/>
          <a:lstStyle/>
          <a:p algn="l">
            <a:pPr algn="l" lvl="0"/>
            <a:r>
              <a:rPr lang="zh-CN" sz="1100" b="1" typeface="Microsoft YaHei">
                <a:solidFill>
                  <a:srgbClr val="16253D"/>
                </a:solidFill>
                <a:latin typeface="Microsoft YaHei"/>
                <a:ea typeface="Microsoft YaHei"/>
              </a:rPr>
              <a:t>三条证据 Demo</a:t>
            </a:r>
            <a:endParaRPr lang="zh-CN" sz="1100"/>
          </a:p>
        </p:txBody>
      </p:sp>
      <p:sp>
        <p:nvSpPr>
          <p:cNvPr id="22" name="Shape 22"/>
          <p:cNvSpPr/>
          <p:nvPr/>
        </p:nvSpPr>
        <p:spPr>
          <a:xfrm>
            <a:off x="8961120" y="5138928"/>
            <a:ext cx="233172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F1"/>
            </a:solidFill>
          </a:ln>
        </p:spPr>
        <p:txBody>
          <a:bodyPr/>
          <a:lstStyle/>
          <a:p/>
        </p:txBody>
      </p:sp>
      <p:sp>
        <p:nvSpPr>
          <p:cNvPr id="23" name="Shape 23"/>
          <p:cNvSpPr/>
          <p:nvPr/>
        </p:nvSpPr>
        <p:spPr>
          <a:xfrm>
            <a:off x="9070848" y="5330952"/>
            <a:ext cx="502920" cy="274320"/>
          </a:xfrm>
          <a:prstGeom prst="roundRect">
            <a:avLst/>
          </a:prstGeom>
          <a:solidFill>
            <a:srgbClr val="C9F36A"/>
          </a:solidFill>
          <a:ln>
            <a:noFill/>
          </a:ln>
        </p:spPr>
        <p:txBody>
          <a:bodyPr/>
          <a:lstStyle/>
          <a:p/>
        </p:txBody>
      </p:sp>
      <p:sp>
        <p:nvSpPr>
          <p:cNvPr id="24" name="Text 24"/>
          <p:cNvSpPr txBox="1"/>
          <p:nvPr/>
        </p:nvSpPr>
        <p:spPr>
          <a:xfrm>
            <a:off x="9125712" y="5367528"/>
            <a:ext cx="393192" cy="164592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op"/>
          <a:lstStyle/>
          <a:p algn="c">
            <a:pPr algn="c" lvl="0"/>
            <a:r>
              <a:rPr lang="zh-CN" sz="900" b="1" typeface="Microsoft YaHei">
                <a:solidFill>
                  <a:srgbClr val="0C1830"/>
                </a:solidFill>
                <a:latin typeface="Microsoft YaHei"/>
                <a:ea typeface="Microsoft YaHei"/>
              </a:rPr>
              <a:t>M4</a:t>
            </a:r>
            <a:endParaRPr lang="zh-CN" sz="900"/>
          </a:p>
        </p:txBody>
      </p:sp>
      <p:sp>
        <p:nvSpPr>
          <p:cNvPr id="25" name="Text 25"/>
          <p:cNvSpPr txBox="1"/>
          <p:nvPr/>
        </p:nvSpPr>
        <p:spPr>
          <a:xfrm>
            <a:off x="9710928" y="5303520"/>
            <a:ext cx="1417320" cy="201168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op"/>
          <a:lstStyle/>
          <a:p algn="l">
            <a:pPr algn="l" lvl="0"/>
            <a:r>
              <a:rPr lang="zh-CN" sz="1100" b="1" typeface="Microsoft YaHei">
                <a:solidFill>
                  <a:srgbClr val="16253D"/>
                </a:solidFill>
                <a:latin typeface="Microsoft YaHei"/>
                <a:ea typeface="Microsoft YaHei"/>
              </a:rPr>
              <a:t>多组学复制</a:t>
            </a:r>
            <a:endParaRPr lang="zh-CN" sz="1100"/>
          </a:p>
        </p:txBody>
      </p:sp>
      <p:sp>
        <p:nvSpPr>
          <p:cNvPr id="26" name="Text 26"/>
          <p:cNvSpPr txBox="1"/>
          <p:nvPr/>
        </p:nvSpPr>
        <p:spPr>
          <a:xfrm>
            <a:off x="731520" y="5925312"/>
            <a:ext cx="10515600" cy="201168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op"/>
          <a:lstStyle/>
          <a:p algn="c">
            <a:pPr algn="c" lvl="0"/>
            <a:r>
              <a:rPr lang="zh-CN" sz="1080" b="1" typeface="Microsoft YaHei">
                <a:solidFill>
                  <a:srgbClr val="E96673"/>
                </a:solidFill>
                <a:latin typeface="Microsoft YaHei"/>
                <a:ea typeface="Microsoft YaHei"/>
              </a:rPr>
              <a:t>当前界面已经能呈现 Agent 执行与科学分析过程；下一步补齐 staging E2E 与可导出证据包。</a:t>
            </a:r>
            <a:endParaRPr lang="zh-CN" sz="108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83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 3"/>
          <p:cNvSpPr/>
          <p:nvPr/>
        </p:nvSpPr>
        <p:spPr>
          <a:xfrm>
            <a:off x="8961120" y="-640080"/>
            <a:ext cx="3931920" cy="3931920"/>
          </a:xfrm>
          <a:prstGeom prst="rect">
            <a:avLst/>
          </a:prstGeom>
          <a:solidFill>
            <a:srgbClr val="16B8AE">
              <a:alpha val="16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Shape 4"/>
          <p:cNvSpPr/>
          <p:nvPr/>
        </p:nvSpPr>
        <p:spPr>
          <a:xfrm>
            <a:off x="-1005840" y="4754880"/>
            <a:ext cx="2743200" cy="2743200"/>
          </a:xfrm>
          <a:prstGeom prst="rect">
            <a:avLst/>
          </a:prstGeom>
          <a:solidFill>
            <a:srgbClr val="4E7CF4">
              <a:alpha val="20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Text 5"/>
          <p:cNvSpPr txBox="1"/>
          <p:nvPr/>
        </p:nvSpPr>
        <p:spPr>
          <a:xfrm>
            <a:off x="594360" y="320040"/>
            <a:ext cx="6858000" cy="27432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op"/>
          <a:lstStyle/>
          <a:p algn="l">
            <a:pPr algn="l" lvl="0"/>
            <a:r>
              <a:rPr lang="zh-CN" sz="1100" b="1" typeface="Microsoft YaHei">
                <a:solidFill>
                  <a:srgbClr val="FFFFFF"/>
                </a:solidFill>
                <a:latin typeface="Microsoft YaHei"/>
                <a:ea typeface="Microsoft YaHei"/>
              </a:rPr>
              <a:t>第八章</a:t>
            </a:r>
            <a:endParaRPr lang="zh-CN" sz="1100"/>
          </a:p>
        </p:txBody>
      </p:sp>
      <p:sp>
        <p:nvSpPr>
          <p:cNvPr id="6" name="Text 6"/>
          <p:cNvSpPr txBox="1"/>
          <p:nvPr/>
        </p:nvSpPr>
        <p:spPr>
          <a:xfrm>
            <a:off x="594360" y="658368"/>
            <a:ext cx="10515600" cy="59436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op"/>
          <a:lstStyle/>
          <a:p algn="l">
            <a:pPr algn="l" lvl="0"/>
            <a:r>
              <a:rPr lang="zh-CN" sz="2500" b="1" typeface="Microsoft YaHei">
                <a:solidFill>
                  <a:srgbClr val="FFFFFF"/>
                </a:solidFill>
                <a:latin typeface="Microsoft YaHei"/>
                <a:ea typeface="Microsoft YaHei"/>
              </a:rPr>
              <a:t>团队介绍</a:t>
            </a:r>
            <a:endParaRPr lang="zh-CN" sz="2500"/>
          </a:p>
        </p:txBody>
      </p:sp>
      <p:sp>
        <p:nvSpPr>
          <p:cNvPr id="7" name="Text 7"/>
          <p:cNvSpPr txBox="1"/>
          <p:nvPr/>
        </p:nvSpPr>
        <p:spPr>
          <a:xfrm>
            <a:off x="11064240" y="6291072"/>
            <a:ext cx="502920" cy="256032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op"/>
          <a:lstStyle/>
          <a:p algn="r">
            <a:pPr algn="r" lvl="0"/>
            <a:r>
              <a:rPr lang="zh-CN" sz="900" b="1" typeface="Microsoft YaHei">
                <a:solidFill>
                  <a:srgbClr val="B4C0D0"/>
                </a:solidFill>
                <a:latin typeface="Microsoft YaHei"/>
                <a:ea typeface="Microsoft YaHei"/>
              </a:rPr>
              <a:t>18</a:t>
            </a:r>
            <a:endParaRPr lang="zh-CN" sz="900"/>
          </a:p>
        </p:txBody>
      </p:sp>
      <p:sp>
        <p:nvSpPr>
          <p:cNvPr id="8" name="Text 8"/>
          <p:cNvSpPr txBox="1"/>
          <p:nvPr/>
        </p:nvSpPr>
        <p:spPr>
          <a:xfrm>
            <a:off x="658368" y="1417320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op"/>
          <a:lstStyle/>
          <a:p algn="l">
            <a:pPr algn="l" lvl="0"/>
            <a:r>
              <a:rPr lang="zh-CN" sz="1350" b="0" typeface="Microsoft YaHei">
                <a:solidFill>
                  <a:srgbClr val="D7E5F5"/>
                </a:solidFill>
                <a:latin typeface="Microsoft YaHei"/>
                <a:ea typeface="Microsoft YaHei"/>
              </a:rPr>
              <a:t>请在提交前替换以下占位信息：避免在公开材料中披露个人隐私、未授权成果或敏感联系方式。</a:t>
            </a:r>
            <a:endParaRPr lang="zh-CN" sz="1350"/>
          </a:p>
        </p:txBody>
      </p:sp>
      <p:sp>
        <p:nvSpPr>
          <p:cNvPr id="9" name="Shape 9"/>
          <p:cNvSpPr/>
          <p:nvPr/>
        </p:nvSpPr>
        <p:spPr>
          <a:xfrm>
            <a:off x="731520" y="2057400"/>
            <a:ext cx="507492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F1"/>
            </a:solidFill>
          </a:ln>
        </p:spPr>
        <p:txBody>
          <a:bodyPr/>
          <a:lstStyle/>
          <a:p/>
        </p:txBody>
      </p:sp>
      <p:sp>
        <p:nvSpPr>
          <p:cNvPr id="10" name="Shape 10"/>
          <p:cNvSpPr/>
          <p:nvPr/>
        </p:nvSpPr>
        <p:spPr>
          <a:xfrm>
            <a:off x="731520" y="2057400"/>
            <a:ext cx="73152" cy="1280160"/>
          </a:xfrm>
          <a:prstGeom prst="roundRect">
            <a:avLst/>
          </a:prstGeom>
          <a:solidFill>
            <a:srgbClr val="16B8AE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Text 11"/>
          <p:cNvSpPr txBox="1"/>
          <p:nvPr/>
        </p:nvSpPr>
        <p:spPr>
          <a:xfrm>
            <a:off x="950976" y="2221992"/>
            <a:ext cx="4709159" cy="310896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op"/>
          <a:lstStyle/>
          <a:p algn="l">
            <a:pPr algn="l" lvl="0"/>
            <a:r>
              <a:rPr lang="zh-CN" sz="1400" b="1" typeface="Microsoft YaHei">
                <a:solidFill>
                  <a:srgbClr val="16253D"/>
                </a:solidFill>
                <a:latin typeface="Microsoft YaHei"/>
                <a:ea typeface="Microsoft YaHei"/>
              </a:rPr>
              <a:t>项目负责人</a:t>
            </a:r>
            <a:endParaRPr lang="zh-CN" sz="1400"/>
          </a:p>
        </p:txBody>
      </p:sp>
      <p:sp>
        <p:nvSpPr>
          <p:cNvPr id="12" name="Text 12"/>
          <p:cNvSpPr txBox="1"/>
          <p:nvPr/>
        </p:nvSpPr>
        <p:spPr>
          <a:xfrm>
            <a:off x="950976" y="2633472"/>
            <a:ext cx="4663440" cy="594359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op"/>
          <a:lstStyle/>
          <a:p algn="l">
            <a:pPr algn="l" lvl="0"/>
            <a:r>
              <a:rPr lang="zh-CN" sz="1140" b="0" typeface="Microsoft YaHei">
                <a:solidFill>
                  <a:srgbClr val="5E6E85"/>
                </a:solidFill>
                <a:latin typeface="Microsoft YaHei"/>
                <a:ea typeface="Microsoft YaHei"/>
              </a:rPr>
              <a:t>【姓名 / 单位 / 职务】</a:t>
            </a:r>
            <a:endParaRPr lang="zh-CN" sz="1140"/>
          </a:p>
          <a:p algn="l">
            <a:pPr algn="l" lvl="0"/>
            <a:r>
              <a:rPr lang="zh-CN" sz="1140" b="0" typeface="Microsoft YaHei">
                <a:solidFill>
                  <a:srgbClr val="5E6E85"/>
                </a:solidFill>
                <a:latin typeface="Microsoft YaHei"/>
                <a:ea typeface="Microsoft YaHei"/>
              </a:rPr>
              <a:t>系统架构、产品与项目统筹</a:t>
            </a:r>
            <a:endParaRPr lang="zh-CN" sz="1140"/>
          </a:p>
        </p:txBody>
      </p:sp>
      <p:sp>
        <p:nvSpPr>
          <p:cNvPr id="13" name="Shape 13"/>
          <p:cNvSpPr/>
          <p:nvPr/>
        </p:nvSpPr>
        <p:spPr>
          <a:xfrm>
            <a:off x="6309359" y="2057400"/>
            <a:ext cx="507492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F1"/>
            </a:solidFill>
          </a:ln>
        </p:spPr>
        <p:txBody>
          <a:bodyPr/>
          <a:lstStyle/>
          <a:p/>
        </p:txBody>
      </p:sp>
      <p:sp>
        <p:nvSpPr>
          <p:cNvPr id="14" name="Shape 14"/>
          <p:cNvSpPr/>
          <p:nvPr/>
        </p:nvSpPr>
        <p:spPr>
          <a:xfrm>
            <a:off x="6309359" y="2057400"/>
            <a:ext cx="73152" cy="1280160"/>
          </a:xfrm>
          <a:prstGeom prst="roundRect">
            <a:avLst/>
          </a:prstGeom>
          <a:solidFill>
            <a:srgbClr val="4E7CF4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Text 15"/>
          <p:cNvSpPr txBox="1"/>
          <p:nvPr/>
        </p:nvSpPr>
        <p:spPr>
          <a:xfrm>
            <a:off x="6528816" y="2221992"/>
            <a:ext cx="4709159" cy="310896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op"/>
          <a:lstStyle/>
          <a:p algn="l">
            <a:pPr algn="l" lvl="0"/>
            <a:r>
              <a:rPr lang="zh-CN" sz="1400" b="1" typeface="Microsoft YaHei">
                <a:solidFill>
                  <a:srgbClr val="16253D"/>
                </a:solidFill>
                <a:latin typeface="Microsoft YaHei"/>
                <a:ea typeface="Microsoft YaHei"/>
              </a:rPr>
              <a:t>生信与领域专家</a:t>
            </a:r>
            <a:endParaRPr lang="zh-CN" sz="1400"/>
          </a:p>
        </p:txBody>
      </p:sp>
      <p:sp>
        <p:nvSpPr>
          <p:cNvPr id="16" name="Text 16"/>
          <p:cNvSpPr txBox="1"/>
          <p:nvPr/>
        </p:nvSpPr>
        <p:spPr>
          <a:xfrm>
            <a:off x="6528816" y="2633472"/>
            <a:ext cx="4663440" cy="594359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op"/>
          <a:lstStyle/>
          <a:p algn="l">
            <a:pPr algn="l" lvl="0"/>
            <a:r>
              <a:rPr lang="zh-CN" sz="1140" b="0" typeface="Microsoft YaHei">
                <a:solidFill>
                  <a:srgbClr val="5E6E85"/>
                </a:solidFill>
                <a:latin typeface="Microsoft YaHei"/>
                <a:ea typeface="Microsoft YaHei"/>
              </a:rPr>
              <a:t>【姓名 / 单位 / 专业】</a:t>
            </a:r>
            <a:endParaRPr lang="zh-CN" sz="1140"/>
          </a:p>
          <a:p algn="l">
            <a:pPr algn="l" lvl="0"/>
            <a:r>
              <a:rPr lang="zh-CN" sz="1140" b="0" typeface="Microsoft YaHei">
                <a:solidFill>
                  <a:srgbClr val="5E6E85"/>
                </a:solidFill>
                <a:latin typeface="Microsoft YaHei"/>
                <a:ea typeface="Microsoft YaHei"/>
              </a:rPr>
              <a:t>流程设计、质量规则与科学验证</a:t>
            </a:r>
            <a:endParaRPr lang="zh-CN" sz="1140"/>
          </a:p>
        </p:txBody>
      </p:sp>
      <p:sp>
        <p:nvSpPr>
          <p:cNvPr id="17" name="Shape 17"/>
          <p:cNvSpPr/>
          <p:nvPr/>
        </p:nvSpPr>
        <p:spPr>
          <a:xfrm>
            <a:off x="731520" y="3749039"/>
            <a:ext cx="507492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F1"/>
            </a:solidFill>
          </a:ln>
        </p:spPr>
        <p:txBody>
          <a:bodyPr/>
          <a:lstStyle/>
          <a:p/>
        </p:txBody>
      </p:sp>
      <p:sp>
        <p:nvSpPr>
          <p:cNvPr id="18" name="Shape 18"/>
          <p:cNvSpPr/>
          <p:nvPr/>
        </p:nvSpPr>
        <p:spPr>
          <a:xfrm>
            <a:off x="731520" y="3749039"/>
            <a:ext cx="73152" cy="1280160"/>
          </a:xfrm>
          <a:prstGeom prst="roundRect">
            <a:avLst/>
          </a:prstGeom>
          <a:solidFill>
            <a:srgbClr val="FFAA5B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Text 19"/>
          <p:cNvSpPr txBox="1"/>
          <p:nvPr/>
        </p:nvSpPr>
        <p:spPr>
          <a:xfrm>
            <a:off x="950976" y="3913631"/>
            <a:ext cx="4709159" cy="310896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op"/>
          <a:lstStyle/>
          <a:p algn="l">
            <a:pPr algn="l" lvl="0"/>
            <a:r>
              <a:rPr lang="zh-CN" sz="1400" b="1" typeface="Microsoft YaHei">
                <a:solidFill>
                  <a:srgbClr val="16253D"/>
                </a:solidFill>
                <a:latin typeface="Microsoft YaHei"/>
                <a:ea typeface="Microsoft YaHei"/>
              </a:rPr>
              <a:t>AI 与后端工程</a:t>
            </a:r>
            <a:endParaRPr lang="zh-CN" sz="1400"/>
          </a:p>
        </p:txBody>
      </p:sp>
      <p:sp>
        <p:nvSpPr>
          <p:cNvPr id="20" name="Text 20"/>
          <p:cNvSpPr txBox="1"/>
          <p:nvPr/>
        </p:nvSpPr>
        <p:spPr>
          <a:xfrm>
            <a:off x="950976" y="4325112"/>
            <a:ext cx="4663440" cy="594359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op"/>
          <a:lstStyle/>
          <a:p algn="l">
            <a:pPr algn="l" lvl="0"/>
            <a:r>
              <a:rPr lang="zh-CN" sz="1140" b="0" typeface="Microsoft YaHei">
                <a:solidFill>
                  <a:srgbClr val="5E6E85"/>
                </a:solidFill>
                <a:latin typeface="Microsoft YaHei"/>
                <a:ea typeface="Microsoft YaHei"/>
              </a:rPr>
              <a:t>【姓名 / 单位 / 专业】</a:t>
            </a:r>
            <a:endParaRPr lang="zh-CN" sz="1140"/>
          </a:p>
          <a:p algn="l">
            <a:pPr algn="l" lvl="0"/>
            <a:r>
              <a:rPr lang="zh-CN" sz="1140" b="0" typeface="Microsoft YaHei">
                <a:solidFill>
                  <a:srgbClr val="5E6E85"/>
                </a:solidFill>
                <a:latin typeface="Microsoft YaHei"/>
                <a:ea typeface="Microsoft YaHei"/>
              </a:rPr>
              <a:t>AgentTeams、MAS、Bridge 与审计</a:t>
            </a:r>
            <a:endParaRPr lang="zh-CN" sz="1140"/>
          </a:p>
        </p:txBody>
      </p:sp>
      <p:sp>
        <p:nvSpPr>
          <p:cNvPr id="21" name="Shape 21"/>
          <p:cNvSpPr/>
          <p:nvPr/>
        </p:nvSpPr>
        <p:spPr>
          <a:xfrm>
            <a:off x="6309359" y="3749039"/>
            <a:ext cx="507492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F1"/>
            </a:solidFill>
          </a:ln>
        </p:spPr>
        <p:txBody>
          <a:bodyPr/>
          <a:lstStyle/>
          <a:p/>
        </p:txBody>
      </p:sp>
      <p:sp>
        <p:nvSpPr>
          <p:cNvPr id="22" name="Shape 22"/>
          <p:cNvSpPr/>
          <p:nvPr/>
        </p:nvSpPr>
        <p:spPr>
          <a:xfrm>
            <a:off x="6309359" y="3749039"/>
            <a:ext cx="73152" cy="1280160"/>
          </a:xfrm>
          <a:prstGeom prst="roundRect">
            <a:avLst/>
          </a:prstGeom>
          <a:solidFill>
            <a:srgbClr val="C9F36A"/>
          </a:solidFill>
          <a:ln>
            <a:noFill/>
          </a:ln>
        </p:spPr>
        <p:txBody>
          <a:bodyPr/>
          <a:lstStyle/>
          <a:p/>
        </p:txBody>
      </p:sp>
      <p:sp>
        <p:nvSpPr>
          <p:cNvPr id="23" name="Text 23"/>
          <p:cNvSpPr txBox="1"/>
          <p:nvPr/>
        </p:nvSpPr>
        <p:spPr>
          <a:xfrm>
            <a:off x="6528816" y="3913631"/>
            <a:ext cx="4709159" cy="310896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op"/>
          <a:lstStyle/>
          <a:p algn="l">
            <a:pPr algn="l" lvl="0"/>
            <a:r>
              <a:rPr lang="zh-CN" sz="1400" b="1" typeface="Microsoft YaHei">
                <a:solidFill>
                  <a:srgbClr val="16253D"/>
                </a:solidFill>
                <a:latin typeface="Microsoft YaHei"/>
                <a:ea typeface="Microsoft YaHei"/>
              </a:rPr>
              <a:t>前端与体验设计</a:t>
            </a:r>
            <a:endParaRPr lang="zh-CN" sz="1400"/>
          </a:p>
        </p:txBody>
      </p:sp>
      <p:sp>
        <p:nvSpPr>
          <p:cNvPr id="24" name="Text 24"/>
          <p:cNvSpPr txBox="1"/>
          <p:nvPr/>
        </p:nvSpPr>
        <p:spPr>
          <a:xfrm>
            <a:off x="6528816" y="4325112"/>
            <a:ext cx="4663440" cy="594359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op"/>
          <a:lstStyle/>
          <a:p algn="l">
            <a:pPr algn="l" lvl="0"/>
            <a:r>
              <a:rPr lang="zh-CN" sz="1140" b="0" typeface="Microsoft YaHei">
                <a:solidFill>
                  <a:srgbClr val="5E6E85"/>
                </a:solidFill>
                <a:latin typeface="Microsoft YaHei"/>
                <a:ea typeface="Microsoft YaHei"/>
              </a:rPr>
              <a:t>【姓名 / 单位 / 专业】</a:t>
            </a:r>
            <a:endParaRPr lang="zh-CN" sz="1140"/>
          </a:p>
          <a:p algn="l">
            <a:pPr algn="l" lvl="0"/>
            <a:r>
              <a:rPr lang="zh-CN" sz="1140" b="0" typeface="Microsoft YaHei">
                <a:solidFill>
                  <a:srgbClr val="5E6E85"/>
                </a:solidFill>
                <a:latin typeface="Microsoft YaHei"/>
                <a:ea typeface="Microsoft YaHei"/>
              </a:rPr>
              <a:t>Case 工作台、交付界面与可视化</a:t>
            </a:r>
            <a:endParaRPr lang="zh-CN" sz="1140"/>
          </a:p>
        </p:txBody>
      </p:sp>
      <p:sp>
        <p:nvSpPr>
          <p:cNvPr id="25" name="Text 25"/>
          <p:cNvSpPr txBox="1"/>
          <p:nvPr/>
        </p:nvSpPr>
        <p:spPr>
          <a:xfrm>
            <a:off x="777240" y="5715000"/>
            <a:ext cx="10515600" cy="27432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op"/>
          <a:lstStyle/>
          <a:p algn="c">
            <a:pPr algn="c" lvl="0"/>
            <a:r>
              <a:rPr lang="zh-CN" sz="1200" b="1" typeface="Microsoft YaHei">
                <a:solidFill>
                  <a:srgbClr val="C9F36A"/>
                </a:solidFill>
                <a:latin typeface="Microsoft YaHei"/>
                <a:ea typeface="Microsoft YaHei"/>
              </a:rPr>
              <a:t>团队分工原则：科学正确性、工程可靠性与用户体验并重；所有外部合作与成果署名以实际贡献及授权为准。</a:t>
            </a:r>
            <a:endParaRPr lang="zh-CN" sz="12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83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 3"/>
          <p:cNvSpPr/>
          <p:nvPr/>
        </p:nvSpPr>
        <p:spPr>
          <a:xfrm>
            <a:off x="8961120" y="-640080"/>
            <a:ext cx="3931920" cy="3931920"/>
          </a:xfrm>
          <a:prstGeom prst="rect">
            <a:avLst/>
          </a:prstGeom>
          <a:solidFill>
            <a:srgbClr val="16B8AE">
              <a:alpha val="16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Shape 4"/>
          <p:cNvSpPr/>
          <p:nvPr/>
        </p:nvSpPr>
        <p:spPr>
          <a:xfrm>
            <a:off x="-1005840" y="4754880"/>
            <a:ext cx="2743200" cy="2743200"/>
          </a:xfrm>
          <a:prstGeom prst="rect">
            <a:avLst/>
          </a:prstGeom>
          <a:solidFill>
            <a:srgbClr val="4E7CF4">
              <a:alpha val="20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Text 5"/>
          <p:cNvSpPr txBox="1"/>
          <p:nvPr/>
        </p:nvSpPr>
        <p:spPr>
          <a:xfrm>
            <a:off x="594360" y="320040"/>
            <a:ext cx="6858000" cy="27432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op"/>
          <a:lstStyle/>
          <a:p algn="l">
            <a:pPr algn="l" lvl="0"/>
            <a:r>
              <a:rPr lang="zh-CN" sz="1100" b="1" typeface="Microsoft YaHei">
                <a:solidFill>
                  <a:srgbClr val="FFFFFF"/>
                </a:solidFill>
                <a:latin typeface="Microsoft YaHei"/>
                <a:ea typeface="Microsoft YaHei"/>
              </a:rPr>
              <a:t>第八章 · 团队与致谢</a:t>
            </a:r>
            <a:endParaRPr lang="zh-CN" sz="1100"/>
          </a:p>
        </p:txBody>
      </p:sp>
      <p:sp>
        <p:nvSpPr>
          <p:cNvPr id="6" name="Text 6"/>
          <p:cNvSpPr txBox="1"/>
          <p:nvPr/>
        </p:nvSpPr>
        <p:spPr>
          <a:xfrm>
            <a:off x="594360" y="658368"/>
            <a:ext cx="10515600" cy="59436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op"/>
          <a:lstStyle/>
          <a:p algn="l">
            <a:pPr algn="l" lvl="0"/>
            <a:r>
              <a:rPr lang="zh-CN" sz="2500" b="1" typeface="Microsoft YaHei">
                <a:solidFill>
                  <a:srgbClr val="FFFFFF"/>
                </a:solidFill>
                <a:latin typeface="Microsoft YaHei"/>
                <a:ea typeface="Microsoft YaHei"/>
              </a:rPr>
              <a:t>谢谢聆听</a:t>
            </a:r>
            <a:endParaRPr lang="zh-CN" sz="2500"/>
          </a:p>
        </p:txBody>
      </p:sp>
      <p:sp>
        <p:nvSpPr>
          <p:cNvPr id="7" name="Text 7"/>
          <p:cNvSpPr txBox="1"/>
          <p:nvPr/>
        </p:nvSpPr>
        <p:spPr>
          <a:xfrm>
            <a:off x="11064240" y="6291072"/>
            <a:ext cx="502920" cy="256032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op"/>
          <a:lstStyle/>
          <a:p algn="r">
            <a:pPr algn="r" lvl="0"/>
            <a:r>
              <a:rPr lang="zh-CN" sz="900" b="1" typeface="Microsoft YaHei">
                <a:solidFill>
                  <a:srgbClr val="B4C0D0"/>
                </a:solidFill>
                <a:latin typeface="Microsoft YaHei"/>
                <a:ea typeface="Microsoft YaHei"/>
              </a:rPr>
              <a:t>19</a:t>
            </a:r>
            <a:endParaRPr lang="zh-CN" sz="900"/>
          </a:p>
        </p:txBody>
      </p:sp>
      <p:sp>
        <p:nvSpPr>
          <p:cNvPr id="8" name="Text 8"/>
          <p:cNvSpPr txBox="1"/>
          <p:nvPr/>
        </p:nvSpPr>
        <p:spPr>
          <a:xfrm>
            <a:off x="658368" y="1508760"/>
            <a:ext cx="4754880" cy="50292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op"/>
          <a:lstStyle/>
          <a:p algn="l">
            <a:pPr algn="l" lvl="0"/>
            <a:r>
              <a:rPr lang="zh-CN" sz="2500" b="1" typeface="Microsoft YaHei">
                <a:solidFill>
                  <a:srgbClr val="FFFFFF"/>
                </a:solidFill>
                <a:latin typeface="Microsoft YaHei"/>
                <a:ea typeface="Microsoft YaHei"/>
              </a:rPr>
              <a:t>OmicHub BioOps</a:t>
            </a:r>
            <a:endParaRPr lang="zh-CN" sz="2500"/>
          </a:p>
        </p:txBody>
      </p:sp>
      <p:sp>
        <p:nvSpPr>
          <p:cNvPr id="9" name="Text 9"/>
          <p:cNvSpPr txBox="1"/>
          <p:nvPr/>
        </p:nvSpPr>
        <p:spPr>
          <a:xfrm>
            <a:off x="685800" y="2148840"/>
            <a:ext cx="6583680" cy="347472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op"/>
          <a:lstStyle/>
          <a:p algn="l">
            <a:pPr algn="l" lvl="0"/>
            <a:r>
              <a:rPr lang="zh-CN" sz="1500" b="1" typeface="Microsoft YaHei">
                <a:solidFill>
                  <a:srgbClr val="37D4D8"/>
                </a:solidFill>
                <a:latin typeface="Microsoft YaHei"/>
                <a:ea typeface="Microsoft YaHei"/>
              </a:rPr>
              <a:t>让每一次组学交付都可审计、可验证、可复用</a:t>
            </a:r>
            <a:endParaRPr lang="zh-CN" sz="1500"/>
          </a:p>
        </p:txBody>
      </p:sp>
      <p:sp>
        <p:nvSpPr>
          <p:cNvPr id="10" name="Shape 10"/>
          <p:cNvSpPr/>
          <p:nvPr/>
        </p:nvSpPr>
        <p:spPr>
          <a:xfrm>
            <a:off x="658368" y="2926080"/>
            <a:ext cx="5669280" cy="1417320"/>
          </a:xfrm>
          <a:prstGeom prst="roundRect">
            <a:avLst/>
          </a:prstGeom>
          <a:solidFill>
            <a:srgbClr val="173355"/>
          </a:solidFill>
          <a:ln w="12700">
            <a:solidFill>
              <a:srgbClr val="3A5D81"/>
            </a:solidFill>
          </a:ln>
        </p:spPr>
        <p:txBody>
          <a:bodyPr/>
          <a:lstStyle/>
          <a:p/>
        </p:txBody>
      </p:sp>
      <p:sp>
        <p:nvSpPr>
          <p:cNvPr id="11" name="Text 11"/>
          <p:cNvSpPr txBox="1"/>
          <p:nvPr/>
        </p:nvSpPr>
        <p:spPr>
          <a:xfrm>
            <a:off x="932688" y="3218688"/>
            <a:ext cx="1371600" cy="210312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op"/>
          <a:lstStyle/>
          <a:p algn="l">
            <a:pPr algn="l" lvl="0"/>
            <a:r>
              <a:rPr lang="zh-CN" sz="1200" b="1" typeface="Microsoft YaHei">
                <a:solidFill>
                  <a:srgbClr val="C9F36A"/>
                </a:solidFill>
                <a:latin typeface="Microsoft YaHei"/>
                <a:ea typeface="Microsoft YaHei"/>
              </a:rPr>
              <a:t>提交前请补充</a:t>
            </a:r>
            <a:endParaRPr lang="zh-CN" sz="1200"/>
          </a:p>
        </p:txBody>
      </p:sp>
      <p:sp>
        <p:nvSpPr>
          <p:cNvPr id="12" name="Text 12"/>
          <p:cNvSpPr txBox="1"/>
          <p:nvPr/>
        </p:nvSpPr>
        <p:spPr>
          <a:xfrm>
            <a:off x="932688" y="3611880"/>
            <a:ext cx="5074920" cy="256032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op"/>
          <a:lstStyle/>
          <a:p algn="l">
            <a:pPr algn="l" lvl="0"/>
            <a:r>
              <a:rPr lang="zh-CN" sz="1120" b="0" typeface="Microsoft YaHei">
                <a:solidFill>
                  <a:srgbClr val="D7E5F5"/>
                </a:solidFill>
                <a:latin typeface="Microsoft YaHei"/>
                <a:ea typeface="Microsoft YaHei"/>
              </a:rPr>
              <a:t>【团队成员】  【代码仓库 / Demo 链接】  【联系邮箱】</a:t>
            </a:r>
            <a:endParaRPr lang="zh-CN" sz="1120"/>
          </a:p>
        </p:txBody>
      </p:sp>
      <p:sp>
        <p:nvSpPr>
          <p:cNvPr id="13" name="Text 13"/>
          <p:cNvSpPr txBox="1"/>
          <p:nvPr/>
        </p:nvSpPr>
        <p:spPr>
          <a:xfrm>
            <a:off x="685800" y="5760720"/>
            <a:ext cx="5303520" cy="22860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op"/>
          <a:lstStyle/>
          <a:p algn="l">
            <a:pPr algn="l" lvl="0"/>
            <a:r>
              <a:rPr lang="zh-CN" sz="1050" b="0" typeface="Microsoft YaHei">
                <a:solidFill>
                  <a:srgbClr val="9FB6D0"/>
                </a:solidFill>
                <a:latin typeface="Microsoft YaHei"/>
                <a:ea typeface="Microsoft YaHei"/>
              </a:rPr>
              <a:t>项目资料：docs/competition/2026-agentteams-bioops/</a:t>
            </a:r>
            <a:endParaRPr lang="zh-CN" sz="105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1181</Words>
  <Application>WPS 文字</Application>
  <PresentationFormat>On-screen Show (16:9)</PresentationFormat>
  <Paragraphs>230</Paragraphs>
  <Slides>19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19</vt:i4>
      </vt:variant>
    </vt:vector>
  </HeadingPairs>
  <TitlesOfParts>
    <vt:vector size="35" baseType="lpstr">
      <vt:lpstr>Arial</vt:lpstr>
      <vt:lpstr>宋体</vt:lpstr>
      <vt:lpstr>Wingdings</vt:lpstr>
      <vt:lpstr>微软雅黑</vt:lpstr>
      <vt:lpstr>汉仪旗黑</vt:lpstr>
      <vt:lpstr>微软雅黑</vt:lpstr>
      <vt:lpstr>微软雅黑</vt:lpstr>
      <vt:lpstr>Calibri</vt:lpstr>
      <vt:lpstr>Helvetica Neue</vt:lpstr>
      <vt:lpstr>宋体</vt:lpstr>
      <vt:lpstr>Arial Unicode MS</vt:lpstr>
      <vt:lpstr>汉仪书宋二KW</vt:lpstr>
      <vt:lpstr>等线</vt:lpstr>
      <vt:lpstr>汉仪中等线KW</vt:lpstr>
      <vt:lpstr>Office Theme</vt:lpstr>
      <vt:lpstr>1_Office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初赛方案 PPT 内容框架模板</dc:title>
  <dc:creator>Datawhale</dc:creator>
  <dc:subject>PptxGenJS Presentation</dc:subject>
  <cp:lastModifiedBy>cindy</cp:lastModifiedBy>
  <cp:revision>5</cp:revision>
  <dcterms:created xsi:type="dcterms:W3CDTF">2026-08-01T12:03:46Z</dcterms:created>
  <dcterms:modified xsi:type="dcterms:W3CDTF">2026-08-01T12:03:46Z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3283D07A5C6A9C54A2E06D6A5481CE4C_43</vt:lpwstr>
  </property>
  <property fmtid="{D5CDD505-2E9C-101B-9397-08002B2CF9AE}" pid="3" name="KSOProductBuildVer">
    <vt:lpwstr>2052-12.1.22218.22218</vt:lpwstr>
  </property>
</Properties>
</file>